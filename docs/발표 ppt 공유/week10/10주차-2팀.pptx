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24384000" cy="13716000"/>
  <p:notesSz cx="6858000" cy="9144000"/>
  <p:embeddedFontLst>
    <p:embeddedFont>
      <p:font typeface="Gmarket Sans Medium"/>
      <p:regular r:id="rId30"/>
    </p:embeddedFont>
    <p:embeddedFont>
      <p:font typeface="Gmarket Sans Bold"/>
      <p:bold r:id="rId31"/>
    </p:embeddedFont>
    <p:embeddedFont>
      <p:font typeface="Pretendard Medium"/>
      <p:bold r:id="rId32"/>
    </p:embeddedFont>
    <p:embeddedFont>
      <p:font typeface="Pretendard Thin"/>
      <p:regular r:id="rId33"/>
    </p:embeddedFont>
    <p:embeddedFont>
      <p:font typeface="Pretendard SemiBold"/>
      <p:bold r:id="rId34"/>
    </p:embeddedFont>
    <p:embeddedFont>
      <p:font typeface="Pretendard Bold"/>
      <p:bold r:id="rId35"/>
    </p:embeddedFont>
    <p:embeddedFont>
      <p:font typeface="Pretendard Light"/>
      <p:regular r:id="rId36"/>
    </p:embeddedFont>
    <p:embeddedFont>
      <p:font typeface="Inter Medium"/>
      <p:bold r:id="rId37"/>
    </p:embeddedFont>
    <p:embeddedFont>
      <p:font typeface="Inter Light"/>
      <p:regular r:id="rId38"/>
    </p:embeddedFont>
    <p:embeddedFont>
      <p:font typeface="Inter Regular"/>
      <p:regular r:id="rId39"/>
    </p:embeddedFont>
    <p:embeddedFont>
      <p:font typeface="Pretendard Regular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1.fntdata" Type="http://schemas.openxmlformats.org/officeDocument/2006/relationships/font"/><Relationship Id="rId31" Target="fonts/font2.fntdata" Type="http://schemas.openxmlformats.org/officeDocument/2006/relationships/font"/><Relationship Id="rId32" Target="fonts/font3.fntdata" Type="http://schemas.openxmlformats.org/officeDocument/2006/relationships/font"/><Relationship Id="rId33" Target="fonts/font4.fntdata" Type="http://schemas.openxmlformats.org/officeDocument/2006/relationships/font"/><Relationship Id="rId34" Target="fonts/font5.fntdata" Type="http://schemas.openxmlformats.org/officeDocument/2006/relationships/font"/><Relationship Id="rId35" Target="fonts/font6.fntdata" Type="http://schemas.openxmlformats.org/officeDocument/2006/relationships/font"/><Relationship Id="rId36" Target="fonts/font7.fntdata" Type="http://schemas.openxmlformats.org/officeDocument/2006/relationships/font"/><Relationship Id="rId37" Target="fonts/font8.fntdata" Type="http://schemas.openxmlformats.org/officeDocument/2006/relationships/font"/><Relationship Id="rId38" Target="fonts/font9.fntdata" Type="http://schemas.openxmlformats.org/officeDocument/2006/relationships/font"/><Relationship Id="rId39" Target="fonts/font10.fntdata" Type="http://schemas.openxmlformats.org/officeDocument/2006/relationships/font"/><Relationship Id="rId4" Target="theme/theme1.xml" Type="http://schemas.openxmlformats.org/officeDocument/2006/relationships/theme"/><Relationship Id="rId40" Target="fonts/font1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1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33.png" Type="http://schemas.openxmlformats.org/officeDocument/2006/relationships/image"/><Relationship Id="rId5" Target="../media/image37.png" Type="http://schemas.openxmlformats.org/officeDocument/2006/relationships/image"/><Relationship Id="rId6" Target="../media/image31.pn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2" Target="../media/image43.png" Type="http://schemas.openxmlformats.org/officeDocument/2006/relationships/image"/><Relationship Id="rId3" Target="../media/image5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5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576800" y="11734800"/>
            <a:ext cx="8420100" cy="87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1752600"/>
            <a:ext cx="24930100" cy="1196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302000" y="-4927600"/>
            <a:ext cx="15671800" cy="13855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7493000"/>
            <a:ext cx="13106400" cy="1930400"/>
          </a:xfrm>
          <a:prstGeom prst="rect">
            <a:avLst/>
          </a:prstGeom>
        </p:spPr>
        <p:txBody>
          <a:bodyPr anchor="ctr" rtlCol="false" lIns="0" tIns="92188" rIns="0" bIns="92188"/>
          <a:lstStyle/>
          <a:p>
            <a:pPr algn="l" lvl="0">
              <a:lnSpc>
                <a:spcPct val="99600"/>
              </a:lnSpc>
            </a:pPr>
            <a:r>
              <a:rPr lang="en-US" sz="10888" b="false" i="false" u="none" strike="noStrike">
                <a:solidFill>
                  <a:srgbClr val="FFFFFF">
                    <a:alpha val="90196"/>
                  </a:srgbClr>
                </a:solidFill>
                <a:latin typeface="Gmarket Sans Medium"/>
                <a:ea typeface="Gmarket Sans Medium"/>
                <a:cs typeface="Gmarket Sans Medium"/>
              </a:rPr>
              <a:t>PintOS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0900" y="11709400"/>
            <a:ext cx="233172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4433" b="false" i="false" u="none" strike="noStrike" spc="200">
                <a:solidFill>
                  <a:srgbClr val="FFFFFF"/>
                </a:solidFill>
                <a:latin typeface="Gmarket Sans Medium"/>
                <a:ea typeface="Gmarket Sans Medium"/>
                <a:cs typeface="Gmarket Sans Medium"/>
              </a:rPr>
              <a:t>Krafton Jungle Soft AI Team 303-2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5500" y="9118600"/>
            <a:ext cx="21221700" cy="2616200"/>
          </a:xfrm>
          <a:prstGeom prst="rect">
            <a:avLst/>
          </a:prstGeom>
        </p:spPr>
        <p:txBody>
          <a:bodyPr anchor="ctr" rtlCol="false" lIns="0" tIns="141129" rIns="0" bIns="141129"/>
          <a:lstStyle/>
          <a:p>
            <a:pPr algn="l" lvl="0">
              <a:lnSpc>
                <a:spcPct val="99600"/>
              </a:lnSpc>
            </a:pPr>
            <a:r>
              <a:rPr lang="en-US" sz="14691" b="false" i="false" u="none" strike="noStrike">
                <a:solidFill>
                  <a:srgbClr val="FFFFFF">
                    <a:alpha val="90196"/>
                  </a:srgbClr>
                </a:solidFill>
                <a:latin typeface="Gmarket Sans Bold"/>
                <a:ea typeface="Gmarket Sans Bold"/>
                <a:cs typeface="Gmarket Sans Bold"/>
              </a:rPr>
              <a:t>userprog Project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69000"/>
          </a:blip>
          <a:stretch>
            <a:fillRect/>
          </a:stretch>
        </p:blipFill>
        <p:spPr>
          <a:xfrm rot="0">
            <a:off x="6451600" y="8369300"/>
            <a:ext cx="26416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F2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85900" y="1257300"/>
            <a:ext cx="8788400" cy="1892300"/>
          </a:xfrm>
          <a:prstGeom prst="rect">
            <a:avLst/>
          </a:prstGeom>
        </p:spPr>
        <p:txBody>
          <a:bodyPr anchor="ctr" rtlCol="false" lIns="0" tIns="237074" rIns="0" bIns="237074"/>
          <a:lstStyle/>
          <a:p>
            <a:pPr algn="l" lvl="0">
              <a:lnSpc>
                <a:spcPct val="87149"/>
              </a:lnSpc>
            </a:pPr>
            <a:r>
              <a:rPr lang="en-US" sz="10667" b="false" i="false" u="none" strike="noStrike" spc="-200">
                <a:solidFill>
                  <a:srgbClr val="353535"/>
                </a:solidFill>
                <a:latin typeface="Pretendard Bold"/>
                <a:ea typeface="Pretendard Bold"/>
                <a:cs typeface="Pretendard Bold"/>
              </a:rPr>
              <a:t>협업방식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4206200" y="13068300"/>
            <a:ext cx="190500" cy="63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2301200" y="12992100"/>
            <a:ext cx="1701800" cy="431800"/>
          </a:xfrm>
          <a:prstGeom prst="rect">
            <a:avLst/>
          </a:prstGeom>
        </p:spPr>
        <p:txBody>
          <a:bodyPr anchor="ctr" rtlCol="false" lIns="0" tIns="30480" rIns="0" bIns="30480"/>
          <a:lstStyle/>
          <a:p>
            <a:pPr algn="r" lvl="0">
              <a:lnSpc>
                <a:spcPct val="99600"/>
              </a:lnSpc>
            </a:pPr>
            <a:r>
              <a:rPr lang="en-US" sz="2400" b="false" i="false" u="none" strike="noStrike" cap="all">
                <a:solidFill>
                  <a:srgbClr val="17346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70600" y="711200"/>
            <a:ext cx="4787900" cy="431800"/>
          </a:xfrm>
          <a:prstGeom prst="rect">
            <a:avLst/>
          </a:prstGeom>
        </p:spPr>
        <p:txBody>
          <a:bodyPr anchor="ctr" rtlCol="false" lIns="0" tIns="30480" rIns="0" bIns="30480"/>
          <a:lstStyle/>
          <a:p>
            <a:pPr algn="r" lvl="0">
              <a:lnSpc>
                <a:spcPct val="99600"/>
              </a:lnSpc>
            </a:pPr>
            <a:r>
              <a:rPr lang="en-US" sz="2400" b="false" i="false" u="none" strike="noStrike" cap="all">
                <a:solidFill>
                  <a:srgbClr val="173460"/>
                </a:solidFill>
                <a:latin typeface="Pretendard SemiBold"/>
                <a:ea typeface="Pretendard SemiBold"/>
                <a:cs typeface="Pretendard SemiBold"/>
              </a:rPr>
              <a:t>Project Goals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87500" y="4902200"/>
            <a:ext cx="6908800" cy="300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08200" y="6223000"/>
            <a:ext cx="7010400" cy="203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1587500" y="4495800"/>
            <a:ext cx="1028700" cy="825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24000" y="4533900"/>
            <a:ext cx="1143000" cy="7112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103749"/>
              </a:lnSpc>
            </a:pPr>
            <a:r>
              <a:rPr lang="en-US" sz="4000" b="false" i="false" u="none" strike="noStrike" spc="-100">
                <a:solidFill>
                  <a:srgbClr val="EEF2FC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71700" y="5473700"/>
            <a:ext cx="6591300" cy="787400"/>
          </a:xfrm>
          <a:prstGeom prst="rect">
            <a:avLst/>
          </a:prstGeom>
        </p:spPr>
        <p:txBody>
          <a:bodyPr anchor="ctr" rtlCol="false" lIns="0" tIns="41910" rIns="0" bIns="41910"/>
          <a:lstStyle/>
          <a:p>
            <a:pPr algn="l" lvl="0">
              <a:lnSpc>
                <a:spcPct val="103749"/>
              </a:lnSpc>
            </a:pPr>
            <a:r>
              <a:rPr lang="en-US" sz="4400" b="false" i="false" u="none" strike="noStrike" spc="-200">
                <a:solidFill>
                  <a:srgbClr val="173460"/>
                </a:solidFill>
                <a:latin typeface="Pretendard Medium"/>
                <a:ea typeface="Pretendard Medium"/>
                <a:cs typeface="Pretendard Medium"/>
              </a:rPr>
              <a:t>개념 동료학습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20900" y="6324600"/>
            <a:ext cx="5791200" cy="1143000"/>
          </a:xfrm>
          <a:prstGeom prst="rect">
            <a:avLst/>
          </a:prstGeom>
        </p:spPr>
        <p:txBody>
          <a:bodyPr anchor="ctr" rtlCol="false" lIns="0" tIns="21169" rIns="0" bIns="21169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 spc="-100">
                <a:solidFill>
                  <a:srgbClr val="7B8BA6"/>
                </a:solidFill>
                <a:latin typeface="Pretendard Light"/>
                <a:ea typeface="Pretendard Light"/>
                <a:cs typeface="Pretendard Light"/>
              </a:rPr>
              <a:t>pintos 개념 동료학습을 </a:t>
            </a:r>
          </a:p>
          <a:p>
            <a:pPr algn="l" lvl="0">
              <a:lnSpc>
                <a:spcPct val="107899"/>
              </a:lnSpc>
            </a:pPr>
            <a:r>
              <a:rPr lang="en-US" sz="3333" b="false" i="false" u="none" strike="noStrike" spc="-100">
                <a:solidFill>
                  <a:srgbClr val="7B8BA6"/>
                </a:solidFill>
                <a:latin typeface="Pretendard Light"/>
                <a:ea typeface="Pretendard Light"/>
                <a:cs typeface="Pretendard Light"/>
              </a:rPr>
              <a:t>통해 효율 극대화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9017000" y="5207000"/>
            <a:ext cx="6375400" cy="637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48800" y="5676900"/>
            <a:ext cx="5499100" cy="5499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63900" y="9232900"/>
            <a:ext cx="6908800" cy="3009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14600" y="10553700"/>
            <a:ext cx="6959600" cy="203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9182100" y="7721600"/>
            <a:ext cx="6019800" cy="1892300"/>
          </a:xfrm>
          <a:prstGeom prst="rect">
            <a:avLst/>
          </a:prstGeom>
        </p:spPr>
        <p:txBody>
          <a:bodyPr anchor="ctr" rtlCol="false" lIns="0" tIns="237074" rIns="0" bIns="237074"/>
          <a:lstStyle/>
          <a:p>
            <a:pPr algn="ctr" lvl="0">
              <a:lnSpc>
                <a:spcPct val="87149"/>
              </a:lnSpc>
            </a:pPr>
            <a:r>
              <a:rPr lang="en-US" sz="10667" b="false" i="false" u="none" strike="noStrike" spc="-200">
                <a:solidFill>
                  <a:srgbClr val="EEF2FC"/>
                </a:solidFill>
                <a:latin typeface="Pretendard Thin"/>
                <a:ea typeface="Pretendard Thin"/>
                <a:cs typeface="Pretendard Thin"/>
              </a:rPr>
              <a:t>GOALS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5800" y="7315200"/>
            <a:ext cx="5232400" cy="571500"/>
          </a:xfrm>
          <a:prstGeom prst="rect">
            <a:avLst/>
          </a:prstGeom>
        </p:spPr>
        <p:txBody>
          <a:bodyPr anchor="ctr" rtlCol="false" lIns="0" tIns="71120" rIns="0" bIns="71120"/>
          <a:lstStyle/>
          <a:p>
            <a:pPr algn="ctr" lvl="0">
              <a:lnSpc>
                <a:spcPct val="87149"/>
              </a:lnSpc>
            </a:pPr>
            <a:r>
              <a:rPr lang="en-US" sz="3200" b="false" i="false" u="none" strike="noStrike" spc="-100">
                <a:solidFill>
                  <a:srgbClr val="EEF2FC"/>
                </a:solidFill>
                <a:latin typeface="Pretendard Bold"/>
                <a:ea typeface="Pretendard Bold"/>
                <a:cs typeface="Pretendard Bold"/>
              </a:rPr>
              <a:t>PROJECT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00200" y="9220200"/>
            <a:ext cx="6908800" cy="3009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20900" y="10541000"/>
            <a:ext cx="6997700" cy="203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1600200" y="8813800"/>
            <a:ext cx="1028700" cy="825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536700" y="8851900"/>
            <a:ext cx="1143000" cy="7112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103749"/>
              </a:lnSpc>
            </a:pPr>
            <a:r>
              <a:rPr lang="en-US" sz="4000" b="false" i="false" u="none" strike="noStrike" spc="-100">
                <a:solidFill>
                  <a:srgbClr val="EEF2FC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84400" y="9779000"/>
            <a:ext cx="6591300" cy="787400"/>
          </a:xfrm>
          <a:prstGeom prst="rect">
            <a:avLst/>
          </a:prstGeom>
        </p:spPr>
        <p:txBody>
          <a:bodyPr anchor="ctr" rtlCol="false" lIns="0" tIns="41910" rIns="0" bIns="41910"/>
          <a:lstStyle/>
          <a:p>
            <a:pPr algn="l" lvl="0">
              <a:lnSpc>
                <a:spcPct val="103749"/>
              </a:lnSpc>
            </a:pPr>
            <a:r>
              <a:rPr lang="en-US" sz="4400" b="false" i="false" u="none" strike="noStrike" spc="-200">
                <a:solidFill>
                  <a:srgbClr val="173460"/>
                </a:solidFill>
                <a:latin typeface="Pretendard Medium"/>
                <a:ea typeface="Pretendard Medium"/>
                <a:cs typeface="Pretendard Medium"/>
              </a:rPr>
              <a:t>트러블슈팅 동료해결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51200" y="4902200"/>
            <a:ext cx="6908800" cy="3009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01900" y="6223000"/>
            <a:ext cx="6972300" cy="203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15951200" y="4495800"/>
            <a:ext cx="1028700" cy="8255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5887700" y="4533900"/>
            <a:ext cx="1143000" cy="7112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103749"/>
              </a:lnSpc>
            </a:pPr>
            <a:r>
              <a:rPr lang="en-US" sz="4000" b="false" i="false" u="none" strike="noStrike" spc="-100">
                <a:solidFill>
                  <a:srgbClr val="EEF2FC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35400" y="5473700"/>
            <a:ext cx="5842000" cy="787400"/>
          </a:xfrm>
          <a:prstGeom prst="rect">
            <a:avLst/>
          </a:prstGeom>
        </p:spPr>
        <p:txBody>
          <a:bodyPr anchor="ctr" rtlCol="false" lIns="0" tIns="41910" rIns="0" bIns="41910"/>
          <a:lstStyle/>
          <a:p>
            <a:pPr algn="l" lvl="0">
              <a:lnSpc>
                <a:spcPct val="103749"/>
              </a:lnSpc>
            </a:pPr>
            <a:r>
              <a:rPr lang="en-US" sz="4400" b="false" i="false" u="none" strike="noStrike" spc="-200">
                <a:solidFill>
                  <a:srgbClr val="353535"/>
                </a:solidFill>
                <a:latin typeface="Pretendard Medium"/>
                <a:ea typeface="Pretendard Medium"/>
                <a:cs typeface="Pretendard Medium"/>
              </a:rPr>
              <a:t>미니코어타임 학습시스템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22500" y="10718800"/>
            <a:ext cx="5791200" cy="1143000"/>
          </a:xfrm>
          <a:prstGeom prst="rect">
            <a:avLst/>
          </a:prstGeom>
        </p:spPr>
        <p:txBody>
          <a:bodyPr anchor="ctr" rtlCol="false" lIns="0" tIns="21169" rIns="0" bIns="21169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 spc="-100">
                <a:solidFill>
                  <a:srgbClr val="7B8BA6"/>
                </a:solidFill>
                <a:latin typeface="Pretendard Light"/>
                <a:ea typeface="Pretendard Light"/>
                <a:cs typeface="Pretendard Light"/>
              </a:rPr>
              <a:t>동료들간 코드 리뷰를 통해 오류 사항 해결 및 이해도 향상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15976600" y="8826500"/>
            <a:ext cx="1028700" cy="8255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5913100" y="8864600"/>
            <a:ext cx="1143000" cy="7112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103749"/>
              </a:lnSpc>
            </a:pPr>
            <a:r>
              <a:rPr lang="en-US" sz="4000" b="false" i="false" u="none" strike="noStrike" spc="-100">
                <a:solidFill>
                  <a:srgbClr val="EEF2FC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48100" y="9791700"/>
            <a:ext cx="6591300" cy="787400"/>
          </a:xfrm>
          <a:prstGeom prst="rect">
            <a:avLst/>
          </a:prstGeom>
        </p:spPr>
        <p:txBody>
          <a:bodyPr anchor="ctr" rtlCol="false" lIns="0" tIns="41910" rIns="0" bIns="41910"/>
          <a:lstStyle/>
          <a:p>
            <a:pPr algn="l" lvl="0">
              <a:lnSpc>
                <a:spcPct val="103749"/>
              </a:lnSpc>
            </a:pPr>
            <a:r>
              <a:rPr lang="en-US" sz="4400" b="false" i="false" u="none" strike="noStrike" spc="-200">
                <a:solidFill>
                  <a:srgbClr val="353535"/>
                </a:solidFill>
                <a:latin typeface="Pretendard Medium"/>
                <a:ea typeface="Pretendard Medium"/>
                <a:cs typeface="Pretendard Medium"/>
              </a:rPr>
              <a:t>멘토링 시스템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976600" y="10782300"/>
            <a:ext cx="7010400" cy="1092200"/>
          </a:xfrm>
          <a:prstGeom prst="rect">
            <a:avLst/>
          </a:prstGeom>
        </p:spPr>
        <p:txBody>
          <a:bodyPr anchor="ctr" rtlCol="false" lIns="0" tIns="20322" rIns="0" bIns="20322"/>
          <a:lstStyle/>
          <a:p>
            <a:pPr algn="l" lvl="0">
              <a:lnSpc>
                <a:spcPct val="107899"/>
              </a:lnSpc>
            </a:pPr>
            <a:r>
              <a:rPr lang="en-US" sz="3200" b="false" i="false" u="none" strike="noStrike" spc="-100">
                <a:solidFill>
                  <a:srgbClr val="7B8BA6"/>
                </a:solidFill>
                <a:latin typeface="Pretendard Light"/>
                <a:ea typeface="Pretendard Light"/>
                <a:cs typeface="Pretendard Light"/>
              </a:rPr>
              <a:t>2명씩 붙여 앉는 자리 배치를 통해 </a:t>
            </a:r>
          </a:p>
          <a:p>
            <a:pPr algn="l" lvl="0">
              <a:lnSpc>
                <a:spcPct val="107899"/>
              </a:lnSpc>
            </a:pPr>
            <a:r>
              <a:rPr lang="en-US" sz="3200" b="false" i="false" u="none" strike="noStrike" spc="-100">
                <a:solidFill>
                  <a:srgbClr val="7B8BA6"/>
                </a:solidFill>
                <a:latin typeface="Pretendard Light"/>
                <a:ea typeface="Pretendard Light"/>
                <a:cs typeface="Pretendard Light"/>
              </a:rPr>
              <a:t>커뮤니케이션 빈도 증가및 팀 퍼포먼스 향상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22700" y="6375400"/>
            <a:ext cx="5791200" cy="1143000"/>
          </a:xfrm>
          <a:prstGeom prst="rect">
            <a:avLst/>
          </a:prstGeom>
        </p:spPr>
        <p:txBody>
          <a:bodyPr anchor="ctr" rtlCol="false" lIns="0" tIns="21169" rIns="0" bIns="21169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 spc="-100">
                <a:solidFill>
                  <a:srgbClr val="7B8BA6"/>
                </a:solidFill>
                <a:latin typeface="Pretendard Light"/>
                <a:ea typeface="Pretendard Light"/>
                <a:cs typeface="Pretendard Light"/>
              </a:rPr>
              <a:t>학습시간 정하고, 작업내용 공유 </a:t>
            </a:r>
          </a:p>
          <a:p>
            <a:pPr algn="l" lvl="0">
              <a:lnSpc>
                <a:spcPct val="107899"/>
              </a:lnSpc>
            </a:pPr>
            <a:r>
              <a:rPr lang="en-US" sz="3333" b="false" i="false" u="none" strike="noStrike" spc="-100">
                <a:solidFill>
                  <a:srgbClr val="7B8BA6"/>
                </a:solidFill>
                <a:latin typeface="Pretendard Light"/>
                <a:ea typeface="Pretendard Light"/>
                <a:cs typeface="Pretendard Light"/>
              </a:rPr>
              <a:t>및 모르는 부분 정리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F2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4000"/>
          </a:blip>
          <a:stretch>
            <a:fillRect/>
          </a:stretch>
        </p:blipFill>
        <p:spPr>
          <a:xfrm rot="0">
            <a:off x="4813300" y="4495800"/>
            <a:ext cx="14973300" cy="6159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159500" y="5969000"/>
            <a:ext cx="7277100" cy="1524000"/>
          </a:xfrm>
          <a:prstGeom prst="rect">
            <a:avLst/>
          </a:prstGeom>
        </p:spPr>
        <p:txBody>
          <a:bodyPr anchor="ctr" rtlCol="false" lIns="0" tIns="68241" rIns="0" bIns="68241"/>
          <a:lstStyle/>
          <a:p>
            <a:pPr algn="l" lvl="0">
              <a:lnSpc>
                <a:spcPct val="90470"/>
              </a:lnSpc>
            </a:pPr>
            <a:r>
              <a:rPr lang="en-US" sz="4810" b="false" i="false" u="none" strike="noStrike">
                <a:solidFill>
                  <a:srgbClr val="353535"/>
                </a:solidFill>
                <a:latin typeface="Inter Regular"/>
                <a:ea typeface="Inter Regular"/>
                <a:cs typeface="Inter Regular"/>
              </a:rPr>
              <a:t>User Programs</a:t>
            </a:r>
          </a:p>
          <a:p>
            <a:pPr algn="l" lvl="0">
              <a:lnSpc>
                <a:spcPct val="90470"/>
              </a:lnSpc>
            </a:pPr>
            <a:r>
              <a:rPr lang="en-US" sz="4810" b="false" i="false" u="none" strike="noStrike">
                <a:solidFill>
                  <a:srgbClr val="353535"/>
                </a:solidFill>
                <a:latin typeface="Inter Regular"/>
                <a:ea typeface="Inter Regular"/>
                <a:cs typeface="Inter Regular"/>
              </a:rPr>
              <a:t>(36 / 66)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159500" y="8140700"/>
            <a:ext cx="12166600" cy="1231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159500" y="8140700"/>
            <a:ext cx="6591300" cy="1231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589500" y="9372600"/>
            <a:ext cx="990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29" b="false" i="false" u="none" strike="noStrike">
                <a:solidFill>
                  <a:srgbClr val="9E9E9E"/>
                </a:solidFill>
                <a:latin typeface="Inter Medium"/>
                <a:ea typeface="Inter Medium"/>
                <a:cs typeface="Inter Medium"/>
              </a:rPr>
              <a:t>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30100" y="4978400"/>
            <a:ext cx="6210300" cy="323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221" b="false" i="false" u="none" strike="noStrike">
                <a:solidFill>
                  <a:srgbClr val="353535"/>
                </a:solidFill>
                <a:latin typeface="Inter Light"/>
                <a:ea typeface="Inter Light"/>
                <a:cs typeface="Inter Light"/>
              </a:rPr>
              <a:t>54%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59500" y="9575800"/>
            <a:ext cx="990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29" b="false" i="false" u="none" strike="noStrike">
                <a:solidFill>
                  <a:srgbClr val="9E9E9E"/>
                </a:solidFill>
                <a:latin typeface="Inter Medium"/>
                <a:ea typeface="Inter Medium"/>
                <a:cs typeface="Inter Medium"/>
              </a:rPr>
              <a:t>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5900" y="1422400"/>
            <a:ext cx="4013200" cy="1892300"/>
          </a:xfrm>
          <a:prstGeom prst="rect">
            <a:avLst/>
          </a:prstGeom>
        </p:spPr>
        <p:txBody>
          <a:bodyPr anchor="ctr" rtlCol="false" lIns="0" tIns="237074" rIns="0" bIns="237074"/>
          <a:lstStyle/>
          <a:p>
            <a:pPr algn="l" lvl="0">
              <a:lnSpc>
                <a:spcPct val="87149"/>
              </a:lnSpc>
            </a:pPr>
            <a:r>
              <a:rPr lang="en-US" sz="10667" b="false" i="false" u="none" strike="noStrike" spc="-200">
                <a:solidFill>
                  <a:srgbClr val="353535"/>
                </a:solidFill>
                <a:latin typeface="Pretendard Bold"/>
                <a:ea typeface="Pretendard Bold"/>
                <a:cs typeface="Pretendard Bold"/>
              </a:rPr>
              <a:t>진행률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68900" y="2374900"/>
            <a:ext cx="29337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 성과 지표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8300" y="1854200"/>
            <a:ext cx="151003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Argument Passing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7500" y="419100"/>
            <a:ext cx="23736300" cy="13296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8600" y="533400"/>
            <a:ext cx="24053800" cy="1310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00200" y="5334000"/>
            <a:ext cx="36957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0200" y="6045200"/>
            <a:ext cx="41910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78000" y="469900"/>
            <a:ext cx="20866100" cy="1304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0500" y="4064000"/>
            <a:ext cx="151003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429500"/>
            <a:ext cx="22339300" cy="240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74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콜이란 유저 프로그램이 직접 접근할 수 없는 커널 기능을 사용하기 위해 커널에게 작업을 요청하는 인터페이스입니다.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68600" y="1905000"/>
            <a:ext cx="18834100" cy="1060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65500" y="685800"/>
            <a:ext cx="176530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94100" y="6159500"/>
            <a:ext cx="15138400" cy="6642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3086100" y="6527800"/>
            <a:ext cx="105156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3086100" y="6527800"/>
            <a:ext cx="10515600" cy="1270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175000" y="1905000"/>
            <a:ext cx="43434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write(1, aux.buf, 6);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38500" y="2870200"/>
            <a:ext cx="10972800" cy="2489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441700" y="5359400"/>
            <a:ext cx="8902700" cy="241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17900" y="7835900"/>
            <a:ext cx="11341100" cy="486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484600" y="10261600"/>
            <a:ext cx="54864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42200" y="10693400"/>
            <a:ext cx="7823200" cy="546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325600" y="3771900"/>
            <a:ext cx="78359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syscall3(SYS_WRITE, 1, aux.buf, 6);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3086100" y="6527800"/>
            <a:ext cx="10515600" cy="1270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97200" y="508000"/>
            <a:ext cx="10274300" cy="2159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93900" y="2247900"/>
            <a:ext cx="5613400" cy="650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86100" y="2755900"/>
            <a:ext cx="8343900" cy="1054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756400" y="2654300"/>
            <a:ext cx="7823200" cy="546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0161864">
            <a:off x="6819900" y="11455400"/>
            <a:ext cx="7632700" cy="546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693900" y="9601200"/>
            <a:ext cx="54864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3086100" y="6527800"/>
            <a:ext cx="10515600" cy="1270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151100" y="2247900"/>
            <a:ext cx="5613400" cy="650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03500" y="901700"/>
            <a:ext cx="9728200" cy="1168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6616700" y="2247900"/>
            <a:ext cx="7823200" cy="54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28300" y="10731500"/>
            <a:ext cx="13335000" cy="165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211992">
            <a:off x="5067300" y="8788400"/>
            <a:ext cx="7823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3086100" y="6527800"/>
            <a:ext cx="10515600" cy="1270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1041400"/>
            <a:ext cx="8318500" cy="1201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135100" y="1041400"/>
            <a:ext cx="8648700" cy="1179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708900" y="6299200"/>
            <a:ext cx="105156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60500" y="1905000"/>
            <a:ext cx="11950700" cy="853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192000" y="1905000"/>
            <a:ext cx="11468100" cy="10515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8200" y="4826000"/>
            <a:ext cx="15100300" cy="377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FD</a:t>
            </a:r>
          </a:p>
          <a:p>
            <a:pPr algn="ctr" lvl="0">
              <a:lnSpc>
                <a:spcPct val="116199"/>
              </a:lnSpc>
            </a:pPr>
            <a:r>
              <a:rPr lang="en-US" sz="106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file distriptor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900" y="546100"/>
            <a:ext cx="31750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file distributor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19100" y="1511300"/>
            <a:ext cx="18326100" cy="2590800"/>
          </a:xfrm>
          <a:prstGeom prst="rect">
            <a:avLst/>
          </a:prstGeom>
        </p:spPr>
        <p:txBody>
          <a:bodyPr anchor="t" rtlCol="false" lIns="0" tIns="19304" rIns="0" bIns="0"/>
          <a:lstStyle/>
          <a:p>
            <a:pPr algn="l" lvl="1" marL="342900" indent="-342900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파일을 수집, 구분하기 위한 숫자</a:t>
            </a:r>
          </a:p>
          <a:p>
            <a:pPr algn="l" lvl="1" marL="342900" indent="-342900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0은 콘솔 입력, stdin, 1은 커널 출력, stdout을 지칭하는 숫자이고 2부터 파일을 기억하는 숫자</a:t>
            </a:r>
          </a:p>
          <a:p>
            <a:pPr algn="l" lvl="1" marL="342900" indent="-342900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같은 파일을 여러번 열면 서로 다른 fd가 생성</a:t>
            </a:r>
          </a:p>
          <a:p>
            <a:pPr algn="l" lvl="1" marL="342900" indent="-342900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 링크드 리스트로 구현 완료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1511300"/>
            <a:ext cx="12153900" cy="11785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19100" y="546100"/>
            <a:ext cx="31750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구현 함수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030200" y="1625600"/>
            <a:ext cx="11290300" cy="11506200"/>
          </a:xfrm>
          <a:prstGeom prst="rect">
            <a:avLst/>
          </a:prstGeom>
        </p:spPr>
        <p:txBody>
          <a:bodyPr anchor="t" rtlCol="false" lIns="0" tIns="19304" rIns="0" bIns="0"/>
          <a:lstStyle/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스레드 내에 next_fd, fd_list를 두어 링크드 리스트로 구현</a:t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fd값을 넣을 element 요소로 구현</a:t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fd는 fd번호, file은 불러온 file 구조체, list_elem은 리스트 element</a:t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fd_entry에 초기값을 넣어주는 함수</a:t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list_element로 fd_entry를 가져오는 함수</a:t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파일을 현재 스레드에 넣고 새로운 fd 번호를 부여</a:t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fd 번호에 해당하는 file을 찾아서 리턴</a:t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parrent를 child에 복사, parent의 file의 포인터를 공유하지 않고 다른 포인터로 child에 복사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599999">
            <a:off x="444500" y="3467100"/>
            <a:ext cx="120904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1599999">
            <a:off x="12598400" y="3467100"/>
            <a:ext cx="116078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599999">
            <a:off x="444500" y="6629400"/>
            <a:ext cx="120904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1599999">
            <a:off x="12598400" y="6629400"/>
            <a:ext cx="116078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599999">
            <a:off x="444500" y="7886700"/>
            <a:ext cx="120904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1599999">
            <a:off x="12598400" y="7886700"/>
            <a:ext cx="116078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599999">
            <a:off x="444500" y="9131300"/>
            <a:ext cx="12090400" cy="5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1599999">
            <a:off x="12598400" y="9131300"/>
            <a:ext cx="116078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599999">
            <a:off x="444500" y="10515600"/>
            <a:ext cx="120904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21599999">
            <a:off x="12598400" y="10515600"/>
            <a:ext cx="116078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599999">
            <a:off x="444500" y="11899900"/>
            <a:ext cx="120904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599999">
            <a:off x="12598400" y="11899900"/>
            <a:ext cx="116078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44500" y="1511300"/>
            <a:ext cx="11112500" cy="424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030200" y="1625600"/>
            <a:ext cx="11290300" cy="405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특정 thread에 fd table에 등록하고 새 fd 번호를 반환한다.</a:t>
            </a:r>
          </a:p>
          <a:p>
            <a:pPr algn="l" lvl="0">
              <a:lnSpc>
                <a:spcPct val="11702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 프로세스가 열어 둔 fd를 순회하며 찾으면 닫는다.</a:t>
            </a:r>
          </a:p>
          <a:p>
            <a:pPr algn="l" lvl="0">
              <a:lnSpc>
                <a:spcPct val="11702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702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 프로세스가 열어 둔 모든 fd를 순회하며 닫는다.</a:t>
            </a:r>
          </a:p>
          <a:p>
            <a:pPr algn="l" lvl="0">
              <a:lnSpc>
                <a:spcPct val="109559"/>
              </a:lnSpc>
            </a:pPr>
            <a:r>
              <a:rPr lang="en-US" sz="3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599999">
            <a:off x="-1841500" y="3009900"/>
            <a:ext cx="133985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33200" y="3009900"/>
            <a:ext cx="122809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599999">
            <a:off x="-1841500" y="4318000"/>
            <a:ext cx="133985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33200" y="4318000"/>
            <a:ext cx="12280900" cy="50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19100" y="546100"/>
            <a:ext cx="31750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구현 함수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1511300"/>
            <a:ext cx="13652500" cy="466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19100" y="546100"/>
            <a:ext cx="45085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Trouble Shooting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30400" y="3784600"/>
            <a:ext cx="25654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19100" y="10261600"/>
            <a:ext cx="16916400" cy="1016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29300" y="6870700"/>
            <a:ext cx="28194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19100" y="546100"/>
            <a:ext cx="45085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Trouble Shooting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19100" y="10261600"/>
            <a:ext cx="15709900" cy="1092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29300" y="6870700"/>
            <a:ext cx="2819400" cy="281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19100" y="1511300"/>
            <a:ext cx="11099800" cy="466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7400" y="4800600"/>
            <a:ext cx="37973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19100" y="546100"/>
            <a:ext cx="45085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Trouble Shooting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19100" y="10261600"/>
            <a:ext cx="18186400" cy="105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29300" y="6870700"/>
            <a:ext cx="2819400" cy="281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19100" y="1511300"/>
            <a:ext cx="12179300" cy="466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" y="5245100"/>
            <a:ext cx="414020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19100" y="1511300"/>
            <a:ext cx="17348200" cy="466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19100" y="546100"/>
            <a:ext cx="45085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Trouble Shooting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29300" y="6870700"/>
            <a:ext cx="2819400" cy="281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19100" y="10261600"/>
            <a:ext cx="18440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F2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12700"/>
            <a:ext cx="24422100" cy="254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85900" y="1257300"/>
            <a:ext cx="8788400" cy="1892300"/>
          </a:xfrm>
          <a:prstGeom prst="rect">
            <a:avLst/>
          </a:prstGeom>
        </p:spPr>
        <p:txBody>
          <a:bodyPr anchor="ctr" rtlCol="false" lIns="0" tIns="237074" rIns="0" bIns="237074"/>
          <a:lstStyle/>
          <a:p>
            <a:pPr algn="l" lvl="0">
              <a:lnSpc>
                <a:spcPct val="87149"/>
              </a:lnSpc>
            </a:pPr>
            <a:r>
              <a:rPr lang="en-US" sz="10667" b="false" i="false" u="none" strike="noStrike" spc="-200">
                <a:solidFill>
                  <a:srgbClr val="353535"/>
                </a:solidFill>
                <a:latin typeface="Pretendard Bold"/>
                <a:ea typeface="Pretendard Bold"/>
                <a:cs typeface="Pretendard Bold"/>
              </a:rPr>
              <a:t>회고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0">
            <a:off x="24206200" y="13068300"/>
            <a:ext cx="1905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0">
            <a:off x="1460500" y="3556000"/>
            <a:ext cx="1028700" cy="825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97000" y="3581400"/>
            <a:ext cx="1143000" cy="7112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103749"/>
              </a:lnSpc>
            </a:pPr>
            <a:r>
              <a:rPr lang="en-US" sz="4000" b="false" i="false" u="none" strike="noStrike" spc="-100">
                <a:solidFill>
                  <a:srgbClr val="EEF2FC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8900" y="3619500"/>
            <a:ext cx="9931400" cy="787400"/>
          </a:xfrm>
          <a:prstGeom prst="rect">
            <a:avLst/>
          </a:prstGeom>
        </p:spPr>
        <p:txBody>
          <a:bodyPr anchor="ctr" rtlCol="false" lIns="0" tIns="41910" rIns="0" bIns="41910"/>
          <a:lstStyle/>
          <a:p>
            <a:pPr algn="l" lvl="0">
              <a:lnSpc>
                <a:spcPct val="103749"/>
              </a:lnSpc>
            </a:pPr>
            <a:r>
              <a:rPr lang="en-US" sz="4400" b="false" i="false" u="none" strike="noStrike" spc="-200">
                <a:solidFill>
                  <a:srgbClr val="173460"/>
                </a:solidFill>
                <a:latin typeface="Pretendard Medium"/>
                <a:ea typeface="Pretendard Medium"/>
                <a:cs typeface="Pretendard Medium"/>
              </a:rPr>
              <a:t>진도율 향상을 위한 분업에 대한 재고민 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0">
            <a:off x="1485900" y="4864100"/>
            <a:ext cx="1028700" cy="825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22400" y="4889500"/>
            <a:ext cx="1143000" cy="7112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103749"/>
              </a:lnSpc>
            </a:pPr>
            <a:r>
              <a:rPr lang="en-US" sz="4000" b="false" i="false" u="none" strike="noStrike" spc="-100">
                <a:solidFill>
                  <a:srgbClr val="EEF2FC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8900" y="4889500"/>
            <a:ext cx="11353800" cy="787400"/>
          </a:xfrm>
          <a:prstGeom prst="rect">
            <a:avLst/>
          </a:prstGeom>
        </p:spPr>
        <p:txBody>
          <a:bodyPr anchor="ctr" rtlCol="false" lIns="0" tIns="41910" rIns="0" bIns="41910"/>
          <a:lstStyle/>
          <a:p>
            <a:pPr algn="l" lvl="0">
              <a:lnSpc>
                <a:spcPct val="103749"/>
              </a:lnSpc>
            </a:pPr>
            <a:r>
              <a:rPr lang="en-US" sz="4400" b="false" i="false" u="none" strike="noStrike" spc="-200">
                <a:solidFill>
                  <a:srgbClr val="173460"/>
                </a:solidFill>
                <a:latin typeface="Pretendard Medium"/>
                <a:ea typeface="Pretendard Medium"/>
                <a:cs typeface="Pretendard Medium"/>
              </a:rPr>
              <a:t>팀원들의 코드를 합쳐 Git 활용 협업 방식변화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0">
            <a:off x="1485900" y="6172200"/>
            <a:ext cx="1028700" cy="825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422400" y="6197600"/>
            <a:ext cx="1143000" cy="7112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103749"/>
              </a:lnSpc>
            </a:pPr>
            <a:r>
              <a:rPr lang="en-US" sz="4000" b="false" i="false" u="none" strike="noStrike" spc="-100">
                <a:solidFill>
                  <a:srgbClr val="EEF2FC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28900" y="6197600"/>
            <a:ext cx="11353800" cy="787400"/>
          </a:xfrm>
          <a:prstGeom prst="rect">
            <a:avLst/>
          </a:prstGeom>
        </p:spPr>
        <p:txBody>
          <a:bodyPr anchor="ctr" rtlCol="false" lIns="0" tIns="41910" rIns="0" bIns="41910"/>
          <a:lstStyle/>
          <a:p>
            <a:pPr algn="l" lvl="0">
              <a:lnSpc>
                <a:spcPct val="103749"/>
              </a:lnSpc>
            </a:pPr>
            <a:r>
              <a:rPr lang="en-US" sz="4400" b="false" i="false" u="none" strike="noStrike" spc="-200">
                <a:solidFill>
                  <a:srgbClr val="173460"/>
                </a:solidFill>
                <a:latin typeface="Pretendard Medium"/>
                <a:ea typeface="Pretendard Medium"/>
                <a:cs typeface="Pretendard Medium"/>
              </a:rPr>
              <a:t>멘토링, 코어타임에 대한 고민필요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