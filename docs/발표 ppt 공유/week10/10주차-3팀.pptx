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NanumGothicExtraBold"/>
      <p:bold r:id="rId33"/>
    </p:embeddedFont>
    <p:embeddedFont>
      <p:font typeface="Nanum Gothic"/>
      <p:regular r:id="rId34"/>
      <p:bold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A 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anumGothicExtraBold-bold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NanumGothic-bold.fntdata"/><Relationship Id="rId12" Type="http://schemas.openxmlformats.org/officeDocument/2006/relationships/slide" Target="slides/slide6.xml"/><Relationship Id="rId34" Type="http://schemas.openxmlformats.org/officeDocument/2006/relationships/font" Target="fonts/NanumGothic-regular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6T15:10:48.065">
    <p:pos x="240" y="660"/>
    <p:text>추가로 통과된 항목 or 통과 안 됐는데 됐다고 표기된 항목 있으면 말해주기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문서 맨 앞장에는 교육장, 팀번호, 팀원 이름이 기재 되어야 함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dc50e9320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dc50e9320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af4225f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af4225f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dc50e9320_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dc50e9320_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c50e9320_7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c50e9320_7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dc50e9320_7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dc50e9320_7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dc50e9320_7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dc50e9320_7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c50e9320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dc50e9320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dc50e9320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dc50e9320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c50e932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dc50e932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c50e9320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dc50e9320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aca2c517f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aca2c517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dc50e9320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dc50e9320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c50e9320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dc50e9320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aca2c517f_3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aca2c517f_3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dc50e9320_3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dc50e9320_3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dc50e9320_3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dc50e9320_3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aca2c51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aca2c51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dc50e9320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dc50e9320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dc50e9320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dc50e9320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dc50e9320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dc50e9320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dc50e9320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dc50e9320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dc50e9320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dc50e9320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dc50e9320_0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dc50e9320_0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dc50e9320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dc50e9320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81fb065ec6e50c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81fb065ec6e50c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dc50e9320_44_0)">
  <p:cSld name="Generated (g3ddc50e9320_4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WEEK 10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300">
                <a:latin typeface="Nanum Gothic"/>
                <a:ea typeface="Nanum Gothic"/>
                <a:cs typeface="Nanum Gothic"/>
                <a:sym typeface="Nanum Gothic"/>
              </a:rPr>
              <a:t>303호 </a:t>
            </a:r>
            <a:r>
              <a:rPr b="1" lang="ko" sz="3300">
                <a:latin typeface="Nanum Gothic"/>
                <a:ea typeface="Nanum Gothic"/>
                <a:cs typeface="Nanum Gothic"/>
                <a:sym typeface="Nanum Gothic"/>
              </a:rPr>
              <a:t>TEAM 03</a:t>
            </a:r>
            <a:endParaRPr b="1" sz="3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66666"/>
                </a:solidFill>
                <a:latin typeface="Nanum Gothic"/>
                <a:ea typeface="Nanum Gothic"/>
                <a:cs typeface="Nanum Gothic"/>
                <a:sym typeface="Nanum Gothic"/>
              </a:rPr>
              <a:t>김다애, </a:t>
            </a:r>
            <a:r>
              <a:rPr lang="ko" sz="1800">
                <a:solidFill>
                  <a:srgbClr val="666666"/>
                </a:solidFill>
                <a:latin typeface="Nanum Gothic"/>
                <a:ea typeface="Nanum Gothic"/>
                <a:cs typeface="Nanum Gothic"/>
                <a:sym typeface="Nanum Gothic"/>
              </a:rPr>
              <a:t>정범진, 조범상, </a:t>
            </a:r>
            <a:r>
              <a:rPr lang="ko" sz="1800">
                <a:solidFill>
                  <a:srgbClr val="666666"/>
                </a:solidFill>
                <a:latin typeface="Nanum Gothic"/>
                <a:ea typeface="Nanum Gothic"/>
                <a:cs typeface="Nanum Gothic"/>
                <a:sym typeface="Nanum Gothic"/>
              </a:rPr>
              <a:t>주호석</a:t>
            </a:r>
            <a:endParaRPr sz="1800">
              <a:solidFill>
                <a:srgbClr val="666666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94108">
            <a:off x="6166320" y="401219"/>
            <a:ext cx="2935207" cy="3665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진행률 리포트</a:t>
            </a:r>
            <a:endParaRPr sz="32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63" name="Google Shape;63;p15"/>
          <p:cNvGrpSpPr/>
          <p:nvPr/>
        </p:nvGrpSpPr>
        <p:grpSpPr>
          <a:xfrm>
            <a:off x="381000" y="1047750"/>
            <a:ext cx="8382000" cy="1333500"/>
            <a:chOff x="381000" y="1047750"/>
            <a:chExt cx="8382000" cy="1333500"/>
          </a:xfrm>
        </p:grpSpPr>
        <p:sp>
          <p:nvSpPr>
            <p:cNvPr id="64" name="Google Shape;64;p15"/>
            <p:cNvSpPr/>
            <p:nvPr/>
          </p:nvSpPr>
          <p:spPr>
            <a:xfrm>
              <a:off x="381000" y="1047750"/>
              <a:ext cx="8382000" cy="1333500"/>
            </a:xfrm>
            <a:prstGeom prst="roundRect">
              <a:avLst>
                <a:gd fmla="val 10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 txBox="1"/>
            <p:nvPr/>
          </p:nvSpPr>
          <p:spPr>
            <a:xfrm>
              <a:off x="571500" y="1190625"/>
              <a:ext cx="23814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전체 통과율</a:t>
              </a:r>
              <a:endParaRPr b="1" sz="180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3600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58.5</a:t>
              </a:r>
              <a:r>
                <a:rPr b="1" lang="ko" sz="3600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%</a:t>
              </a:r>
              <a:endParaRPr b="1" sz="180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38</a:t>
              </a:r>
              <a:r>
                <a:rPr b="1" lang="ko" sz="14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/ 6</a:t>
              </a:r>
              <a:r>
                <a:rPr b="1" lang="ko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r>
                <a:rPr b="1" lang="ko" sz="14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Tests</a:t>
              </a:r>
              <a:endParaRPr b="1" sz="140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143250" y="1571625"/>
              <a:ext cx="5238900" cy="1905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 txBox="1"/>
            <p:nvPr/>
          </p:nvSpPr>
          <p:spPr>
            <a:xfrm>
              <a:off x="3143250" y="1857375"/>
              <a:ext cx="523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475569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상세: </a:t>
              </a:r>
              <a:r>
                <a:rPr b="0"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Args, Other, Create, Open, Close, Write </a:t>
              </a: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전체</a:t>
              </a:r>
              <a:r>
                <a:rPr b="0"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+ Read 5</a:t>
              </a: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개</a:t>
              </a:r>
              <a:r>
                <a:rPr b="0"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, Exec 3</a:t>
              </a: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개</a:t>
              </a:r>
              <a:r>
                <a:rPr b="0"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통과</a:t>
              </a:r>
              <a:endParaRPr b="0" sz="1100">
                <a:solidFill>
                  <a:srgbClr val="475569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</p:grpSp>
      <p:grpSp>
        <p:nvGrpSpPr>
          <p:cNvPr id="68" name="Google Shape;68;p15"/>
          <p:cNvGrpSpPr/>
          <p:nvPr/>
        </p:nvGrpSpPr>
        <p:grpSpPr>
          <a:xfrm>
            <a:off x="381000" y="2571750"/>
            <a:ext cx="8382000" cy="2190900"/>
            <a:chOff x="381000" y="2571750"/>
            <a:chExt cx="8382000" cy="2190900"/>
          </a:xfrm>
        </p:grpSpPr>
        <p:sp>
          <p:nvSpPr>
            <p:cNvPr id="69" name="Google Shape;69;p15"/>
            <p:cNvSpPr/>
            <p:nvPr/>
          </p:nvSpPr>
          <p:spPr>
            <a:xfrm>
              <a:off x="381000" y="2571750"/>
              <a:ext cx="2667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571500" y="2714625"/>
              <a:ext cx="2286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Args &amp; Other</a:t>
              </a:r>
              <a:endParaRPr sz="24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2400">
                  <a:solidFill>
                    <a:srgbClr val="10B98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100%</a:t>
              </a:r>
              <a:endParaRPr sz="240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Args 5 / 5 통과 </a:t>
              </a:r>
              <a:r>
                <a:rPr lang="ko">
                  <a:solidFill>
                    <a:srgbClr val="94A3B8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😋👍</a:t>
              </a:r>
              <a:endParaRPr>
                <a:solidFill>
                  <a:srgbClr val="94A3B8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Other 2 / 2 통과 </a:t>
              </a:r>
              <a:r>
                <a:rPr lang="ko">
                  <a:solidFill>
                    <a:srgbClr val="94A3B8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😋👍</a:t>
              </a:r>
              <a:endParaRPr>
                <a:solidFill>
                  <a:srgbClr val="94A3B8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238500" y="2571750"/>
              <a:ext cx="2667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429000" y="2714625"/>
              <a:ext cx="2286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System Call</a:t>
              </a:r>
              <a:endParaRPr sz="24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600">
                  <a:solidFill>
                    <a:srgbClr val="F59E0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약</a:t>
              </a:r>
              <a:r>
                <a:rPr lang="ko" sz="2400">
                  <a:solidFill>
                    <a:srgbClr val="F59E0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 66%</a:t>
              </a:r>
              <a:endParaRPr sz="2400">
                <a:solidFill>
                  <a:srgbClr val="F59E0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31 / 47 통과 🫤</a:t>
              </a:r>
              <a:endParaRPr sz="2400">
                <a:solidFill>
                  <a:srgbClr val="F59E0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10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통과 목록:</a:t>
              </a:r>
              <a:br>
                <a:rPr b="1" lang="ko" sz="10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</a:br>
              <a:r>
                <a:rPr b="1" lang="ko" sz="100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Create, Open, Close, Write, Read(5/6), Exec(3/6)</a:t>
              </a:r>
              <a:endParaRPr b="1" sz="100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6096000" y="2571750"/>
              <a:ext cx="2667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5"/>
          <p:cNvSpPr txBox="1"/>
          <p:nvPr/>
        </p:nvSpPr>
        <p:spPr>
          <a:xfrm>
            <a:off x="6288500" y="2714700"/>
            <a:ext cx="2286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ROX, Bad, Dup2, No Vm</a:t>
            </a:r>
            <a:endParaRPr sz="24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EF444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0%</a:t>
            </a:r>
            <a:endParaRPr sz="2400">
              <a:solidFill>
                <a:srgbClr val="EF4444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ko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 / 12 통과 </a:t>
            </a:r>
            <a:r>
              <a:rPr lang="ko">
                <a:solidFill>
                  <a:srgbClr val="94A3B8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😭</a:t>
            </a:r>
            <a:endParaRPr>
              <a:solidFill>
                <a:srgbClr val="64748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43250" y="1571625"/>
            <a:ext cx="3064800" cy="1905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4294967295"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Nick</a:t>
            </a: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 -</a:t>
            </a: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조범상</a:t>
            </a:r>
            <a:endParaRPr sz="36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8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Argument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Passing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305425"/>
            <a:ext cx="3062400" cy="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ko" sz="925">
                <a:solidFill>
                  <a:schemeClr val="dk1"/>
                </a:solidFill>
              </a:rPr>
              <a:t>문자열을  유저 프로그램이 읽을 수 있게 만드는 작업</a:t>
            </a:r>
            <a:endParaRPr sz="925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731425" y="2154925"/>
            <a:ext cx="2060400" cy="1423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841525" y="2205191"/>
            <a:ext cx="1840200" cy="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ko" sz="1325"/>
              <a:t>shell</a:t>
            </a:r>
            <a:endParaRPr b="1" sz="1325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845575" y="2840700"/>
            <a:ext cx="1840200" cy="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ko" sz="1325"/>
              <a:t>ls -l</a:t>
            </a:r>
            <a:endParaRPr b="1" sz="1325"/>
          </a:p>
        </p:txBody>
      </p:sp>
      <p:sp>
        <p:nvSpPr>
          <p:cNvPr id="90" name="Google Shape;90;p17"/>
          <p:cNvSpPr/>
          <p:nvPr/>
        </p:nvSpPr>
        <p:spPr>
          <a:xfrm>
            <a:off x="3837975" y="1761700"/>
            <a:ext cx="1958400" cy="232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7"/>
          <p:cNvCxnSpPr/>
          <p:nvPr/>
        </p:nvCxnSpPr>
        <p:spPr>
          <a:xfrm flipH="1" rot="10800000">
            <a:off x="731425" y="2579675"/>
            <a:ext cx="20685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7"/>
          <p:cNvCxnSpPr/>
          <p:nvPr/>
        </p:nvCxnSpPr>
        <p:spPr>
          <a:xfrm>
            <a:off x="3857625" y="2205200"/>
            <a:ext cx="19191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9650"/>
            <a:ext cx="9144001" cy="518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-715" t="0"/>
          <a:stretch/>
        </p:blipFill>
        <p:spPr>
          <a:xfrm>
            <a:off x="0" y="152400"/>
            <a:ext cx="6695926" cy="49911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3639400" y="1997413"/>
            <a:ext cx="82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3639400" y="1656225"/>
            <a:ext cx="82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639400" y="2338600"/>
            <a:ext cx="82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C0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 title="ChatGPT Image 2026년 5월 7일 오전 03_42_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84302" cy="511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 title="ChatGPT Image 2026년 5월 7일 오전 04_29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4294967295"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judy - 주호석</a:t>
            </a:r>
            <a:endParaRPr sz="36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2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22" name="Google Shape;122;p22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2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212529"/>
                  </a:solidFill>
                  <a:latin typeface="Arial"/>
                  <a:ea typeface="Arial"/>
                  <a:cs typeface="Arial"/>
                  <a:sym typeface="Arial"/>
                </a:rPr>
                <a:t>스택 구축 6단계</a:t>
              </a:r>
              <a:endParaRPr b="1" sz="24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381000" y="571500"/>
              <a:ext cx="571500" cy="381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22"/>
          <p:cNvGrpSpPr/>
          <p:nvPr/>
        </p:nvGrpSpPr>
        <p:grpSpPr>
          <a:xfrm>
            <a:off x="381000" y="1143000"/>
            <a:ext cx="2571900" cy="1428900"/>
            <a:chOff x="381000" y="1143000"/>
            <a:chExt cx="2571900" cy="1428900"/>
          </a:xfrm>
        </p:grpSpPr>
        <p:sp>
          <p:nvSpPr>
            <p:cNvPr id="126" name="Google Shape;126;p22"/>
            <p:cNvSpPr/>
            <p:nvPr/>
          </p:nvSpPr>
          <p:spPr>
            <a:xfrm>
              <a:off x="381000" y="114300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2"/>
            <p:cNvSpPr txBox="1"/>
            <p:nvPr/>
          </p:nvSpPr>
          <p:spPr>
            <a:xfrm>
              <a:off x="523875" y="123825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01. 문자열 파싱</a:t>
              </a:r>
              <a:endParaRPr b="1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(Tokenization)</a:t>
              </a:r>
              <a:endParaRPr b="0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인자들을 공백 단위로 분리하여 </a:t>
              </a:r>
              <a:r>
                <a:rPr b="0" lang="ko" sz="10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argc</a:t>
              </a: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0" lang="ko" sz="10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argv</a:t>
              </a: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를 생성합니다.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2"/>
          <p:cNvGrpSpPr/>
          <p:nvPr/>
        </p:nvGrpSpPr>
        <p:grpSpPr>
          <a:xfrm>
            <a:off x="3286125" y="1143000"/>
            <a:ext cx="2571900" cy="1428900"/>
            <a:chOff x="3286125" y="1143000"/>
            <a:chExt cx="2571900" cy="1428900"/>
          </a:xfrm>
        </p:grpSpPr>
        <p:sp>
          <p:nvSpPr>
            <p:cNvPr id="129" name="Google Shape;129;p22"/>
            <p:cNvSpPr/>
            <p:nvPr/>
          </p:nvSpPr>
          <p:spPr>
            <a:xfrm>
              <a:off x="3286125" y="114300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2"/>
            <p:cNvSpPr txBox="1"/>
            <p:nvPr/>
          </p:nvSpPr>
          <p:spPr>
            <a:xfrm>
              <a:off x="3429000" y="123825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02. 데이터 Push</a:t>
              </a:r>
              <a:endParaRPr b="1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(Data Push)</a:t>
              </a:r>
              <a:endParaRPr b="0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분리된 문자열 데이터를 스택에 직접 삽입합니다.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2"/>
          <p:cNvGrpSpPr/>
          <p:nvPr/>
        </p:nvGrpSpPr>
        <p:grpSpPr>
          <a:xfrm>
            <a:off x="6191250" y="1143000"/>
            <a:ext cx="2571900" cy="1428900"/>
            <a:chOff x="6191250" y="1143000"/>
            <a:chExt cx="2571900" cy="1428900"/>
          </a:xfrm>
        </p:grpSpPr>
        <p:sp>
          <p:nvSpPr>
            <p:cNvPr id="132" name="Google Shape;132;p22"/>
            <p:cNvSpPr/>
            <p:nvPr/>
          </p:nvSpPr>
          <p:spPr>
            <a:xfrm>
              <a:off x="6191250" y="114300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2"/>
            <p:cNvSpPr txBox="1"/>
            <p:nvPr/>
          </p:nvSpPr>
          <p:spPr>
            <a:xfrm>
              <a:off x="6334125" y="123825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03. 단어 정렬</a:t>
              </a:r>
              <a:endParaRPr b="1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(Word Alignment)</a:t>
              </a:r>
              <a:endParaRPr b="0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성능을 위해 주소를 8바이트 배수로 정렬(Padding)합니다.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2"/>
          <p:cNvGrpSpPr/>
          <p:nvPr/>
        </p:nvGrpSpPr>
        <p:grpSpPr>
          <a:xfrm>
            <a:off x="381000" y="2952750"/>
            <a:ext cx="2571900" cy="1428900"/>
            <a:chOff x="381000" y="2952750"/>
            <a:chExt cx="2571900" cy="1428900"/>
          </a:xfrm>
        </p:grpSpPr>
        <p:sp>
          <p:nvSpPr>
            <p:cNvPr id="135" name="Google Shape;135;p22"/>
            <p:cNvSpPr/>
            <p:nvPr/>
          </p:nvSpPr>
          <p:spPr>
            <a:xfrm>
              <a:off x="381000" y="295275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2"/>
            <p:cNvSpPr txBox="1"/>
            <p:nvPr/>
          </p:nvSpPr>
          <p:spPr>
            <a:xfrm>
              <a:off x="523875" y="3048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04. 포인터 Push</a:t>
              </a:r>
              <a:endParaRPr b="1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(Pointer Push)</a:t>
              </a:r>
              <a:endParaRPr b="0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문자열의 주소값들과 끝을 알리는 NULL 포인터를 삽입합니다.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22"/>
          <p:cNvGrpSpPr/>
          <p:nvPr/>
        </p:nvGrpSpPr>
        <p:grpSpPr>
          <a:xfrm>
            <a:off x="3286125" y="2952750"/>
            <a:ext cx="2571900" cy="1428900"/>
            <a:chOff x="3286125" y="2952750"/>
            <a:chExt cx="2571900" cy="1428900"/>
          </a:xfrm>
        </p:grpSpPr>
        <p:sp>
          <p:nvSpPr>
            <p:cNvPr id="138" name="Google Shape;138;p22"/>
            <p:cNvSpPr/>
            <p:nvPr/>
          </p:nvSpPr>
          <p:spPr>
            <a:xfrm>
              <a:off x="3286125" y="295275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2"/>
            <p:cNvSpPr txBox="1"/>
            <p:nvPr/>
          </p:nvSpPr>
          <p:spPr>
            <a:xfrm>
              <a:off x="3429000" y="3048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05. 가짜 반환 주소</a:t>
              </a:r>
              <a:endParaRPr b="1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(Fake Return Address)</a:t>
              </a:r>
              <a:endParaRPr b="0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함수 호출 규약을 맞추기 위해 스택에 0값을 삽입합니다.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2"/>
          <p:cNvGrpSpPr/>
          <p:nvPr/>
        </p:nvGrpSpPr>
        <p:grpSpPr>
          <a:xfrm>
            <a:off x="6191250" y="2952750"/>
            <a:ext cx="2571900" cy="1428900"/>
            <a:chOff x="6191250" y="2952750"/>
            <a:chExt cx="2571900" cy="1428900"/>
          </a:xfrm>
        </p:grpSpPr>
        <p:sp>
          <p:nvSpPr>
            <p:cNvPr id="141" name="Google Shape;141;p22"/>
            <p:cNvSpPr/>
            <p:nvPr/>
          </p:nvSpPr>
          <p:spPr>
            <a:xfrm>
              <a:off x="6191250" y="295275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 txBox="1"/>
            <p:nvPr/>
          </p:nvSpPr>
          <p:spPr>
            <a:xfrm>
              <a:off x="6334125" y="3048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06. 레지스터 설정</a:t>
              </a:r>
              <a:endParaRPr b="1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(Register Setup)</a:t>
              </a:r>
              <a:endParaRPr b="0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%rdi</a:t>
              </a: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(argc)와 </a:t>
              </a:r>
              <a:r>
                <a:rPr b="0" lang="ko" sz="10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%rsi</a:t>
              </a: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(argv)를 각각 설정합니다.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>
            <p:ph type="title"/>
          </p:nvPr>
        </p:nvSpPr>
        <p:spPr>
          <a:xfrm>
            <a:off x="381000" y="952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argument 패싱 과정</a:t>
            </a:r>
            <a:r>
              <a:rPr b="1" lang="ko" sz="24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의 최종모습</a:t>
            </a:r>
            <a:endParaRPr b="1" sz="24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381000" y="57150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1880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23"/>
          <p:cNvGrpSpPr/>
          <p:nvPr/>
        </p:nvGrpSpPr>
        <p:grpSpPr>
          <a:xfrm>
            <a:off x="75950" y="927600"/>
            <a:ext cx="3810000" cy="3810000"/>
            <a:chOff x="381000" y="952500"/>
            <a:chExt cx="3810000" cy="3810000"/>
          </a:xfrm>
        </p:grpSpPr>
        <p:sp>
          <p:nvSpPr>
            <p:cNvPr id="151" name="Google Shape;151;p23"/>
            <p:cNvSpPr/>
            <p:nvPr/>
          </p:nvSpPr>
          <p:spPr>
            <a:xfrm>
              <a:off x="381000" y="952500"/>
              <a:ext cx="3810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3"/>
            <p:cNvSpPr txBox="1"/>
            <p:nvPr/>
          </p:nvSpPr>
          <p:spPr>
            <a:xfrm>
              <a:off x="571500" y="1143000"/>
              <a:ext cx="3429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12529"/>
                  </a:solidFill>
                  <a:latin typeface="Arial"/>
                  <a:ea typeface="Arial"/>
                  <a:cs typeface="Arial"/>
                  <a:sym typeface="Arial"/>
                </a:rPr>
                <a:t>x86-64 규칙에 따른 스택 모습</a:t>
              </a:r>
              <a:endParaRPr b="1" sz="14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188038"/>
                  </a:solidFill>
                  <a:highlight>
                    <a:srgbClr val="F1F3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ex) /bin/ls -l foo bar</a:t>
              </a:r>
              <a:endParaRPr b="0" sz="11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메모리 구조 설명:</a:t>
              </a:r>
              <a:endParaRPr b="0" sz="10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02124"/>
                </a:buClr>
                <a:buSzPts val="1000"/>
                <a:buFont typeface="Arial"/>
                <a:buChar char="●"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상위 주소에는 실제 문자열 데이터('bar', 'foo', '-l', '/bin/ls')가 위치합니다.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02124"/>
                </a:buClr>
                <a:buSzPts val="1000"/>
                <a:buFont typeface="Arial"/>
                <a:buChar char="●"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데이터 사이에는 8바이트 정렬을 위한 패딩(word-align)이 삽입될 수 있습니다.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02124"/>
                </a:buClr>
                <a:buSzPts val="1000"/>
                <a:buFont typeface="Arial"/>
                <a:buChar char="●"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하위 주소 방향으로 argv 배열 포인터들과 인자 개수 정보가 쌓입니다.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202124"/>
                </a:buClr>
                <a:buSzPts val="1000"/>
                <a:buFont typeface="Arial"/>
                <a:buChar char="●"/>
              </a:pPr>
              <a:r>
                <a:rPr b="0" lang="ko" sz="10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가장 아래에는 호출 규약에 따른 반환 주소가 위치합니다.</a:t>
              </a:r>
              <a:endParaRPr b="0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3" name="Google Shape;153;p23"/>
          <p:cNvPicPr preferRelativeResize="0"/>
          <p:nvPr/>
        </p:nvPicPr>
        <p:blipFill rotWithShape="1">
          <a:blip r:embed="rId4">
            <a:alphaModFix/>
          </a:blip>
          <a:srcRect b="0" l="-3430" r="-9781" t="0"/>
          <a:stretch/>
        </p:blipFill>
        <p:spPr>
          <a:xfrm>
            <a:off x="3986800" y="1301100"/>
            <a:ext cx="5279400" cy="29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4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59" name="Google Shape;159;p24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4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212529"/>
                  </a:solidFill>
                  <a:latin typeface="Arial"/>
                  <a:ea typeface="Arial"/>
                  <a:cs typeface="Arial"/>
                  <a:sym typeface="Arial"/>
                </a:rPr>
                <a:t>문자열 파싱 (Tokenization)</a:t>
              </a:r>
              <a:endParaRPr b="1" sz="24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>
              <a:off x="381000" y="571500"/>
              <a:ext cx="571500" cy="381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24"/>
          <p:cNvGrpSpPr/>
          <p:nvPr/>
        </p:nvGrpSpPr>
        <p:grpSpPr>
          <a:xfrm>
            <a:off x="381000" y="952500"/>
            <a:ext cx="8382000" cy="3810000"/>
            <a:chOff x="381000" y="952500"/>
            <a:chExt cx="8382000" cy="3810000"/>
          </a:xfrm>
        </p:grpSpPr>
        <p:sp>
          <p:nvSpPr>
            <p:cNvPr id="163" name="Google Shape;163;p24"/>
            <p:cNvSpPr/>
            <p:nvPr/>
          </p:nvSpPr>
          <p:spPr>
            <a:xfrm>
              <a:off x="381000" y="952500"/>
              <a:ext cx="8382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t</a:t>
              </a:r>
              <a:endParaRPr/>
            </a:p>
          </p:txBody>
        </p:sp>
        <p:sp>
          <p:nvSpPr>
            <p:cNvPr id="164" name="Google Shape;164;p24"/>
            <p:cNvSpPr txBox="1"/>
            <p:nvPr/>
          </p:nvSpPr>
          <p:spPr>
            <a:xfrm>
              <a:off x="381000" y="952500"/>
              <a:ext cx="4000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65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토큰화 과정</a:t>
              </a:r>
              <a:endParaRPr b="1" sz="166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ko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동작: </a:t>
              </a:r>
              <a:r>
                <a:rPr lang="ko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fn_copy 문자열을 공백(" ") 기준으로 자릅니다.</a:t>
              </a:r>
              <a:endParaRPr sz="166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ko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결과: </a:t>
              </a:r>
              <a:r>
                <a:rPr lang="ko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argv 배열에 잘려진 문자열(토큰)의 주소들이 순서대로 저장되며, 인자의 총 개수인 argc가 계산됩니다.</a:t>
              </a:r>
              <a:endParaRPr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188038"/>
                  </a:solidFill>
                  <a:highlight>
                    <a:srgbClr val="F1F3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ex) /bin/ls -l foo bar </a:t>
              </a:r>
              <a:endParaRPr sz="11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018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8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8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8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8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8"/>
            </a:p>
          </p:txBody>
        </p:sp>
      </p:grpSp>
      <p:grpSp>
        <p:nvGrpSpPr>
          <p:cNvPr id="165" name="Google Shape;165;p24"/>
          <p:cNvGrpSpPr/>
          <p:nvPr/>
        </p:nvGrpSpPr>
        <p:grpSpPr>
          <a:xfrm>
            <a:off x="381000" y="2095500"/>
            <a:ext cx="8382000" cy="2667000"/>
            <a:chOff x="381000" y="2095500"/>
            <a:chExt cx="8382000" cy="2667000"/>
          </a:xfrm>
        </p:grpSpPr>
        <p:sp>
          <p:nvSpPr>
            <p:cNvPr id="166" name="Google Shape;166;p24"/>
            <p:cNvSpPr/>
            <p:nvPr/>
          </p:nvSpPr>
          <p:spPr>
            <a:xfrm>
              <a:off x="381000" y="2095500"/>
              <a:ext cx="8382000" cy="2667000"/>
            </a:xfrm>
            <a:prstGeom prst="roundRect">
              <a:avLst>
                <a:gd fmla="val 3571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4"/>
            <p:cNvSpPr/>
            <p:nvPr/>
          </p:nvSpPr>
          <p:spPr>
            <a:xfrm>
              <a:off x="381000" y="2095500"/>
              <a:ext cx="8382000" cy="285900"/>
            </a:xfrm>
            <a:prstGeom prst="roundRect">
              <a:avLst>
                <a:gd fmla="val 33333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4"/>
            <p:cNvSpPr/>
            <p:nvPr/>
          </p:nvSpPr>
          <p:spPr>
            <a:xfrm>
              <a:off x="523875" y="21907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4"/>
            <p:cNvSpPr/>
            <p:nvPr/>
          </p:nvSpPr>
          <p:spPr>
            <a:xfrm>
              <a:off x="666750" y="21907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4"/>
            <p:cNvSpPr/>
            <p:nvPr/>
          </p:nvSpPr>
          <p:spPr>
            <a:xfrm>
              <a:off x="809625" y="21907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4"/>
          <p:cNvSpPr txBox="1"/>
          <p:nvPr/>
        </p:nvSpPr>
        <p:spPr>
          <a:xfrm>
            <a:off x="4706475" y="464275"/>
            <a:ext cx="32247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rPr>
              <a:t>argv[0] = /bin/ls</a:t>
            </a:r>
            <a:endParaRPr sz="10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rPr>
              <a:t>argv[1] = -l</a:t>
            </a:r>
            <a:endParaRPr sz="10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rPr>
              <a:t>argv[2] = foo </a:t>
            </a:r>
            <a:endParaRPr sz="10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rPr>
              <a:t>argv[3] = bar</a:t>
            </a:r>
            <a:endParaRPr sz="10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88038"/>
                </a:solidFill>
                <a:highlight>
                  <a:srgbClr val="F1F3F4"/>
                </a:highlight>
                <a:latin typeface="Courier New"/>
                <a:ea typeface="Courier New"/>
                <a:cs typeface="Courier New"/>
                <a:sym typeface="Courier New"/>
              </a:rPr>
              <a:t>argv[4] = NULL</a:t>
            </a:r>
            <a:endParaRPr sz="10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highlight>
                <a:srgbClr val="F1F3F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2" name="Google Shape;172;p24" title="스크린샷 2026-05-07 오전 1.53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225" y="2365375"/>
            <a:ext cx="7581400" cy="23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5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78" name="Google Shape;178;p25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5"/>
            <p:cNvSpPr txBox="1"/>
            <p:nvPr/>
          </p:nvSpPr>
          <p:spPr>
            <a:xfrm>
              <a:off x="381000" y="952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" sz="2400">
                  <a:solidFill>
                    <a:srgbClr val="212529"/>
                  </a:solidFill>
                  <a:latin typeface="Arial"/>
                  <a:ea typeface="Arial"/>
                  <a:cs typeface="Arial"/>
                  <a:sym typeface="Arial"/>
                </a:rPr>
                <a:t>문자열 데이터 Push &amp; 단어 정렬</a:t>
              </a:r>
              <a:endParaRPr b="1" i="0" sz="24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381000" y="61912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5"/>
          <p:cNvSpPr txBox="1"/>
          <p:nvPr/>
        </p:nvSpPr>
        <p:spPr>
          <a:xfrm>
            <a:off x="381000" y="952500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문자열 인자들을 스택에 푸시하고, 8바이트 단위로 메모리를 정렬(Word Alignment)하는 과정입니다.</a:t>
            </a:r>
            <a:endParaRPr b="0" sz="12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81000" y="1619250"/>
            <a:ext cx="3905400" cy="32385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4">
            <a:alphaModFix/>
          </a:blip>
          <a:srcRect b="48121" l="0" r="0" t="109"/>
          <a:stretch/>
        </p:blipFill>
        <p:spPr>
          <a:xfrm>
            <a:off x="381000" y="2104550"/>
            <a:ext cx="3905400" cy="213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5"/>
          <p:cNvGrpSpPr/>
          <p:nvPr/>
        </p:nvGrpSpPr>
        <p:grpSpPr>
          <a:xfrm>
            <a:off x="4476750" y="3048000"/>
            <a:ext cx="4286400" cy="1809600"/>
            <a:chOff x="4476750" y="3048000"/>
            <a:chExt cx="4286400" cy="1809600"/>
          </a:xfrm>
        </p:grpSpPr>
        <p:sp>
          <p:nvSpPr>
            <p:cNvPr id="185" name="Google Shape;185;p25"/>
            <p:cNvSpPr/>
            <p:nvPr/>
          </p:nvSpPr>
          <p:spPr>
            <a:xfrm>
              <a:off x="4476750" y="3048000"/>
              <a:ext cx="4286400" cy="1809600"/>
            </a:xfrm>
            <a:prstGeom prst="roundRect">
              <a:avLst>
                <a:gd fmla="val 5263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4476750" y="3048000"/>
              <a:ext cx="4286400" cy="238200"/>
            </a:xfrm>
            <a:prstGeom prst="roundRect">
              <a:avLst>
                <a:gd fmla="val 40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4572000" y="3119438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5"/>
            <p:cNvSpPr/>
            <p:nvPr/>
          </p:nvSpPr>
          <p:spPr>
            <a:xfrm>
              <a:off x="4714875" y="3119438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4857750" y="3119438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0" name="Google Shape;190;p25"/>
            <p:cNvPicPr preferRelativeResize="0"/>
            <p:nvPr/>
          </p:nvPicPr>
          <p:blipFill rotWithShape="1">
            <a:blip r:embed="rId5">
              <a:alphaModFix/>
            </a:blip>
            <a:srcRect b="0" l="807" r="807" t="0"/>
            <a:stretch/>
          </p:blipFill>
          <p:spPr>
            <a:xfrm>
              <a:off x="4572000" y="3333750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25"/>
          <p:cNvGrpSpPr/>
          <p:nvPr/>
        </p:nvGrpSpPr>
        <p:grpSpPr>
          <a:xfrm>
            <a:off x="4476750" y="952500"/>
            <a:ext cx="4286400" cy="1905000"/>
            <a:chOff x="4476750" y="952500"/>
            <a:chExt cx="4286400" cy="1905000"/>
          </a:xfrm>
        </p:grpSpPr>
        <p:sp>
          <p:nvSpPr>
            <p:cNvPr id="192" name="Google Shape;192;p25"/>
            <p:cNvSpPr/>
            <p:nvPr/>
          </p:nvSpPr>
          <p:spPr>
            <a:xfrm>
              <a:off x="4476750" y="952500"/>
              <a:ext cx="4286400" cy="1905000"/>
            </a:xfrm>
            <a:prstGeom prst="roundRect">
              <a:avLst>
                <a:gd fmla="val 5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4476750" y="952500"/>
              <a:ext cx="4286400" cy="238200"/>
            </a:xfrm>
            <a:prstGeom prst="roundRect">
              <a:avLst>
                <a:gd fmla="val 40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4572000" y="1023938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4714875" y="1023938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4857750" y="1023938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7" name="Google Shape;19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0050" y="1094300"/>
            <a:ext cx="3810001" cy="17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03" name="Google Shape;203;p2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6"/>
            <p:cNvSpPr txBox="1"/>
            <p:nvPr/>
          </p:nvSpPr>
          <p:spPr>
            <a:xfrm>
              <a:off x="381000" y="952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포인터 &amp; 가짜 반환 주소 Push</a:t>
              </a:r>
              <a:endParaRPr b="1" sz="2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381000" y="61912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26"/>
          <p:cNvGrpSpPr/>
          <p:nvPr/>
        </p:nvGrpSpPr>
        <p:grpSpPr>
          <a:xfrm>
            <a:off x="381000" y="952500"/>
            <a:ext cx="8535600" cy="3889200"/>
            <a:chOff x="381000" y="952500"/>
            <a:chExt cx="8535600" cy="3889200"/>
          </a:xfrm>
        </p:grpSpPr>
        <p:sp>
          <p:nvSpPr>
            <p:cNvPr id="207" name="Google Shape;207;p26"/>
            <p:cNvSpPr txBox="1"/>
            <p:nvPr/>
          </p:nvSpPr>
          <p:spPr>
            <a:xfrm>
              <a:off x="381000" y="952500"/>
              <a:ext cx="8382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argv 배열의 포인터들을 스택에 쌓고, 마지막으로 가짜 반환 주소를 추가하는 단계입니다.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" name="Google Shape;208;p26"/>
            <p:cNvGrpSpPr/>
            <p:nvPr/>
          </p:nvGrpSpPr>
          <p:grpSpPr>
            <a:xfrm>
              <a:off x="381000" y="1524000"/>
              <a:ext cx="4000500" cy="3048000"/>
              <a:chOff x="381000" y="1524000"/>
              <a:chExt cx="4000500" cy="3048000"/>
            </a:xfrm>
          </p:grpSpPr>
          <p:sp>
            <p:nvSpPr>
              <p:cNvPr id="209" name="Google Shape;209;p26"/>
              <p:cNvSpPr/>
              <p:nvPr/>
            </p:nvSpPr>
            <p:spPr>
              <a:xfrm>
                <a:off x="381000" y="1524000"/>
                <a:ext cx="4000500" cy="3048000"/>
              </a:xfrm>
              <a:prstGeom prst="roundRect">
                <a:avLst>
                  <a:gd fmla="val 37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0" name="Google Shape;210;p26"/>
              <p:cNvPicPr preferRelativeResize="0"/>
              <p:nvPr/>
            </p:nvPicPr>
            <p:blipFill rotWithShape="1">
              <a:blip r:embed="rId4">
                <a:alphaModFix/>
              </a:blip>
              <a:srcRect b="52555" l="-462" r="70" t="101018"/>
              <a:stretch/>
            </p:blipFill>
            <p:spPr>
              <a:xfrm flipH="1" rot="10800000">
                <a:off x="448225" y="2349150"/>
                <a:ext cx="3803700" cy="127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" name="Google Shape;211;p26"/>
              <p:cNvSpPr txBox="1"/>
              <p:nvPr/>
            </p:nvSpPr>
            <p:spPr>
              <a:xfrm>
                <a:off x="571500" y="1714500"/>
                <a:ext cx="3619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메모리 스택 현황 (argv pointers)</a:t>
                </a:r>
                <a:endParaRPr b="1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6"/>
            <p:cNvGrpSpPr/>
            <p:nvPr/>
          </p:nvGrpSpPr>
          <p:grpSpPr>
            <a:xfrm>
              <a:off x="4592550" y="1301125"/>
              <a:ext cx="4324050" cy="3540575"/>
              <a:chOff x="4592550" y="1301125"/>
              <a:chExt cx="4324050" cy="3540575"/>
            </a:xfrm>
          </p:grpSpPr>
          <p:sp>
            <p:nvSpPr>
              <p:cNvPr id="213" name="Google Shape;213;p26"/>
              <p:cNvSpPr/>
              <p:nvPr/>
            </p:nvSpPr>
            <p:spPr>
              <a:xfrm>
                <a:off x="4613100" y="1301125"/>
                <a:ext cx="4149900" cy="3511200"/>
              </a:xfrm>
              <a:prstGeom prst="roundRect">
                <a:avLst>
                  <a:gd fmla="val 3750" name="adj"/>
                </a:avLst>
              </a:prstGeom>
              <a:solidFill>
                <a:srgbClr val="1E1E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6"/>
              <p:cNvSpPr/>
              <p:nvPr/>
            </p:nvSpPr>
            <p:spPr>
              <a:xfrm>
                <a:off x="4592550" y="1333500"/>
                <a:ext cx="4191000" cy="285900"/>
              </a:xfrm>
              <a:prstGeom prst="roundRect">
                <a:avLst>
                  <a:gd fmla="val 40000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6"/>
              <p:cNvSpPr/>
              <p:nvPr/>
            </p:nvSpPr>
            <p:spPr>
              <a:xfrm>
                <a:off x="4716900" y="142867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6"/>
              <p:cNvSpPr/>
              <p:nvPr/>
            </p:nvSpPr>
            <p:spPr>
              <a:xfrm>
                <a:off x="4878300" y="1428750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6"/>
              <p:cNvSpPr/>
              <p:nvPr/>
            </p:nvSpPr>
            <p:spPr>
              <a:xfrm>
                <a:off x="5039700" y="142867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8" name="Google Shape;218;p26"/>
              <p:cNvPicPr preferRelativeResize="0"/>
              <p:nvPr/>
            </p:nvPicPr>
            <p:blipFill rotWithShape="1">
              <a:blip r:embed="rId5">
                <a:alphaModFix/>
              </a:blip>
              <a:srcRect b="-5931" l="-12143" r="-30044" t="-1124"/>
              <a:stretch/>
            </p:blipFill>
            <p:spPr>
              <a:xfrm>
                <a:off x="4878300" y="1524000"/>
                <a:ext cx="4038300" cy="331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26"/>
              <p:cNvSpPr txBox="1"/>
              <p:nvPr/>
            </p:nvSpPr>
            <p:spPr>
              <a:xfrm>
                <a:off x="5259300" y="1381125"/>
                <a:ext cx="2857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25" name="Google Shape;225;p2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7"/>
            <p:cNvSpPr txBox="1"/>
            <p:nvPr/>
          </p:nvSpPr>
          <p:spPr>
            <a:xfrm>
              <a:off x="381000" y="952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레지스터 설정 (Register Setup)</a:t>
              </a:r>
              <a:endParaRPr b="1" sz="2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381000" y="61912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27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함수 호출 규약에 따라 %rdi(argc)와 %rsi(argv) 레지스터를 설정하는 과정입니다.</a:t>
            </a:r>
            <a:endParaRPr b="0"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27"/>
          <p:cNvGrpSpPr/>
          <p:nvPr/>
        </p:nvGrpSpPr>
        <p:grpSpPr>
          <a:xfrm>
            <a:off x="381000" y="1524000"/>
            <a:ext cx="4000500" cy="3238500"/>
            <a:chOff x="381000" y="1524000"/>
            <a:chExt cx="4000500" cy="3238500"/>
          </a:xfrm>
        </p:grpSpPr>
        <p:sp>
          <p:nvSpPr>
            <p:cNvPr id="230" name="Google Shape;230;p27"/>
            <p:cNvSpPr/>
            <p:nvPr/>
          </p:nvSpPr>
          <p:spPr>
            <a:xfrm>
              <a:off x="381000" y="152400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7"/>
            <p:cNvSpPr txBox="1"/>
            <p:nvPr/>
          </p:nvSpPr>
          <p:spPr>
            <a:xfrm>
              <a:off x="571500" y="171450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메모리 스택 현황</a:t>
              </a:r>
              <a:endParaRPr b="1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2" name="Google Shape;232;p27"/>
            <p:cNvPicPr preferRelativeResize="0"/>
            <p:nvPr/>
          </p:nvPicPr>
          <p:blipFill rotWithShape="1">
            <a:blip r:embed="rId4">
              <a:alphaModFix/>
            </a:blip>
            <a:srcRect b="0" l="40" r="40" t="0"/>
            <a:stretch/>
          </p:blipFill>
          <p:spPr>
            <a:xfrm>
              <a:off x="523875" y="2095500"/>
              <a:ext cx="3714900" cy="233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27"/>
          <p:cNvGrpSpPr/>
          <p:nvPr/>
        </p:nvGrpSpPr>
        <p:grpSpPr>
          <a:xfrm>
            <a:off x="4572000" y="0"/>
            <a:ext cx="4191000" cy="4762500"/>
            <a:chOff x="4572000" y="0"/>
            <a:chExt cx="4191000" cy="4762500"/>
          </a:xfrm>
        </p:grpSpPr>
        <p:sp>
          <p:nvSpPr>
            <p:cNvPr id="234" name="Google Shape;234;p27"/>
            <p:cNvSpPr/>
            <p:nvPr/>
          </p:nvSpPr>
          <p:spPr>
            <a:xfrm>
              <a:off x="4572000" y="1524000"/>
              <a:ext cx="4191000" cy="3238500"/>
            </a:xfrm>
            <a:prstGeom prst="roundRect">
              <a:avLst>
                <a:gd fmla="val 3529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4572000" y="1524000"/>
              <a:ext cx="4191000" cy="285900"/>
            </a:xfrm>
            <a:prstGeom prst="roundRect">
              <a:avLst>
                <a:gd fmla="val 40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4714875" y="1619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4876800" y="1619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5038725" y="1619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7"/>
            <p:cNvSpPr txBox="1"/>
            <p:nvPr/>
          </p:nvSpPr>
          <p:spPr>
            <a:xfrm>
              <a:off x="5257800" y="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40" name="Google Shape;240;p27"/>
            <p:cNvPicPr preferRelativeResize="0"/>
            <p:nvPr/>
          </p:nvPicPr>
          <p:blipFill rotWithShape="1">
            <a:blip r:embed="rId5">
              <a:alphaModFix/>
            </a:blip>
            <a:srcRect b="0" l="348" r="348" t="0"/>
            <a:stretch/>
          </p:blipFill>
          <p:spPr>
            <a:xfrm>
              <a:off x="4714875" y="2476500"/>
              <a:ext cx="3905400" cy="1285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idx="4294967295"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SONNY-정범진</a:t>
            </a:r>
            <a:endParaRPr sz="3600"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latin typeface="NanumGothicExtraBold"/>
                <a:ea typeface="NanumGothicExtraBold"/>
                <a:cs typeface="NanumGothicExtraBold"/>
                <a:sym typeface="NanumGothicExtraBold"/>
              </a:rPr>
              <a:t>시스템 콜, FD_TABLE</a:t>
            </a:r>
            <a:endParaRPr sz="16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/>
        </p:nvSpPr>
        <p:spPr>
          <a:xfrm>
            <a:off x="604025" y="407600"/>
            <a:ext cx="282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2"/>
                </a:solidFill>
              </a:rPr>
              <a:t>시스템 콜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51" name="Google Shape;251;p29" title="sysca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675" y="838700"/>
            <a:ext cx="7317036" cy="41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/>
        </p:nvSpPr>
        <p:spPr>
          <a:xfrm>
            <a:off x="539050" y="482600"/>
            <a:ext cx="282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2"/>
                </a:solidFill>
              </a:rPr>
              <a:t>FD 테이블 구현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57" name="Google Shape;257;p30" title="Screenshot 2026-05-07 at 2.08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375" y="647175"/>
            <a:ext cx="2192706" cy="267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 title="Screenshot 2026-05-07 at 2.09.0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288" y="3941875"/>
            <a:ext cx="3066875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/>
        </p:nvSpPr>
        <p:spPr>
          <a:xfrm>
            <a:off x="722075" y="1004700"/>
            <a:ext cx="3918900" cy="3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FD 테이블을 배열로 구현.</a:t>
            </a:r>
            <a:endParaRPr sz="120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</a:b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배열로 구현했을 때 장점은 fd 번호를 인덱스로 사용해 파일 포인터에 빠르게 접근할 수 있다는 점.</a:t>
            </a:r>
            <a:endParaRPr sz="120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fd_type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 열거형은 close된 fd 번호를 재활용하기 위해 존재.</a:t>
            </a:r>
            <a:b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</a:b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아직 할당되지 않았거나 닫힌 경우 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FD_NONE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으로 표시해두고, 다음에 파일을 열 때 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fd_type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을 확인해 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FD_NONE</a:t>
            </a: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이면 해당 슬롯에 할당하고, 아니면 다음 슬롯으로 순회하는 방식.</a:t>
            </a:r>
            <a:endParaRPr sz="120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1A1C1F"/>
                </a:solidFill>
                <a:highlight>
                  <a:srgbClr val="FFFFFF"/>
                </a:highlight>
              </a:rPr>
              <a:t>동적 할당으로 fd_table을 추가하는 방법을 사용하면 커널 스택 영역을 더 많이 사용할 수 있음.</a:t>
            </a:r>
            <a:endParaRPr sz="1200">
              <a:solidFill>
                <a:srgbClr val="1A1C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>
                <a:latin typeface="NanumGothicExtraBold"/>
                <a:ea typeface="NanumGothicExtraBold"/>
                <a:cs typeface="NanumGothicExtraBold"/>
                <a:sym typeface="NanumGothicExtraBold"/>
              </a:rPr>
              <a:t>JANE - 김다애</a:t>
            </a:r>
            <a:endParaRPr sz="2200"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100">
                <a:latin typeface="NanumGothicExtraBold"/>
                <a:ea typeface="NanumGothicExtraBold"/>
                <a:cs typeface="NanumGothicExtraBold"/>
                <a:sym typeface="NanumGothicExtraBold"/>
              </a:rPr>
              <a:t>트러블 슈팅: create-bad-ptr 검증 로직 개선</a:t>
            </a:r>
            <a:endParaRPr sz="31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테스트 케이스 분석</a:t>
            </a:r>
            <a:endParaRPr>
              <a:solidFill>
                <a:srgbClr val="0F172A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270" name="Google Shape;270;p32"/>
          <p:cNvGrpSpPr/>
          <p:nvPr/>
        </p:nvGrpSpPr>
        <p:grpSpPr>
          <a:xfrm>
            <a:off x="381000" y="931895"/>
            <a:ext cx="8382000" cy="3915023"/>
            <a:chOff x="381000" y="1238250"/>
            <a:chExt cx="8382000" cy="3238500"/>
          </a:xfrm>
        </p:grpSpPr>
        <p:sp>
          <p:nvSpPr>
            <p:cNvPr id="271" name="Google Shape;271;p32"/>
            <p:cNvSpPr/>
            <p:nvPr/>
          </p:nvSpPr>
          <p:spPr>
            <a:xfrm>
              <a:off x="381000" y="1238250"/>
              <a:ext cx="8382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2"/>
            <p:cNvSpPr txBox="1"/>
            <p:nvPr/>
          </p:nvSpPr>
          <p:spPr>
            <a:xfrm>
              <a:off x="666750" y="153977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300">
                  <a:solidFill>
                    <a:srgbClr val="2563E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create-bad-ptr</a:t>
              </a:r>
              <a:endParaRPr sz="2300">
                <a:solidFill>
                  <a:srgbClr val="2563E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273" name="Google Shape;273;p32"/>
            <p:cNvSpPr txBox="1"/>
            <p:nvPr/>
          </p:nvSpPr>
          <p:spPr>
            <a:xfrm>
              <a:off x="666750" y="2148700"/>
              <a:ext cx="7810500" cy="18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75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create 함수에 </a:t>
              </a:r>
              <a:r>
                <a:rPr lang="ko" sz="1375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잘못된 포인터를 넘기면 프로세스를 </a:t>
              </a:r>
              <a:r>
                <a:rPr b="1" lang="ko" sz="1375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exit(-1)</a:t>
              </a:r>
              <a:r>
                <a:rPr lang="ko" sz="1375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로 종료해야 하는 테스트</a:t>
              </a:r>
              <a:endParaRPr sz="1375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marR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375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➡️ </a:t>
              </a:r>
              <a:r>
                <a:rPr lang="ko" sz="1375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테스트 케이스의 create 함수 인자 주소값: </a:t>
              </a:r>
              <a:r>
                <a:rPr b="1" lang="ko" sz="1375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0x20101234</a:t>
              </a:r>
              <a:endParaRPr b="1" sz="1375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95250" marR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75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테스트 케이스 이름을 통해 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해당 주소가 </a:t>
              </a:r>
              <a:r>
                <a:rPr b="1"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잘못된 주소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라고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판단</a:t>
              </a:r>
              <a:endParaRPr sz="1375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해당 포인터를 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역참조 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해도 되는지 판단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을 위해 </a:t>
              </a:r>
              <a:r>
                <a:rPr b="1"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현재 프로세스의 </a:t>
              </a:r>
              <a:r>
                <a:rPr b="1" lang="ko" sz="1375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페이지 테이블 매핑</a:t>
              </a:r>
              <a:r>
                <a:rPr b="1"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상태 파악</a:t>
              </a:r>
              <a:r>
                <a:rPr lang="ko" sz="1375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필요</a:t>
              </a:r>
              <a:endParaRPr sz="1375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pml4_get_page()</a:t>
            </a:r>
            <a:endParaRPr b="0" sz="2800">
              <a:solidFill>
                <a:srgbClr val="0F172A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279" name="Google Shape;279;p33"/>
          <p:cNvGrpSpPr/>
          <p:nvPr/>
        </p:nvGrpSpPr>
        <p:grpSpPr>
          <a:xfrm>
            <a:off x="232855" y="999937"/>
            <a:ext cx="8678291" cy="3752698"/>
            <a:chOff x="233802" y="1105083"/>
            <a:chExt cx="8678291" cy="3752698"/>
          </a:xfrm>
        </p:grpSpPr>
        <p:grpSp>
          <p:nvGrpSpPr>
            <p:cNvPr id="280" name="Google Shape;280;p33"/>
            <p:cNvGrpSpPr/>
            <p:nvPr/>
          </p:nvGrpSpPr>
          <p:grpSpPr>
            <a:xfrm>
              <a:off x="233802" y="1105083"/>
              <a:ext cx="4147718" cy="3752698"/>
              <a:chOff x="381000" y="1238250"/>
              <a:chExt cx="4000500" cy="3619500"/>
            </a:xfrm>
          </p:grpSpPr>
          <p:sp>
            <p:nvSpPr>
              <p:cNvPr id="281" name="Google Shape;281;p33"/>
              <p:cNvSpPr/>
              <p:nvPr/>
            </p:nvSpPr>
            <p:spPr>
              <a:xfrm>
                <a:off x="381000" y="1238250"/>
                <a:ext cx="4000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987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33"/>
              <p:cNvSpPr txBox="1"/>
              <p:nvPr/>
            </p:nvSpPr>
            <p:spPr>
              <a:xfrm>
                <a:off x="571500" y="1428750"/>
                <a:ext cx="36195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52">
                    <a:solidFill>
                      <a:srgbClr val="2563E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mmu.c/</a:t>
                </a:r>
                <a:r>
                  <a:rPr b="1" lang="ko" sz="1452">
                    <a:solidFill>
                      <a:srgbClr val="2563E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pml4_get_page()</a:t>
                </a:r>
                <a:endParaRPr sz="114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spcBef>
                    <a:spcPts val="1166"/>
                  </a:spcBef>
                  <a:spcAft>
                    <a:spcPts val="0"/>
                  </a:spcAft>
                  <a:buNone/>
                </a:pPr>
                <a:r>
                  <a:rPr lang="ko" sz="1140">
                    <a:solidFill>
                      <a:srgbClr val="64748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주소의 매핑 여부를 확인하는 </a:t>
                </a:r>
                <a:r>
                  <a:rPr lang="ko" sz="1140">
                    <a:solidFill>
                      <a:srgbClr val="64748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함수</a:t>
                </a:r>
                <a:endParaRPr sz="114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933"/>
                  </a:spcBef>
                  <a:spcAft>
                    <a:spcPts val="0"/>
                  </a:spcAft>
                  <a:buNone/>
                </a:pPr>
                <a:r>
                  <a:rPr b="1" lang="ko" sz="1244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유저 가상 주소 확인:</a:t>
                </a:r>
                <a:endParaRPr sz="1244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778"/>
                  </a:spcBef>
                  <a:spcAft>
                    <a:spcPts val="0"/>
                  </a:spcAft>
                  <a:buNone/>
                </a:pP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➡️ </a:t>
                </a: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전달받은 주소가 유효한 유저 공간 주소인지</a:t>
                </a:r>
                <a:endParaRPr sz="1244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778"/>
                  </a:spcBef>
                  <a:spcAft>
                    <a:spcPts val="0"/>
                  </a:spcAft>
                  <a:buNone/>
                </a:pPr>
                <a:r>
                  <a:rPr b="1" lang="ko" sz="1244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페이지 테이블 매핑:</a:t>
                </a:r>
                <a:endParaRPr sz="1244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778"/>
                  </a:spcBef>
                  <a:spcAft>
                    <a:spcPts val="0"/>
                  </a:spcAft>
                  <a:buNone/>
                </a:pP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➡️ </a:t>
                </a: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해당 주소가 페이지 테이블에 유효하게 매핑되어 있는지</a:t>
                </a:r>
                <a:endParaRPr sz="1244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778"/>
                  </a:spcBef>
                  <a:spcAft>
                    <a:spcPts val="0"/>
                  </a:spcAft>
                  <a:buNone/>
                </a:pPr>
                <a:r>
                  <a:rPr b="1" lang="ko" sz="1244">
                    <a:solidFill>
                      <a:srgbClr val="EF4444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매핑 되어있을 시 </a:t>
                </a:r>
                <a:r>
                  <a:rPr b="1" lang="ko" sz="1244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주소 변환 및 반환:</a:t>
                </a:r>
                <a:endParaRPr sz="1244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778"/>
                  </a:spcBef>
                  <a:spcAft>
                    <a:spcPts val="0"/>
                  </a:spcAft>
                  <a:buNone/>
                </a:pP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➡️ </a:t>
                </a: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매핑된 물리 주소를 커널 가상 주소로 변환&amp;반환</a:t>
                </a:r>
                <a:endParaRPr sz="1244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778"/>
                  </a:spcBef>
                  <a:spcAft>
                    <a:spcPts val="0"/>
                  </a:spcAft>
                  <a:buNone/>
                </a:pPr>
                <a:r>
                  <a:rPr b="1" lang="ko" sz="1244">
                    <a:solidFill>
                      <a:srgbClr val="EF4444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매핑 </a:t>
                </a:r>
                <a:r>
                  <a:rPr b="1" lang="ko" sz="1244">
                    <a:solidFill>
                      <a:srgbClr val="EF4444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되어있지 않을 </a:t>
                </a:r>
                <a:r>
                  <a:rPr b="1" lang="ko" sz="1244">
                    <a:solidFill>
                      <a:srgbClr val="EF4444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시:</a:t>
                </a:r>
                <a:endParaRPr sz="1244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311"/>
                  </a:spcBef>
                  <a:spcAft>
                    <a:spcPts val="0"/>
                  </a:spcAft>
                  <a:buNone/>
                </a:pP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➡️ </a:t>
                </a:r>
                <a:r>
                  <a:rPr lang="ko" sz="1244">
                    <a:solidFill>
                      <a:srgbClr val="475569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NULL 반환</a:t>
                </a:r>
                <a:endParaRPr sz="1244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pic>
          <p:nvPicPr>
            <p:cNvPr id="283" name="Google Shape;283;p33"/>
            <p:cNvPicPr preferRelativeResize="0"/>
            <p:nvPr/>
          </p:nvPicPr>
          <p:blipFill rotWithShape="1">
            <a:blip r:embed="rId4">
              <a:alphaModFix/>
            </a:blip>
            <a:srcRect b="621" l="485" r="584" t="740"/>
            <a:stretch/>
          </p:blipFill>
          <p:spPr>
            <a:xfrm>
              <a:off x="4516350" y="1356812"/>
              <a:ext cx="4395742" cy="338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기존 bad_ptr 검증 로직 </a:t>
            </a:r>
            <a:endParaRPr>
              <a:solidFill>
                <a:srgbClr val="0F172A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289" name="Google Shape;289;p34"/>
          <p:cNvGrpSpPr/>
          <p:nvPr/>
        </p:nvGrpSpPr>
        <p:grpSpPr>
          <a:xfrm>
            <a:off x="2017161" y="810825"/>
            <a:ext cx="5109676" cy="4332668"/>
            <a:chOff x="2017161" y="810825"/>
            <a:chExt cx="5109676" cy="4332668"/>
          </a:xfrm>
        </p:grpSpPr>
        <p:pic>
          <p:nvPicPr>
            <p:cNvPr id="290" name="Google Shape;290;p34"/>
            <p:cNvPicPr preferRelativeResize="0"/>
            <p:nvPr/>
          </p:nvPicPr>
          <p:blipFill rotWithShape="1">
            <a:blip r:embed="rId4">
              <a:alphaModFix/>
            </a:blip>
            <a:srcRect b="0" l="720" r="671" t="0"/>
            <a:stretch/>
          </p:blipFill>
          <p:spPr>
            <a:xfrm>
              <a:off x="2017161" y="810825"/>
              <a:ext cx="5109676" cy="43326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34"/>
            <p:cNvSpPr/>
            <p:nvPr/>
          </p:nvSpPr>
          <p:spPr>
            <a:xfrm>
              <a:off x="2445475" y="2571750"/>
              <a:ext cx="4608300" cy="734100"/>
            </a:xfrm>
            <a:prstGeom prst="rect">
              <a:avLst/>
            </a:prstGeom>
            <a:noFill/>
            <a:ln cap="flat" cmpd="sng" w="24075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7025" lIns="77025" spcFirstLastPara="1" rIns="77025" wrap="square" tIns="77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92" name="Google Shape;292;p34"/>
            <p:cNvSpPr txBox="1"/>
            <p:nvPr/>
          </p:nvSpPr>
          <p:spPr>
            <a:xfrm>
              <a:off x="3768876" y="2894550"/>
              <a:ext cx="11820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7025" lIns="77025" spcFirstLastPara="1" rIns="77025" wrap="square" tIns="7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16">
                  <a:solidFill>
                    <a:schemeClr val="lt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➡️ exit(-1)</a:t>
              </a:r>
              <a:endParaRPr sz="1516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Codex 코드 리뷰</a:t>
            </a:r>
            <a:endParaRPr>
              <a:solidFill>
                <a:srgbClr val="0F172A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298" name="Google Shape;298;p35"/>
          <p:cNvGrpSpPr/>
          <p:nvPr/>
        </p:nvGrpSpPr>
        <p:grpSpPr>
          <a:xfrm>
            <a:off x="152399" y="1317994"/>
            <a:ext cx="8839201" cy="2181774"/>
            <a:chOff x="152400" y="997525"/>
            <a:chExt cx="8839201" cy="2181774"/>
          </a:xfrm>
        </p:grpSpPr>
        <p:pic>
          <p:nvPicPr>
            <p:cNvPr id="299" name="Google Shape;299;p35"/>
            <p:cNvPicPr preferRelativeResize="0"/>
            <p:nvPr/>
          </p:nvPicPr>
          <p:blipFill rotWithShape="1">
            <a:blip r:embed="rId4">
              <a:alphaModFix/>
            </a:blip>
            <a:srcRect b="0" l="0" r="0" t="21421"/>
            <a:stretch/>
          </p:blipFill>
          <p:spPr>
            <a:xfrm>
              <a:off x="152400" y="997525"/>
              <a:ext cx="8839201" cy="2181774"/>
            </a:xfrm>
            <a:prstGeom prst="rect">
              <a:avLst/>
            </a:prstGeom>
            <a:noFill/>
            <a:ln cap="flat" cmpd="sng" w="28575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00" name="Google Shape;300;p35"/>
            <p:cNvSpPr/>
            <p:nvPr/>
          </p:nvSpPr>
          <p:spPr>
            <a:xfrm>
              <a:off x="1143900" y="1024575"/>
              <a:ext cx="3269700" cy="344400"/>
            </a:xfrm>
            <a:prstGeom prst="rect">
              <a:avLst/>
            </a:prstGeom>
            <a:solidFill>
              <a:srgbClr val="FF9A00">
                <a:alpha val="13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1208475" y="1967350"/>
              <a:ext cx="5988300" cy="344400"/>
            </a:xfrm>
            <a:prstGeom prst="rect">
              <a:avLst/>
            </a:prstGeom>
            <a:solidFill>
              <a:srgbClr val="FF9A00">
                <a:alpha val="13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2806500" y="2788525"/>
              <a:ext cx="5889900" cy="344400"/>
            </a:xfrm>
            <a:prstGeom prst="rect">
              <a:avLst/>
            </a:prstGeom>
            <a:solidFill>
              <a:srgbClr val="FF9A00">
                <a:alpha val="13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35"/>
          <p:cNvGrpSpPr/>
          <p:nvPr/>
        </p:nvGrpSpPr>
        <p:grpSpPr>
          <a:xfrm>
            <a:off x="381000" y="3649806"/>
            <a:ext cx="8382000" cy="1333500"/>
            <a:chOff x="381000" y="3476625"/>
            <a:chExt cx="8382000" cy="1333500"/>
          </a:xfrm>
        </p:grpSpPr>
        <p:grpSp>
          <p:nvGrpSpPr>
            <p:cNvPr id="304" name="Google Shape;304;p35"/>
            <p:cNvGrpSpPr/>
            <p:nvPr/>
          </p:nvGrpSpPr>
          <p:grpSpPr>
            <a:xfrm>
              <a:off x="381000" y="3476625"/>
              <a:ext cx="8382000" cy="1333500"/>
              <a:chOff x="381000" y="3476625"/>
              <a:chExt cx="8382000" cy="1333500"/>
            </a:xfrm>
          </p:grpSpPr>
          <p:sp>
            <p:nvSpPr>
              <p:cNvPr id="305" name="Google Shape;305;p35"/>
              <p:cNvSpPr/>
              <p:nvPr/>
            </p:nvSpPr>
            <p:spPr>
              <a:xfrm>
                <a:off x="381000" y="3476625"/>
                <a:ext cx="83820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6" name="Google Shape;306;p35"/>
              <p:cNvGrpSpPr/>
              <p:nvPr/>
            </p:nvGrpSpPr>
            <p:grpSpPr>
              <a:xfrm>
                <a:off x="619125" y="3619500"/>
                <a:ext cx="7905750" cy="1047900"/>
                <a:chOff x="619125" y="3619500"/>
                <a:chExt cx="7905750" cy="1047900"/>
              </a:xfrm>
            </p:grpSpPr>
            <p:sp>
              <p:nvSpPr>
                <p:cNvPr id="307" name="Google Shape;307;p35"/>
                <p:cNvSpPr/>
                <p:nvPr/>
              </p:nvSpPr>
              <p:spPr>
                <a:xfrm>
                  <a:off x="619125" y="3619500"/>
                  <a:ext cx="381000" cy="3810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3B82F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35"/>
                <p:cNvSpPr txBox="1"/>
                <p:nvPr/>
              </p:nvSpPr>
              <p:spPr>
                <a:xfrm>
                  <a:off x="1095375" y="3619500"/>
                  <a:ext cx="74295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ko" sz="1200">
                      <a:solidFill>
                        <a:srgbClr val="1E293B"/>
                      </a:solidFill>
                      <a:latin typeface="Nanum Gothic"/>
                      <a:ea typeface="Nanum Gothic"/>
                      <a:cs typeface="Nanum Gothic"/>
                      <a:sym typeface="Nanum Gothic"/>
                    </a:rPr>
                    <a:t>첫 주소만 매핑 여부를 검증했지만 create-bound 테스트가 통과되는 원인</a:t>
                  </a:r>
                  <a:endParaRPr b="1" sz="1200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ko" sz="1200">
                      <a:solidFill>
                        <a:srgbClr val="1E293B"/>
                      </a:solidFill>
                      <a:latin typeface="Nanum Gothic"/>
                      <a:ea typeface="Nanum Gothic"/>
                      <a:cs typeface="Nanum Gothic"/>
                      <a:sym typeface="Nanum Gothic"/>
                    </a:rPr>
                    <a:t>• create-bound 테스트 케이스는 문자열 하나가 가상 메모리의 두 페이지 경계를 가로지르도록 배치</a:t>
                  </a:r>
                  <a:endParaRPr sz="1200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ko" sz="1200">
                      <a:solidFill>
                        <a:srgbClr val="1E293B"/>
                      </a:solidFill>
                      <a:latin typeface="Nanum Gothic"/>
                      <a:ea typeface="Nanum Gothic"/>
                      <a:cs typeface="Nanum Gothic"/>
                      <a:sym typeface="Nanum Gothic"/>
                    </a:rPr>
                    <a:t>• 해당 문자열이 걸쳐 있는 </a:t>
                  </a:r>
                  <a:r>
                    <a:rPr b="1" lang="ko" sz="1200">
                      <a:solidFill>
                        <a:srgbClr val="2563EB"/>
                      </a:solidFill>
                      <a:latin typeface="Nanum Gothic"/>
                      <a:ea typeface="Nanum Gothic"/>
                      <a:cs typeface="Nanum Gothic"/>
                      <a:sym typeface="Nanum Gothic"/>
                    </a:rPr>
                    <a:t>두 페이지가 모두 유효한 물리 페이지</a:t>
                  </a:r>
                  <a:r>
                    <a:rPr lang="ko" sz="1200">
                      <a:solidFill>
                        <a:srgbClr val="1E293B"/>
                      </a:solidFill>
                      <a:latin typeface="Nanum Gothic"/>
                      <a:ea typeface="Nanum Gothic"/>
                      <a:cs typeface="Nanum Gothic"/>
                      <a:sym typeface="Nanum Gothic"/>
                    </a:rPr>
                    <a:t>에 매핑되어 있음</a:t>
                  </a:r>
                  <a:endParaRPr sz="1200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ko" sz="1200">
                      <a:solidFill>
                        <a:srgbClr val="1E293B"/>
                      </a:solidFill>
                      <a:latin typeface="Nanum Gothic"/>
                      <a:ea typeface="Nanum Gothic"/>
                      <a:cs typeface="Nanum Gothic"/>
                      <a:sym typeface="Nanum Gothic"/>
                    </a:rPr>
                    <a:t>• 따라서 문자열 전체가 유효하다고 판단되어 예외 없이 통과됨</a:t>
                  </a:r>
                  <a:endParaRPr sz="1200">
                    <a:solidFill>
                      <a:srgbClr val="1E293B"/>
                    </a:solidFill>
                    <a:latin typeface="Nanum Gothic"/>
                    <a:ea typeface="Nanum Gothic"/>
                    <a:cs typeface="Nanum Gothic"/>
                    <a:sym typeface="Nanum Gothic"/>
                  </a:endParaRPr>
                </a:p>
              </p:txBody>
            </p:sp>
          </p:grpSp>
        </p:grpSp>
        <p:sp>
          <p:nvSpPr>
            <p:cNvPr id="309" name="Google Shape;309;p35"/>
            <p:cNvSpPr txBox="1"/>
            <p:nvPr/>
          </p:nvSpPr>
          <p:spPr>
            <a:xfrm>
              <a:off x="610735" y="3594680"/>
              <a:ext cx="3687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3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✍️</a:t>
              </a:r>
              <a:endParaRPr sz="230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310" name="Google Shape;310;p35"/>
          <p:cNvSpPr txBox="1"/>
          <p:nvPr/>
        </p:nvSpPr>
        <p:spPr>
          <a:xfrm>
            <a:off x="2782350" y="740157"/>
            <a:ext cx="35793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2563E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➡️ 문자열 전체를 검증하라</a:t>
            </a:r>
            <a:endParaRPr sz="2100">
              <a:solidFill>
                <a:srgbClr val="2563E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문자열 전체 검증이 필요한 이유 </a:t>
            </a:r>
            <a:endParaRPr>
              <a:solidFill>
                <a:srgbClr val="0F172A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316" name="Google Shape;316;p36"/>
          <p:cNvGrpSpPr/>
          <p:nvPr/>
        </p:nvGrpSpPr>
        <p:grpSpPr>
          <a:xfrm>
            <a:off x="381000" y="952500"/>
            <a:ext cx="8382000" cy="1136100"/>
            <a:chOff x="381000" y="952500"/>
            <a:chExt cx="8382000" cy="1136100"/>
          </a:xfrm>
        </p:grpSpPr>
        <p:sp>
          <p:nvSpPr>
            <p:cNvPr id="317" name="Google Shape;317;p36"/>
            <p:cNvSpPr/>
            <p:nvPr/>
          </p:nvSpPr>
          <p:spPr>
            <a:xfrm>
              <a:off x="381000" y="952500"/>
              <a:ext cx="8382000" cy="11361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6"/>
            <p:cNvSpPr txBox="1"/>
            <p:nvPr/>
          </p:nvSpPr>
          <p:spPr>
            <a:xfrm>
              <a:off x="619125" y="1143000"/>
              <a:ext cx="7905900" cy="7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• 커널은 파일 이름을 읽을 때 </a:t>
              </a:r>
              <a:r>
                <a:rPr b="1" lang="ko" sz="1300">
                  <a:solidFill>
                    <a:srgbClr val="2563E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'\0'</a:t>
              </a:r>
              <a:r>
                <a:rPr lang="ko" sz="130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을 만날 때까지 문자열을 계속 순회</a:t>
              </a:r>
              <a:endParaRPr sz="130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• 시작 주소가 유효하더라도 </a:t>
              </a:r>
              <a:r>
                <a:rPr b="1" lang="ko" sz="130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이후의 byte가 매핑되지 않은 다음 페이지로 넘어가 있다면</a:t>
              </a:r>
              <a:r>
                <a:rPr lang="ko" sz="130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순회 중 </a:t>
              </a:r>
              <a:r>
                <a:rPr b="1" lang="ko" sz="1300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page fault </a:t>
              </a:r>
              <a:r>
                <a:rPr lang="ko" sz="130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발생</a:t>
              </a:r>
              <a:endParaRPr sz="130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⇒ 시작 주소만 검사하는 방식은 문자열 전체를 안전하게 읽을 수 있음을 보장하지 못함</a:t>
              </a:r>
              <a:endParaRPr b="1" sz="130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19" name="Google Shape;319;p36"/>
          <p:cNvGrpSpPr/>
          <p:nvPr/>
        </p:nvGrpSpPr>
        <p:grpSpPr>
          <a:xfrm>
            <a:off x="381000" y="2267821"/>
            <a:ext cx="4048200" cy="2589729"/>
            <a:chOff x="381000" y="2857500"/>
            <a:chExt cx="4048200" cy="2000100"/>
          </a:xfrm>
        </p:grpSpPr>
        <p:sp>
          <p:nvSpPr>
            <p:cNvPr id="320" name="Google Shape;320;p36"/>
            <p:cNvSpPr/>
            <p:nvPr/>
          </p:nvSpPr>
          <p:spPr>
            <a:xfrm>
              <a:off x="381000" y="2857500"/>
              <a:ext cx="4048200" cy="2000100"/>
            </a:xfrm>
            <a:prstGeom prst="roundRect">
              <a:avLst>
                <a:gd fmla="val 5714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6"/>
            <p:cNvSpPr txBox="1"/>
            <p:nvPr/>
          </p:nvSpPr>
          <p:spPr>
            <a:xfrm>
              <a:off x="571500" y="3048000"/>
              <a:ext cx="3667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시나리오</a:t>
              </a:r>
              <a:endParaRPr b="1" sz="1500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1. 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페이지 테이블에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매핑된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페이지 A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와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매핑X인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페이지 B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존재</a:t>
              </a:r>
              <a:endParaRPr b="1" sz="110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2. 문자열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시작 주소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는 A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의 끝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에 있고,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나머지는 B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에 위치</a:t>
              </a:r>
              <a:endParaRPr sz="110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3. 첫 문자는 읽을 수 있으나,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‘\0’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까지 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읽는</a:t>
              </a:r>
              <a:r>
                <a:rPr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과정에서 </a:t>
              </a:r>
              <a:r>
                <a:rPr b="1" lang="ko" sz="110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B로 진입</a:t>
              </a:r>
              <a:endParaRPr b="1" sz="110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4. </a:t>
              </a:r>
              <a:r>
                <a:rPr b="1" lang="ko" sz="11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매핑되지 않은 </a:t>
              </a:r>
              <a:r>
                <a:rPr b="1" lang="ko" sz="11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페이지 B로 넘어가는 순간 Page Fault 발생</a:t>
              </a:r>
              <a:endParaRPr sz="110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22" name="Google Shape;322;p36"/>
          <p:cNvGrpSpPr/>
          <p:nvPr/>
        </p:nvGrpSpPr>
        <p:grpSpPr>
          <a:xfrm>
            <a:off x="4714875" y="2267760"/>
            <a:ext cx="4048200" cy="2589729"/>
            <a:chOff x="4714875" y="2857500"/>
            <a:chExt cx="4048200" cy="2000100"/>
          </a:xfrm>
        </p:grpSpPr>
        <p:sp>
          <p:nvSpPr>
            <p:cNvPr id="323" name="Google Shape;323;p36"/>
            <p:cNvSpPr/>
            <p:nvPr/>
          </p:nvSpPr>
          <p:spPr>
            <a:xfrm>
              <a:off x="4714875" y="2857500"/>
              <a:ext cx="4048200" cy="2000100"/>
            </a:xfrm>
            <a:prstGeom prst="roundRect">
              <a:avLst>
                <a:gd fmla="val 5714" name="adj"/>
              </a:avLst>
            </a:prstGeom>
            <a:solidFill>
              <a:srgbClr val="FEE2E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6"/>
            <p:cNvSpPr txBox="1"/>
            <p:nvPr/>
          </p:nvSpPr>
          <p:spPr>
            <a:xfrm>
              <a:off x="4905375" y="3048000"/>
              <a:ext cx="3667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1500">
                  <a:solidFill>
                    <a:srgbClr val="B91C1C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검증 취약</a:t>
              </a:r>
              <a:endParaRPr b="0" sz="1400">
                <a:solidFill>
                  <a:srgbClr val="B91C1C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450A0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pml4_get_page()로 시작 주소만 검증하는 현재 방식</a:t>
              </a:r>
              <a:endParaRPr sz="1100">
                <a:solidFill>
                  <a:srgbClr val="450A0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450A0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➡️ </a:t>
              </a:r>
              <a:r>
                <a:rPr lang="ko" sz="1100">
                  <a:solidFill>
                    <a:srgbClr val="450A0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페이지 경계에 걸친 잘못된 포인터를 걸러내지 못함</a:t>
              </a:r>
              <a:endParaRPr sz="1100">
                <a:solidFill>
                  <a:srgbClr val="450A0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➡️</a:t>
              </a:r>
              <a:r>
                <a:rPr b="1" lang="ko" sz="11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문자열 전체에 대한 순차적 검증 로직 필요</a:t>
              </a:r>
              <a:endParaRPr b="1" sz="1100">
                <a:solidFill>
                  <a:srgbClr val="DC262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bad_ptr 검증 로직 개선 코드</a:t>
            </a:r>
            <a:endParaRPr>
              <a:solidFill>
                <a:srgbClr val="0F172A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330" name="Google Shape;330;p37"/>
          <p:cNvGrpSpPr/>
          <p:nvPr/>
        </p:nvGrpSpPr>
        <p:grpSpPr>
          <a:xfrm>
            <a:off x="803201" y="810823"/>
            <a:ext cx="7537599" cy="3244374"/>
            <a:chOff x="381000" y="899723"/>
            <a:chExt cx="7537599" cy="3244374"/>
          </a:xfrm>
        </p:grpSpPr>
        <p:pic>
          <p:nvPicPr>
            <p:cNvPr id="331" name="Google Shape;33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9300" y="899723"/>
              <a:ext cx="3909299" cy="2081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1000" y="905363"/>
              <a:ext cx="3628299" cy="3238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37"/>
            <p:cNvSpPr/>
            <p:nvPr/>
          </p:nvSpPr>
          <p:spPr>
            <a:xfrm>
              <a:off x="554871" y="2409495"/>
              <a:ext cx="3429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38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4467675" y="1696350"/>
              <a:ext cx="1238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38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37"/>
          <p:cNvGrpSpPr/>
          <p:nvPr/>
        </p:nvGrpSpPr>
        <p:grpSpPr>
          <a:xfrm>
            <a:off x="381000" y="4191000"/>
            <a:ext cx="8382000" cy="762000"/>
            <a:chOff x="381000" y="4191000"/>
            <a:chExt cx="8382000" cy="762000"/>
          </a:xfrm>
        </p:grpSpPr>
        <p:sp>
          <p:nvSpPr>
            <p:cNvPr id="336" name="Google Shape;336;p37"/>
            <p:cNvSpPr/>
            <p:nvPr/>
          </p:nvSpPr>
          <p:spPr>
            <a:xfrm>
              <a:off x="381000" y="419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7"/>
            <p:cNvSpPr txBox="1"/>
            <p:nvPr/>
          </p:nvSpPr>
          <p:spPr>
            <a:xfrm>
              <a:off x="571500" y="419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file++;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로 시작 주소에서 </a:t>
              </a:r>
              <a:r>
                <a:rPr b="1"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포인터를 1 byte씩 증가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시켜 </a:t>
              </a:r>
              <a:r>
                <a:rPr b="1" lang="ko" sz="13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‘</a:t>
              </a:r>
              <a:r>
                <a:rPr b="1" lang="ko" sz="13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\0’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이 나올 때까지 순회</a:t>
              </a:r>
              <a:endParaRPr sz="1300">
                <a:solidFill>
                  <a:srgbClr val="1E3A8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➡️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</a:t>
              </a:r>
              <a:r>
                <a:rPr b="1"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pml4_get_page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함수로 각 byte 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주소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의 매핑 여부를 순차 검증하여 </a:t>
              </a:r>
              <a:r>
                <a:rPr b="1"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유효하지 않</a:t>
              </a:r>
              <a:r>
                <a:rPr b="1"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은 주소라면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</a:t>
              </a:r>
              <a:r>
                <a:rPr b="1" lang="ko" sz="1300">
                  <a:solidFill>
                    <a:srgbClr val="DC262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exit(-1)</a:t>
              </a:r>
              <a:r>
                <a:rPr lang="ko" sz="1300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처리</a:t>
              </a:r>
              <a:endParaRPr sz="1300">
                <a:solidFill>
                  <a:srgbClr val="1E3A8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cxnSp>
        <p:nvCxnSpPr>
          <p:cNvPr id="338" name="Google Shape;338;p37"/>
          <p:cNvCxnSpPr>
            <a:stCxn id="334" idx="1"/>
          </p:cNvCxnSpPr>
          <p:nvPr/>
        </p:nvCxnSpPr>
        <p:spPr>
          <a:xfrm rot="10800000">
            <a:off x="2446975" y="1279850"/>
            <a:ext cx="2442900" cy="446700"/>
          </a:xfrm>
          <a:prstGeom prst="straightConnector1">
            <a:avLst/>
          </a:prstGeom>
          <a:noFill/>
          <a:ln cap="flat" cmpd="sng" w="28575">
            <a:solidFill>
              <a:srgbClr val="EF444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>
                <a:latin typeface="NanumGothicExtraBold"/>
                <a:ea typeface="NanumGothicExtraBold"/>
                <a:cs typeface="NanumGothicExtraBold"/>
                <a:sym typeface="NanumGothicExtraBold"/>
              </a:rPr>
              <a:t>감사합니다</a:t>
            </a:r>
            <a:endParaRPr sz="35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>
                <a:latin typeface="NanumGothicExtraBold"/>
                <a:ea typeface="NanumGothicExtraBold"/>
                <a:cs typeface="NanumGothicExtraBold"/>
                <a:sym typeface="NanumGothicExtraBold"/>
              </a:rPr>
              <a:t>Q&amp;A</a:t>
            </a:r>
            <a:endParaRPr sz="35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