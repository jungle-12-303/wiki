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x="24384000" cy="13716000"/>
  <p:notesSz cx="6858000" cy="9144000"/>
  <p:embeddedFontLst>
    <p:embeddedFont>
      <p:font typeface="Montserrat Bold"/>
      <p:bold r:id="rId40"/>
    </p:embeddedFont>
    <p:embeddedFont>
      <p:font typeface="Montserrat Regular"/>
      <p:regular r:id="rId41"/>
    </p:embeddedFont>
    <p:embeddedFont>
      <p:font typeface="Pretendard Medium"/>
      <p:bold r:id="rId42"/>
    </p:embeddedFont>
    <p:embeddedFont>
      <p:font typeface="Pretendard Black"/>
      <p:bold r:id="rId43"/>
    </p:embeddedFont>
    <p:embeddedFont>
      <p:font typeface="Pretendard Light"/>
      <p:regular r:id="rId44"/>
    </p:embeddedFont>
    <p:embeddedFont>
      <p:font typeface="Pretendard Bold"/>
      <p:bold r:id="rId45"/>
    </p:embeddedFont>
    <p:embeddedFont>
      <p:font typeface="Pretendard Regular"/>
      <p:regular r:id="rId46"/>
    </p:embeddedFont>
    <p:embeddedFont>
      <p:font typeface="Pretendard SemiBold"/>
      <p:bold r:id="rId4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fonts/font1.fntdata" Type="http://schemas.openxmlformats.org/officeDocument/2006/relationships/font"/><Relationship Id="rId41" Target="fonts/font2.fntdata" Type="http://schemas.openxmlformats.org/officeDocument/2006/relationships/font"/><Relationship Id="rId42" Target="fonts/font3.fntdata" Type="http://schemas.openxmlformats.org/officeDocument/2006/relationships/font"/><Relationship Id="rId43" Target="fonts/font4.fntdata" Type="http://schemas.openxmlformats.org/officeDocument/2006/relationships/font"/><Relationship Id="rId44" Target="fonts/font5.fntdata" Type="http://schemas.openxmlformats.org/officeDocument/2006/relationships/font"/><Relationship Id="rId45" Target="fonts/font6.fntdata" Type="http://schemas.openxmlformats.org/officeDocument/2006/relationships/font"/><Relationship Id="rId46" Target="fonts/font7.fntdata" Type="http://schemas.openxmlformats.org/officeDocument/2006/relationships/font"/><Relationship Id="rId47" Target="fonts/font8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Relationship Id="rId8" Target="../media/image11.pn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3.pn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23.png" Type="http://schemas.openxmlformats.org/officeDocument/2006/relationships/image"/><Relationship Id="rId7" Target="../media/image24.png" Type="http://schemas.openxmlformats.org/officeDocument/2006/relationships/image"/><Relationship Id="rId8" Target="../media/image2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3.png" Type="http://schemas.openxmlformats.org/officeDocument/2006/relationships/image"/><Relationship Id="rId4" Target="../media/image26.png" Type="http://schemas.openxmlformats.org/officeDocument/2006/relationships/image"/><Relationship Id="rId5" Target="../media/image2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png" Type="http://schemas.openxmlformats.org/officeDocument/2006/relationships/image"/><Relationship Id="rId11" Target="../media/image35.png" Type="http://schemas.openxmlformats.org/officeDocument/2006/relationships/image"/><Relationship Id="rId2" Target="../media/image1.png" Type="http://schemas.openxmlformats.org/officeDocument/2006/relationships/image"/><Relationship Id="rId3" Target="../media/image13.png" Type="http://schemas.openxmlformats.org/officeDocument/2006/relationships/image"/><Relationship Id="rId4" Target="../media/image28.png" Type="http://schemas.openxmlformats.org/officeDocument/2006/relationships/image"/><Relationship Id="rId5" Target="../media/image29.png" Type="http://schemas.openxmlformats.org/officeDocument/2006/relationships/image"/><Relationship Id="rId6" Target="../media/image30.png" Type="http://schemas.openxmlformats.org/officeDocument/2006/relationships/image"/><Relationship Id="rId7" Target="../media/image31.png" Type="http://schemas.openxmlformats.org/officeDocument/2006/relationships/image"/><Relationship Id="rId8" Target="../media/image32.png" Type="http://schemas.openxmlformats.org/officeDocument/2006/relationships/image"/><Relationship Id="rId9" Target="../media/image3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2.png" Type="http://schemas.openxmlformats.org/officeDocument/2006/relationships/image"/><Relationship Id="rId2" Target="../media/image1.png" Type="http://schemas.openxmlformats.org/officeDocument/2006/relationships/image"/><Relationship Id="rId3" Target="../media/image13.png" Type="http://schemas.openxmlformats.org/officeDocument/2006/relationships/image"/><Relationship Id="rId4" Target="../media/image36.png" Type="http://schemas.openxmlformats.org/officeDocument/2006/relationships/image"/><Relationship Id="rId5" Target="../media/image37.png" Type="http://schemas.openxmlformats.org/officeDocument/2006/relationships/image"/><Relationship Id="rId6" Target="../media/image38.png" Type="http://schemas.openxmlformats.org/officeDocument/2006/relationships/image"/><Relationship Id="rId7" Target="../media/image39.png" Type="http://schemas.openxmlformats.org/officeDocument/2006/relationships/image"/><Relationship Id="rId8" Target="../media/image40.png" Type="http://schemas.openxmlformats.org/officeDocument/2006/relationships/image"/><Relationship Id="rId9" Target="../media/image4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43.png" Type="http://schemas.openxmlformats.org/officeDocument/2006/relationships/image"/><Relationship Id="rId4" Target="../media/image3.png" Type="http://schemas.openxmlformats.org/officeDocument/2006/relationships/image"/><Relationship Id="rId5" Target="../media/image4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3.png" Type="http://schemas.openxmlformats.org/officeDocument/2006/relationships/image"/><Relationship Id="rId4" Target="../media/image3.png" Type="http://schemas.openxmlformats.org/officeDocument/2006/relationships/image"/><Relationship Id="rId5" Target="../media/image4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6.png" Type="http://schemas.openxmlformats.org/officeDocument/2006/relationships/image"/><Relationship Id="rId3" Target="../media/image47.png" Type="http://schemas.openxmlformats.org/officeDocument/2006/relationships/image"/><Relationship Id="rId4" Target="../media/image3.png" Type="http://schemas.openxmlformats.org/officeDocument/2006/relationships/image"/><Relationship Id="rId5" Target="../media/image48.png" Type="http://schemas.openxmlformats.org/officeDocument/2006/relationships/image"/><Relationship Id="rId6" Target="../media/image4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3.png" Type="http://schemas.openxmlformats.org/officeDocument/2006/relationships/image"/><Relationship Id="rId4" Target="../media/image3.png" Type="http://schemas.openxmlformats.org/officeDocument/2006/relationships/image"/><Relationship Id="rId5" Target="../media/image50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8.png" Type="http://schemas.openxmlformats.org/officeDocument/2006/relationships/image"/><Relationship Id="rId11" Target="../media/image59.png" Type="http://schemas.openxmlformats.org/officeDocument/2006/relationships/image"/><Relationship Id="rId2" Target="../media/image51.png" Type="http://schemas.openxmlformats.org/officeDocument/2006/relationships/image"/><Relationship Id="rId3" Target="../media/image52.png" Type="http://schemas.openxmlformats.org/officeDocument/2006/relationships/image"/><Relationship Id="rId4" Target="../media/image53.png" Type="http://schemas.openxmlformats.org/officeDocument/2006/relationships/image"/><Relationship Id="rId5" Target="../media/image3.png" Type="http://schemas.openxmlformats.org/officeDocument/2006/relationships/image"/><Relationship Id="rId6" Target="../media/image54.png" Type="http://schemas.openxmlformats.org/officeDocument/2006/relationships/image"/><Relationship Id="rId7" Target="../media/image55.png" Type="http://schemas.openxmlformats.org/officeDocument/2006/relationships/image"/><Relationship Id="rId8" Target="../media/image56.png" Type="http://schemas.openxmlformats.org/officeDocument/2006/relationships/image"/><Relationship Id="rId9" Target="../media/image57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0.png" Type="http://schemas.openxmlformats.org/officeDocument/2006/relationships/image"/><Relationship Id="rId3" Target="../media/image61.png" Type="http://schemas.openxmlformats.org/officeDocument/2006/relationships/image"/><Relationship Id="rId4" Target="../media/image3.png" Type="http://schemas.openxmlformats.org/officeDocument/2006/relationships/image"/><Relationship Id="rId5" Target="../media/image62.png" Type="http://schemas.openxmlformats.org/officeDocument/2006/relationships/image"/><Relationship Id="rId6" Target="../media/image6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Relationship Id="rId4" Target="../media/image3.png" Type="http://schemas.openxmlformats.org/officeDocument/2006/relationships/image"/><Relationship Id="rId5" Target="../media/image64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3.png" Type="http://schemas.openxmlformats.org/officeDocument/2006/relationships/image"/><Relationship Id="rId4" Target="../media/image3.png" Type="http://schemas.openxmlformats.org/officeDocument/2006/relationships/image"/><Relationship Id="rId5" Target="../media/image65.png" Type="http://schemas.openxmlformats.org/officeDocument/2006/relationships/image"/><Relationship Id="rId6" Target="../media/image66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7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68.png" Type="http://schemas.openxmlformats.org/officeDocument/2006/relationships/image"/><Relationship Id="rId6" Target="../media/image69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7.png" Type="http://schemas.openxmlformats.org/officeDocument/2006/relationships/image"/><Relationship Id="rId4" Target="../media/image3.png" Type="http://schemas.openxmlformats.org/officeDocument/2006/relationships/image"/><Relationship Id="rId5" Target="../media/image70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3.png" Type="http://schemas.openxmlformats.org/officeDocument/2006/relationships/image"/><Relationship Id="rId4" Target="../media/image3.png" Type="http://schemas.openxmlformats.org/officeDocument/2006/relationships/image"/><Relationship Id="rId5" Target="../media/image71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3.png" Type="http://schemas.openxmlformats.org/officeDocument/2006/relationships/image"/><Relationship Id="rId5" Target="../media/image68.png" Type="http://schemas.openxmlformats.org/officeDocument/2006/relationships/image"/><Relationship Id="rId6" Target="../media/image72.png" Type="http://schemas.openxmlformats.org/officeDocument/2006/relationships/image"/><Relationship Id="rId7" Target="../media/image73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3.png" Type="http://schemas.openxmlformats.org/officeDocument/2006/relationships/image"/><Relationship Id="rId4" Target="../media/image3.png" Type="http://schemas.openxmlformats.org/officeDocument/2006/relationships/image"/><Relationship Id="rId5" Target="../media/image74.png" Type="http://schemas.openxmlformats.org/officeDocument/2006/relationships/image"/><Relationship Id="rId6" Target="../media/image75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3.png" Type="http://schemas.openxmlformats.org/officeDocument/2006/relationships/image"/><Relationship Id="rId4" Target="../media/image3.png" Type="http://schemas.openxmlformats.org/officeDocument/2006/relationships/image"/><Relationship Id="rId5" Target="../media/image76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3.png" Type="http://schemas.openxmlformats.org/officeDocument/2006/relationships/image"/><Relationship Id="rId4" Target="../media/image3.png" Type="http://schemas.openxmlformats.org/officeDocument/2006/relationships/image"/><Relationship Id="rId5" Target="../media/image77.png" Type="http://schemas.openxmlformats.org/officeDocument/2006/relationships/image"/><Relationship Id="rId6" Target="../media/image78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3.png" Type="http://schemas.openxmlformats.org/officeDocument/2006/relationships/image"/><Relationship Id="rId4" Target="../media/image3.png" Type="http://schemas.openxmlformats.org/officeDocument/2006/relationships/image"/><Relationship Id="rId5" Target="../media/image79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3.png" Type="http://schemas.openxmlformats.org/officeDocument/2006/relationships/image"/><Relationship Id="rId4" Target="../media/image3.png" Type="http://schemas.openxmlformats.org/officeDocument/2006/relationships/image"/><Relationship Id="rId5" Target="../media/image80.png" Type="http://schemas.openxmlformats.org/officeDocument/2006/relationships/image"/><Relationship Id="rId6" Target="../media/image81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2.png" Type="http://schemas.openxmlformats.org/officeDocument/2006/relationships/image"/><Relationship Id="rId3" Target="../media/image7.png" Type="http://schemas.openxmlformats.org/officeDocument/2006/relationships/image"/><Relationship Id="rId4" Target="../media/image3.png" Type="http://schemas.openxmlformats.org/officeDocument/2006/relationships/image"/><Relationship Id="rId5" Target="../media/image83.png" Type="http://schemas.openxmlformats.org/officeDocument/2006/relationships/image"/><Relationship Id="rId6" Target="../media/image84.png" Type="http://schemas.openxmlformats.org/officeDocument/2006/relationships/image"/><Relationship Id="rId7" Target="../media/image85.png" Type="http://schemas.openxmlformats.org/officeDocument/2006/relationships/image"/><Relationship Id="rId8" Target="../media/image86.png" Type="http://schemas.openxmlformats.org/officeDocument/2006/relationships/image"/><Relationship Id="rId9" Target="../media/image87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8.png" Type="http://schemas.openxmlformats.org/officeDocument/2006/relationships/image"/><Relationship Id="rId3" Target="../media/image89.png" Type="http://schemas.openxmlformats.org/officeDocument/2006/relationships/image"/><Relationship Id="rId4" Target="../media/image90.png" Type="http://schemas.openxmlformats.org/officeDocument/2006/relationships/image"/><Relationship Id="rId5" Target="../media/image91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9.png" Type="http://schemas.openxmlformats.org/officeDocument/2006/relationships/image"/><Relationship Id="rId3" Target="../media/image92.png" Type="http://schemas.openxmlformats.org/officeDocument/2006/relationships/image"/><Relationship Id="rId4" Target="../media/image93.png" Type="http://schemas.openxmlformats.org/officeDocument/2006/relationships/image"/><Relationship Id="rId5" Target="../media/image94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CFC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11200" y="495300"/>
            <a:ext cx="279400" cy="279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08000" y="495300"/>
            <a:ext cx="279400" cy="279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58800" y="13157200"/>
            <a:ext cx="23266400" cy="254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0401300" y="4127500"/>
            <a:ext cx="12484100" cy="4013200"/>
          </a:xfrm>
          <a:prstGeom prst="rect">
            <a:avLst/>
          </a:prstGeom>
        </p:spPr>
        <p:txBody>
          <a:bodyPr anchor="ctr" rtlCol="false" lIns="0" tIns="334856" rIns="0" bIns="334856"/>
          <a:lstStyle/>
          <a:p>
            <a:pPr algn="l" lvl="0">
              <a:lnSpc>
                <a:spcPct val="83000"/>
              </a:lnSpc>
            </a:pPr>
            <a:r>
              <a:rPr lang="en-US" sz="13183" b="false" i="false" u="none" strike="noStrike" spc="-600">
                <a:solidFill>
                  <a:srgbClr val="161616"/>
                </a:solidFill>
                <a:latin typeface="Montserrat Regular"/>
                <a:ea typeface="Montserrat Regular"/>
                <a:cs typeface="Montserrat Regular"/>
              </a:rPr>
              <a:t>Pintos project.2</a:t>
            </a:r>
          </a:p>
          <a:p>
            <a:pPr algn="l" lvl="0">
              <a:lnSpc>
                <a:spcPct val="83000"/>
              </a:lnSpc>
            </a:pPr>
            <a:r>
              <a:rPr lang="en-US" sz="13183" b="false" i="false" u="none" strike="noStrike" spc="-600">
                <a:solidFill>
                  <a:srgbClr val="04CC81"/>
                </a:solidFill>
                <a:latin typeface="Pretendard Black"/>
                <a:ea typeface="Pretendard Black"/>
                <a:cs typeface="Pretendard Black"/>
              </a:rPr>
              <a:t>User Programs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668000" y="8178800"/>
            <a:ext cx="9271000" cy="1473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3999" b="false" i="false" u="none" strike="noStrike" spc="-200" cap="all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303호 1팀</a:t>
            </a:r>
          </a:p>
          <a:p>
            <a:pPr algn="l" lvl="0">
              <a:lnSpc>
                <a:spcPct val="124499"/>
              </a:lnSpc>
            </a:pPr>
            <a:r>
              <a:rPr lang="en-US" sz="3999" b="false" i="false" u="none" strike="noStrike" spc="-200" cap="all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정찬빈    최우녕    최영빈    황정연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92200" y="469900"/>
            <a:ext cx="2349500" cy="330200"/>
          </a:xfrm>
          <a:prstGeom prst="rect">
            <a:avLst/>
          </a:prstGeom>
        </p:spPr>
        <p:txBody>
          <a:bodyPr anchor="ctr" rtlCol="false" lIns="0" tIns="35559" rIns="0" bIns="35559"/>
          <a:lstStyle/>
          <a:p>
            <a:pPr algn="l" lvl="0">
              <a:lnSpc>
                <a:spcPct val="91299"/>
              </a:lnSpc>
            </a:pPr>
            <a:r>
              <a:rPr lang="en-US" sz="1866" b="false" i="false" u="none" strike="noStrike" spc="100" cap="all">
                <a:solidFill>
                  <a:srgbClr val="161616"/>
                </a:solidFill>
                <a:latin typeface="Montserrat Bold"/>
                <a:ea typeface="Montserrat Bold"/>
                <a:cs typeface="Montserrat Bold"/>
              </a:rPr>
              <a:t>WEEK10 TEAM01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476500" y="3962400"/>
            <a:ext cx="6134100" cy="58547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CFC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495800" y="3822700"/>
            <a:ext cx="2197100" cy="2197100"/>
          </a:xfrm>
          <a:prstGeom prst="rect">
            <a:avLst/>
          </a:prstGeom>
          <a:effectLst>
            <a:outerShdw dir="2700000" dist="303345" blurRad="175266">
              <a:srgbClr val="04CC81">
                <a:alpha val="12000"/>
              </a:srgbClr>
            </a:outerShdw>
          </a:effectLst>
        </p:spPr>
      </p:pic>
      <p:sp>
        <p:nvSpPr>
          <p:cNvPr name="TextBox 3" id="3"/>
          <p:cNvSpPr txBox="true"/>
          <p:nvPr/>
        </p:nvSpPr>
        <p:spPr>
          <a:xfrm rot="0">
            <a:off x="3962400" y="6184900"/>
            <a:ext cx="3467100" cy="1790700"/>
          </a:xfrm>
          <a:prstGeom prst="rect">
            <a:avLst/>
          </a:prstGeom>
        </p:spPr>
        <p:txBody>
          <a:bodyPr anchor="ctr" rtlCol="false" lIns="0" tIns="256646" rIns="0" bIns="256646"/>
          <a:lstStyle/>
          <a:p>
            <a:pPr algn="ctr" lvl="0">
              <a:lnSpc>
                <a:spcPct val="83000"/>
              </a:lnSpc>
            </a:pPr>
            <a:r>
              <a:rPr lang="en-US" sz="10104" b="false" i="false" u="none" strike="noStrike" spc="-400" cap="all">
                <a:solidFill>
                  <a:srgbClr val="161616"/>
                </a:solidFill>
                <a:latin typeface="Pretendard Bold"/>
                <a:ea typeface="Pretendard Bold"/>
                <a:cs typeface="Pretendard Bold"/>
              </a:rPr>
              <a:t>목차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11200" y="495300"/>
            <a:ext cx="279400" cy="279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08000" y="495300"/>
            <a:ext cx="279400" cy="279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385800" y="4559300"/>
            <a:ext cx="1193800" cy="1193800"/>
          </a:xfrm>
          <a:prstGeom prst="rect">
            <a:avLst/>
          </a:prstGeom>
          <a:effectLst>
            <a:outerShdw dir="2700000" dist="183662" blurRad="131318">
              <a:srgbClr val="3B4C82">
                <a:alpha val="23000"/>
              </a:srgbClr>
            </a:outerShdw>
          </a:effectLst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3385800" y="6273800"/>
            <a:ext cx="1193800" cy="1193800"/>
          </a:xfrm>
          <a:prstGeom prst="rect">
            <a:avLst/>
          </a:prstGeom>
          <a:effectLst>
            <a:outerShdw dir="2700000" dist="183662" blurRad="131318">
              <a:srgbClr val="3B4C82">
                <a:alpha val="23000"/>
              </a:srgbClr>
            </a:outerShdw>
          </a:effectLst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3385800" y="7975600"/>
            <a:ext cx="1193800" cy="1193800"/>
          </a:xfrm>
          <a:prstGeom prst="rect">
            <a:avLst/>
          </a:prstGeom>
          <a:effectLst>
            <a:outerShdw dir="2700000" dist="183662" blurRad="131318">
              <a:srgbClr val="3B4C82">
                <a:alpha val="23000"/>
              </a:srgbClr>
            </a:outerShdw>
          </a:effectLst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3411200" y="9677400"/>
            <a:ext cx="1193800" cy="1193800"/>
          </a:xfrm>
          <a:prstGeom prst="rect">
            <a:avLst/>
          </a:prstGeom>
          <a:effectLst>
            <a:outerShdw dir="2700000" dist="183662" blurRad="131318">
              <a:srgbClr val="3B4C82">
                <a:alpha val="23000"/>
              </a:srgbClr>
            </a:outerShdw>
          </a:effectLst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385800" y="2844800"/>
            <a:ext cx="1193800" cy="1193800"/>
          </a:xfrm>
          <a:prstGeom prst="rect">
            <a:avLst/>
          </a:prstGeom>
          <a:effectLst>
            <a:outerShdw dir="2700000" dist="183662" blurRad="131318">
              <a:srgbClr val="3B4C82">
                <a:alpha val="23000"/>
              </a:srgbClr>
            </a:outerShdw>
          </a:effectLst>
        </p:spPr>
      </p:pic>
      <p:sp>
        <p:nvSpPr>
          <p:cNvPr name="TextBox 11" id="11"/>
          <p:cNvSpPr txBox="true"/>
          <p:nvPr/>
        </p:nvSpPr>
        <p:spPr>
          <a:xfrm rot="0">
            <a:off x="13309600" y="3175000"/>
            <a:ext cx="1346200" cy="495300"/>
          </a:xfrm>
          <a:prstGeom prst="rect">
            <a:avLst/>
          </a:prstGeom>
        </p:spPr>
        <p:txBody>
          <a:bodyPr anchor="ctr" rtlCol="false" lIns="0" tIns="53731" rIns="0" bIns="53731"/>
          <a:lstStyle/>
          <a:p>
            <a:pPr algn="ctr" lvl="0">
              <a:lnSpc>
                <a:spcPct val="91299"/>
              </a:lnSpc>
            </a:pPr>
            <a:r>
              <a:rPr lang="en-US" sz="2820" b="false" i="false" u="none" strike="noStrike" spc="-100" cap="all">
                <a:solidFill>
                  <a:srgbClr val="EAEAEA"/>
                </a:solidFill>
                <a:latin typeface="Montserrat Regular"/>
                <a:ea typeface="Montserrat Regular"/>
                <a:cs typeface="Montserrat Regular"/>
              </a:rPr>
              <a:t>01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309600" y="4889500"/>
            <a:ext cx="1346200" cy="495300"/>
          </a:xfrm>
          <a:prstGeom prst="rect">
            <a:avLst/>
          </a:prstGeom>
        </p:spPr>
        <p:txBody>
          <a:bodyPr anchor="ctr" rtlCol="false" lIns="0" tIns="53731" rIns="0" bIns="53731"/>
          <a:lstStyle/>
          <a:p>
            <a:pPr algn="ctr" lvl="0">
              <a:lnSpc>
                <a:spcPct val="91299"/>
              </a:lnSpc>
            </a:pPr>
            <a:r>
              <a:rPr lang="en-US" sz="2820" b="false" i="false" u="none" strike="noStrike" spc="-100" cap="all">
                <a:solidFill>
                  <a:srgbClr val="04CC81"/>
                </a:solidFill>
                <a:latin typeface="Montserrat Regular"/>
                <a:ea typeface="Montserrat Regular"/>
                <a:cs typeface="Montserrat Regular"/>
              </a:rPr>
              <a:t>02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309600" y="6604000"/>
            <a:ext cx="1346200" cy="495300"/>
          </a:xfrm>
          <a:prstGeom prst="rect">
            <a:avLst/>
          </a:prstGeom>
        </p:spPr>
        <p:txBody>
          <a:bodyPr anchor="ctr" rtlCol="false" lIns="0" tIns="53731" rIns="0" bIns="53731"/>
          <a:lstStyle/>
          <a:p>
            <a:pPr algn="ctr" lvl="0">
              <a:lnSpc>
                <a:spcPct val="91299"/>
              </a:lnSpc>
            </a:pPr>
            <a:r>
              <a:rPr lang="en-US" sz="2820" b="false" i="false" u="none" strike="noStrike" spc="-100" cap="all">
                <a:solidFill>
                  <a:srgbClr val="EAEAEA"/>
                </a:solidFill>
                <a:latin typeface="Montserrat Regular"/>
                <a:ea typeface="Montserrat Regular"/>
                <a:cs typeface="Montserrat Regular"/>
              </a:rPr>
              <a:t>03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309600" y="8305800"/>
            <a:ext cx="1346200" cy="495300"/>
          </a:xfrm>
          <a:prstGeom prst="rect">
            <a:avLst/>
          </a:prstGeom>
        </p:spPr>
        <p:txBody>
          <a:bodyPr anchor="ctr" rtlCol="false" lIns="0" tIns="53731" rIns="0" bIns="53731"/>
          <a:lstStyle/>
          <a:p>
            <a:pPr algn="ctr" lvl="0">
              <a:lnSpc>
                <a:spcPct val="91299"/>
              </a:lnSpc>
            </a:pPr>
            <a:r>
              <a:rPr lang="en-US" sz="2820" b="false" i="false" u="none" strike="noStrike" spc="-100" cap="all">
                <a:solidFill>
                  <a:srgbClr val="04CC81"/>
                </a:solidFill>
                <a:latin typeface="Montserrat Regular"/>
                <a:ea typeface="Montserrat Regular"/>
                <a:cs typeface="Montserrat Regular"/>
              </a:rPr>
              <a:t>04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309600" y="10020300"/>
            <a:ext cx="1346200" cy="495300"/>
          </a:xfrm>
          <a:prstGeom prst="rect">
            <a:avLst/>
          </a:prstGeom>
        </p:spPr>
        <p:txBody>
          <a:bodyPr anchor="ctr" rtlCol="false" lIns="0" tIns="53731" rIns="0" bIns="53731"/>
          <a:lstStyle/>
          <a:p>
            <a:pPr algn="ctr" lvl="0">
              <a:lnSpc>
                <a:spcPct val="91299"/>
              </a:lnSpc>
            </a:pPr>
            <a:r>
              <a:rPr lang="en-US" sz="2820" b="false" i="false" u="none" strike="noStrike" spc="-100" cap="all">
                <a:solidFill>
                  <a:srgbClr val="EAEAEA"/>
                </a:solidFill>
                <a:latin typeface="Montserrat Regular"/>
                <a:ea typeface="Montserrat Regular"/>
                <a:cs typeface="Montserrat Regular"/>
              </a:rPr>
              <a:t>05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024100" y="3670300"/>
            <a:ext cx="5537200" cy="381000"/>
          </a:xfrm>
          <a:prstGeom prst="rect">
            <a:avLst/>
          </a:prstGeom>
        </p:spPr>
        <p:txBody>
          <a:bodyPr anchor="ctr" rtlCol="false" lIns="0" tIns="29807" rIns="0" bIns="29807"/>
          <a:lstStyle/>
          <a:p>
            <a:pPr algn="l" lvl="0">
              <a:lnSpc>
                <a:spcPct val="97940"/>
              </a:lnSpc>
            </a:pPr>
            <a:r>
              <a:rPr lang="en-US" sz="2133" b="false" i="false" u="none" strike="noStrike" spc="-100" cap="all">
                <a:solidFill>
                  <a:srgbClr val="161616">
                    <a:alpha val="41176"/>
                  </a:srgbClr>
                </a:solidFill>
                <a:latin typeface="Pretendard Light"/>
                <a:ea typeface="Pretendard Light"/>
                <a:cs typeface="Pretendard Light"/>
              </a:rPr>
              <a:t>최우녕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973300" y="4584700"/>
            <a:ext cx="8991600" cy="876300"/>
          </a:xfrm>
          <a:prstGeom prst="rect">
            <a:avLst/>
          </a:prstGeom>
        </p:spPr>
        <p:txBody>
          <a:bodyPr anchor="ctr" rtlCol="false" lIns="0" tIns="125303" rIns="0" bIns="125303"/>
          <a:lstStyle/>
          <a:p>
            <a:pPr algn="l" lvl="0">
              <a:lnSpc>
                <a:spcPct val="83000"/>
              </a:lnSpc>
            </a:pPr>
            <a:r>
              <a:rPr lang="en-US" sz="4933" b="false" i="false" u="none" strike="noStrike" spc="-200">
                <a:solidFill>
                  <a:srgbClr val="161616"/>
                </a:solidFill>
                <a:latin typeface="Pretendard Bold"/>
                <a:ea typeface="Pretendard Bold"/>
                <a:cs typeface="Pretendard Bold"/>
              </a:rPr>
              <a:t>Argument Passing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024100" y="5372100"/>
            <a:ext cx="5537200" cy="381000"/>
          </a:xfrm>
          <a:prstGeom prst="rect">
            <a:avLst/>
          </a:prstGeom>
        </p:spPr>
        <p:txBody>
          <a:bodyPr anchor="ctr" rtlCol="false" lIns="0" tIns="29807" rIns="0" bIns="29807"/>
          <a:lstStyle/>
          <a:p>
            <a:pPr algn="l" lvl="0">
              <a:lnSpc>
                <a:spcPct val="97940"/>
              </a:lnSpc>
            </a:pPr>
            <a:r>
              <a:rPr lang="en-US" sz="2133" b="false" i="false" u="none" strike="noStrike" spc="-100" cap="all">
                <a:solidFill>
                  <a:srgbClr val="161616">
                    <a:alpha val="41176"/>
                  </a:srgbClr>
                </a:solidFill>
                <a:latin typeface="Pretendard Light"/>
                <a:ea typeface="Pretendard Light"/>
                <a:cs typeface="Pretendard Light"/>
              </a:rPr>
              <a:t>황정연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973300" y="6299200"/>
            <a:ext cx="5905500" cy="876300"/>
          </a:xfrm>
          <a:prstGeom prst="rect">
            <a:avLst/>
          </a:prstGeom>
        </p:spPr>
        <p:txBody>
          <a:bodyPr anchor="ctr" rtlCol="false" lIns="0" tIns="125303" rIns="0" bIns="125303"/>
          <a:lstStyle/>
          <a:p>
            <a:pPr algn="l" lvl="0">
              <a:lnSpc>
                <a:spcPct val="83000"/>
              </a:lnSpc>
            </a:pPr>
            <a:r>
              <a:rPr lang="en-US" sz="4933" b="false" i="false" u="none" strike="noStrike" spc="-200">
                <a:solidFill>
                  <a:srgbClr val="161616"/>
                </a:solidFill>
                <a:latin typeface="Pretendard Bold"/>
                <a:ea typeface="Pretendard Bold"/>
                <a:cs typeface="Pretendard Bold"/>
              </a:rPr>
              <a:t>Process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024100" y="7086600"/>
            <a:ext cx="5537200" cy="381000"/>
          </a:xfrm>
          <a:prstGeom prst="rect">
            <a:avLst/>
          </a:prstGeom>
        </p:spPr>
        <p:txBody>
          <a:bodyPr anchor="ctr" rtlCol="false" lIns="0" tIns="29807" rIns="0" bIns="29807"/>
          <a:lstStyle/>
          <a:p>
            <a:pPr algn="l" lvl="0">
              <a:lnSpc>
                <a:spcPct val="97940"/>
              </a:lnSpc>
            </a:pPr>
            <a:r>
              <a:rPr lang="en-US" sz="2133" b="false" i="false" u="none" strike="noStrike" spc="-100" cap="all">
                <a:solidFill>
                  <a:srgbClr val="161616">
                    <a:alpha val="41176"/>
                  </a:srgbClr>
                </a:solidFill>
                <a:latin typeface="Pretendard Light"/>
                <a:ea typeface="Pretendard Light"/>
                <a:cs typeface="Pretendard Light"/>
              </a:rPr>
              <a:t>최우녕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973300" y="8013700"/>
            <a:ext cx="5905500" cy="876300"/>
          </a:xfrm>
          <a:prstGeom prst="rect">
            <a:avLst/>
          </a:prstGeom>
        </p:spPr>
        <p:txBody>
          <a:bodyPr anchor="ctr" rtlCol="false" lIns="0" tIns="125303" rIns="0" bIns="125303"/>
          <a:lstStyle/>
          <a:p>
            <a:pPr algn="l" lvl="0">
              <a:lnSpc>
                <a:spcPct val="83000"/>
              </a:lnSpc>
            </a:pPr>
            <a:r>
              <a:rPr lang="en-US" sz="4933" b="false" i="false" u="none" strike="noStrike" spc="-200">
                <a:solidFill>
                  <a:srgbClr val="161616"/>
                </a:solidFill>
                <a:latin typeface="Pretendard Bold"/>
                <a:ea typeface="Pretendard Bold"/>
                <a:cs typeface="Pretendard Bold"/>
              </a:rPr>
              <a:t>Read 시스템콜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024100" y="8801100"/>
            <a:ext cx="5537200" cy="381000"/>
          </a:xfrm>
          <a:prstGeom prst="rect">
            <a:avLst/>
          </a:prstGeom>
        </p:spPr>
        <p:txBody>
          <a:bodyPr anchor="ctr" rtlCol="false" lIns="0" tIns="29807" rIns="0" bIns="29807"/>
          <a:lstStyle/>
          <a:p>
            <a:pPr algn="l" lvl="0">
              <a:lnSpc>
                <a:spcPct val="97940"/>
              </a:lnSpc>
            </a:pPr>
            <a:r>
              <a:rPr lang="en-US" sz="2133" b="false" i="false" u="none" strike="noStrike" spc="-100" cap="all">
                <a:solidFill>
                  <a:srgbClr val="161616">
                    <a:alpha val="41176"/>
                  </a:srgbClr>
                </a:solidFill>
                <a:latin typeface="Pretendard Light"/>
                <a:ea typeface="Pretendard Light"/>
                <a:cs typeface="Pretendard Light"/>
              </a:rPr>
              <a:t>정찬빈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973300" y="9715500"/>
            <a:ext cx="5905500" cy="876300"/>
          </a:xfrm>
          <a:prstGeom prst="rect">
            <a:avLst/>
          </a:prstGeom>
        </p:spPr>
        <p:txBody>
          <a:bodyPr anchor="ctr" rtlCol="false" lIns="0" tIns="125303" rIns="0" bIns="125303"/>
          <a:lstStyle/>
          <a:p>
            <a:pPr algn="l" lvl="0">
              <a:lnSpc>
                <a:spcPct val="83000"/>
              </a:lnSpc>
            </a:pPr>
            <a:r>
              <a:rPr lang="en-US" sz="4933" b="false" i="false" u="none" strike="noStrike" spc="-200">
                <a:solidFill>
                  <a:srgbClr val="161616"/>
                </a:solidFill>
                <a:latin typeface="Pretendard Bold"/>
                <a:ea typeface="Pretendard Bold"/>
                <a:cs typeface="Pretendard Bold"/>
              </a:rPr>
              <a:t>FD Table 자원 할당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5024100" y="10502900"/>
            <a:ext cx="5537200" cy="381000"/>
          </a:xfrm>
          <a:prstGeom prst="rect">
            <a:avLst/>
          </a:prstGeom>
        </p:spPr>
        <p:txBody>
          <a:bodyPr anchor="ctr" rtlCol="false" lIns="0" tIns="29807" rIns="0" bIns="29807"/>
          <a:lstStyle/>
          <a:p>
            <a:pPr algn="l" lvl="0">
              <a:lnSpc>
                <a:spcPct val="97940"/>
              </a:lnSpc>
            </a:pPr>
            <a:r>
              <a:rPr lang="en-US" sz="2133" b="false" i="false" u="none" strike="noStrike" spc="-100" cap="all">
                <a:solidFill>
                  <a:srgbClr val="161616">
                    <a:alpha val="41176"/>
                  </a:srgbClr>
                </a:solidFill>
                <a:latin typeface="Pretendard Light"/>
                <a:ea typeface="Pretendard Light"/>
                <a:cs typeface="Pretendard Light"/>
              </a:rPr>
              <a:t>최영빈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973300" y="2882900"/>
            <a:ext cx="8293100" cy="876300"/>
          </a:xfrm>
          <a:prstGeom prst="rect">
            <a:avLst/>
          </a:prstGeom>
        </p:spPr>
        <p:txBody>
          <a:bodyPr anchor="ctr" rtlCol="false" lIns="0" tIns="125303" rIns="0" bIns="125303"/>
          <a:lstStyle/>
          <a:p>
            <a:pPr algn="l" lvl="0">
              <a:lnSpc>
                <a:spcPct val="83000"/>
              </a:lnSpc>
            </a:pPr>
            <a:r>
              <a:rPr lang="en-US" sz="4933" b="false" i="false" u="none" strike="noStrike" spc="-200">
                <a:solidFill>
                  <a:srgbClr val="161616"/>
                </a:solidFill>
                <a:latin typeface="Pretendard Bold"/>
                <a:ea typeface="Pretendard Bold"/>
                <a:cs typeface="Pretendard Bold"/>
              </a:rPr>
              <a:t>진행 상황 및 협업 방식</a:t>
            </a:r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558800" y="13157200"/>
            <a:ext cx="23266400" cy="25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CFC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11200" y="495300"/>
            <a:ext cx="279400" cy="279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08000" y="495300"/>
            <a:ext cx="279400" cy="279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208000" y="2895600"/>
            <a:ext cx="10464800" cy="96774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4991100" y="965200"/>
            <a:ext cx="15176500" cy="1422400"/>
          </a:xfrm>
          <a:prstGeom prst="rect">
            <a:avLst/>
          </a:prstGeom>
        </p:spPr>
        <p:txBody>
          <a:bodyPr anchor="ctr" rtlCol="false" lIns="0" tIns="202460" rIns="0" bIns="202460"/>
          <a:lstStyle/>
          <a:p>
            <a:pPr algn="ctr" lvl="0">
              <a:lnSpc>
                <a:spcPct val="83000"/>
              </a:lnSpc>
            </a:pPr>
            <a:r>
              <a:rPr lang="en-US" sz="7970" b="false" i="false" u="none" strike="noStrike" spc="-300" cap="all">
                <a:solidFill>
                  <a:srgbClr val="161616"/>
                </a:solidFill>
                <a:latin typeface="Pretendard Bold"/>
                <a:ea typeface="Pretendard Bold"/>
                <a:cs typeface="Pretendard Bold"/>
              </a:rPr>
              <a:t>진행 방식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5399999">
            <a:off x="2540000" y="4254500"/>
            <a:ext cx="2387600" cy="2540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4203700" y="2895600"/>
            <a:ext cx="3606800" cy="596900"/>
          </a:xfrm>
          <a:prstGeom prst="rect">
            <a:avLst/>
          </a:prstGeom>
        </p:spPr>
        <p:txBody>
          <a:bodyPr anchor="ctr" rtlCol="false" lIns="0" tIns="84667" rIns="0" bIns="84667"/>
          <a:lstStyle/>
          <a:p>
            <a:pPr algn="l" lvl="0">
              <a:lnSpc>
                <a:spcPct val="83000"/>
              </a:lnSpc>
            </a:pPr>
            <a:r>
              <a:rPr lang="en-US" sz="3333" b="false" i="false" u="none" strike="noStrike" spc="-100">
                <a:solidFill>
                  <a:srgbClr val="161616"/>
                </a:solidFill>
                <a:latin typeface="Pretendard Regular"/>
                <a:ea typeface="Pretendard Regular"/>
                <a:cs typeface="Pretendard Regular"/>
              </a:rPr>
              <a:t>공통 목표 수립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5399999">
            <a:off x="2540000" y="6743700"/>
            <a:ext cx="2387600" cy="2540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4203700" y="5384800"/>
            <a:ext cx="5575300" cy="596900"/>
          </a:xfrm>
          <a:prstGeom prst="rect">
            <a:avLst/>
          </a:prstGeom>
        </p:spPr>
        <p:txBody>
          <a:bodyPr anchor="ctr" rtlCol="false" lIns="0" tIns="84667" rIns="0" bIns="84667"/>
          <a:lstStyle/>
          <a:p>
            <a:pPr algn="l" lvl="0">
              <a:lnSpc>
                <a:spcPct val="83000"/>
              </a:lnSpc>
            </a:pPr>
            <a:r>
              <a:rPr lang="en-US" sz="3333" b="false" i="false" u="none" strike="noStrike" spc="-100">
                <a:solidFill>
                  <a:srgbClr val="161616"/>
                </a:solidFill>
                <a:latin typeface="Pretendard Regular"/>
                <a:ea typeface="Pretendard Regular"/>
                <a:cs typeface="Pretendard Regular"/>
              </a:rPr>
              <a:t>Args 까지 공통 작업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5399999">
            <a:off x="2540000" y="9220200"/>
            <a:ext cx="2387600" cy="2540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4203700" y="7861300"/>
            <a:ext cx="6451600" cy="596900"/>
          </a:xfrm>
          <a:prstGeom prst="rect">
            <a:avLst/>
          </a:prstGeom>
        </p:spPr>
        <p:txBody>
          <a:bodyPr anchor="ctr" rtlCol="false" lIns="0" tIns="84667" rIns="0" bIns="84667"/>
          <a:lstStyle/>
          <a:p>
            <a:pPr algn="l" lvl="0">
              <a:lnSpc>
                <a:spcPct val="83000"/>
              </a:lnSpc>
            </a:pPr>
            <a:r>
              <a:rPr lang="en-US" sz="3333" b="false" i="false" u="none" strike="noStrike" spc="-100">
                <a:solidFill>
                  <a:srgbClr val="161616"/>
                </a:solidFill>
                <a:latin typeface="Pretendard Regular"/>
                <a:ea typeface="Pretendard Regular"/>
                <a:cs typeface="Pretendard Regular"/>
              </a:rPr>
              <a:t>syscall 기준(Process &amp; File) 역할 분리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203700" y="10248900"/>
            <a:ext cx="6464300" cy="596900"/>
          </a:xfrm>
          <a:prstGeom prst="rect">
            <a:avLst/>
          </a:prstGeom>
        </p:spPr>
        <p:txBody>
          <a:bodyPr anchor="ctr" rtlCol="false" lIns="0" tIns="84667" rIns="0" bIns="84667"/>
          <a:lstStyle/>
          <a:p>
            <a:pPr algn="l" lvl="0">
              <a:lnSpc>
                <a:spcPct val="83000"/>
              </a:lnSpc>
            </a:pPr>
            <a:r>
              <a:rPr lang="en-US" sz="3333" b="false" i="false" u="none" strike="noStrike" spc="-100">
                <a:solidFill>
                  <a:srgbClr val="161616"/>
                </a:solidFill>
                <a:latin typeface="Pretendard Regular"/>
                <a:ea typeface="Pretendard Regular"/>
                <a:cs typeface="Pretendard Regular"/>
              </a:rPr>
              <a:t>프로젝트 통합, 상호 구현 이해 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CFC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972300" y="1485900"/>
            <a:ext cx="10464800" cy="1422400"/>
          </a:xfrm>
          <a:prstGeom prst="rect">
            <a:avLst/>
          </a:prstGeom>
        </p:spPr>
        <p:txBody>
          <a:bodyPr anchor="ctr" rtlCol="false" lIns="0" tIns="202460" rIns="0" bIns="202460"/>
          <a:lstStyle/>
          <a:p>
            <a:pPr algn="ctr" lvl="0">
              <a:lnSpc>
                <a:spcPct val="83000"/>
              </a:lnSpc>
            </a:pPr>
            <a:r>
              <a:rPr lang="en-US" sz="7970" b="false" i="false" u="none" strike="noStrike" spc="-300" cap="all">
                <a:solidFill>
                  <a:srgbClr val="161616"/>
                </a:solidFill>
                <a:latin typeface="Pretendard Bold"/>
                <a:ea typeface="Pretendard Bold"/>
                <a:cs typeface="Pretendard Bold"/>
              </a:rPr>
              <a:t>진행 상황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11200" y="495300"/>
            <a:ext cx="279400" cy="279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08000" y="495300"/>
            <a:ext cx="279400" cy="279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065500" y="3670300"/>
            <a:ext cx="6146800" cy="88773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447800" y="3937000"/>
            <a:ext cx="12623800" cy="1854200"/>
          </a:xfrm>
          <a:prstGeom prst="rect">
            <a:avLst/>
          </a:prstGeom>
        </p:spPr>
        <p:txBody>
          <a:bodyPr anchor="ctr" rtlCol="false" lIns="0" tIns="158495" rIns="0" bIns="158495"/>
          <a:lstStyle/>
          <a:p>
            <a:pPr algn="l" lvl="0">
              <a:lnSpc>
                <a:spcPct val="96279"/>
              </a:lnSpc>
            </a:pPr>
            <a:r>
              <a:rPr lang="en-US" sz="10399" b="true" i="false" u="none" strike="noStrike" spc="-600" cap="all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82% 완료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73200" y="6096000"/>
            <a:ext cx="12357100" cy="2755900"/>
          </a:xfrm>
          <a:prstGeom prst="rect">
            <a:avLst/>
          </a:prstGeom>
        </p:spPr>
        <p:txBody>
          <a:bodyPr anchor="ctr" rtlCol="false" lIns="0" tIns="54863" rIns="0" bIns="54863"/>
          <a:lstStyle/>
          <a:p>
            <a:pPr algn="l" lvl="0">
              <a:lnSpc>
                <a:spcPct val="96279"/>
              </a:lnSpc>
            </a:pPr>
            <a:r>
              <a:rPr lang="en-US" sz="3599" b="fals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핵심 기능 테스트 54개를 통과하며
기본 프로세스 라이프사이클은 안정적으로 구현했다.
남은 영역은 ROX, Bad, Dup2, No VM처럼
예외 처리와 메모리 보호가 필요한 케이스였다.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70000" y="9804400"/>
            <a:ext cx="12357100" cy="2108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3599" b="fals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1.  fork / exec / wait 흐름 검증 완료</a:t>
            </a:r>
          </a:p>
          <a:p>
            <a:pPr algn="l" lvl="0">
              <a:lnSpc>
                <a:spcPct val="132800"/>
              </a:lnSpc>
            </a:pPr>
            <a:r>
              <a:rPr lang="en-US" sz="3599" b="fals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2. 파일 입출력 관련 기능 대부분 통과</a:t>
            </a:r>
          </a:p>
          <a:p>
            <a:pPr algn="l" lvl="0">
              <a:lnSpc>
                <a:spcPct val="132800"/>
              </a:lnSpc>
            </a:pPr>
            <a:r>
              <a:rPr lang="en-US" sz="3599" b="fals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3. 남은 과제는 보호 로직과 예외 상황 처리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4CC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235700" y="5880100"/>
            <a:ext cx="11557000" cy="1181100"/>
          </a:xfrm>
          <a:prstGeom prst="rect">
            <a:avLst/>
          </a:prstGeom>
        </p:spPr>
        <p:txBody>
          <a:bodyPr anchor="ctr" rtlCol="false" lIns="0" tIns="169333" rIns="0" bIns="169333"/>
          <a:lstStyle/>
          <a:p>
            <a:pPr algn="ctr" lvl="0">
              <a:lnSpc>
                <a:spcPct val="83000"/>
              </a:lnSpc>
            </a:pPr>
            <a:r>
              <a:rPr lang="en-US" sz="6666" b="false" i="false" u="none" strike="noStrike" spc="-2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Argument Passing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273800" y="7708900"/>
            <a:ext cx="11480800" cy="825500"/>
          </a:xfrm>
          <a:prstGeom prst="rect">
            <a:avLst/>
          </a:prstGeom>
        </p:spPr>
        <p:txBody>
          <a:bodyPr anchor="ctr" rtlCol="false" lIns="0" tIns="118533" rIns="0" bIns="118533"/>
          <a:lstStyle/>
          <a:p>
            <a:pPr algn="ctr" lvl="0">
              <a:lnSpc>
                <a:spcPct val="83000"/>
              </a:lnSpc>
            </a:pPr>
            <a:r>
              <a:rPr lang="en-US" sz="4666" b="false" i="false" u="none" strike="noStrike" spc="-200" cap="all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황정연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CFC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11200" y="495300"/>
            <a:ext cx="279400" cy="279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08000" y="495300"/>
            <a:ext cx="279400" cy="2794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3063200" y="266700"/>
            <a:ext cx="5549900" cy="444500"/>
          </a:xfrm>
          <a:prstGeom prst="rect">
            <a:avLst/>
          </a:prstGeom>
        </p:spPr>
        <p:txBody>
          <a:bodyPr anchor="ctr" rtlCol="false" lIns="0" tIns="35395" rIns="0" bIns="35395"/>
          <a:lstStyle/>
          <a:p>
            <a:pPr algn="l" lvl="0">
              <a:lnSpc>
                <a:spcPct val="97940"/>
              </a:lnSpc>
            </a:pPr>
            <a:r>
              <a:rPr lang="en-US" sz="2533" b="false" i="false" u="none" strike="noStrike" spc="-200" cap="all">
                <a:solidFill>
                  <a:srgbClr val="161616">
                    <a:alpha val="41176"/>
                  </a:srgbClr>
                </a:solidFill>
                <a:latin typeface="Pretendard Light"/>
                <a:ea typeface="Pretendard Light"/>
                <a:cs typeface="Pretendard Light"/>
              </a:rPr>
              <a:t>황정연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686300" y="1092200"/>
            <a:ext cx="15011400" cy="2209800"/>
          </a:xfrm>
          <a:prstGeom prst="rect">
            <a:avLst/>
          </a:prstGeom>
        </p:spPr>
        <p:txBody>
          <a:bodyPr anchor="ctr" rtlCol="false" lIns="0" tIns="142240" rIns="0" bIns="226166"/>
          <a:lstStyle/>
          <a:p>
            <a:pPr algn="ctr" lvl="0">
              <a:lnSpc>
                <a:spcPct val="83000"/>
              </a:lnSpc>
            </a:pPr>
            <a:r>
              <a:rPr lang="en-US" sz="5600" b="false" i="false" u="none" strike="noStrike" spc="-200" cap="all">
                <a:solidFill>
                  <a:srgbClr val="161616"/>
                </a:solidFill>
                <a:latin typeface="Pretendard SemiBold"/>
                <a:ea typeface="Pretendard SemiBold"/>
                <a:cs typeface="Pretendard SemiBold"/>
              </a:rPr>
              <a:t>프로그램이 실행되기 위한 시작점,</a:t>
            </a:r>
          </a:p>
          <a:p>
            <a:pPr algn="ctr" lvl="0">
              <a:lnSpc>
                <a:spcPct val="83000"/>
              </a:lnSpc>
            </a:pPr>
            <a:r>
              <a:rPr lang="en-US" sz="8904" b="false" i="false" u="none" strike="noStrike" spc="-300" cap="all">
                <a:solidFill>
                  <a:srgbClr val="04CC81"/>
                </a:solidFill>
                <a:latin typeface="Pretendard Bold"/>
                <a:ea typeface="Pretendard Bold"/>
                <a:cs typeface="Pretendard Bold"/>
              </a:rPr>
              <a:t>A</a:t>
            </a:r>
            <a:r>
              <a:rPr lang="en-US" sz="8904" b="false" i="false" u="none" strike="noStrike" spc="-300">
                <a:solidFill>
                  <a:srgbClr val="04CC81"/>
                </a:solidFill>
                <a:latin typeface="Pretendard Bold"/>
                <a:ea typeface="Pretendard Bold"/>
                <a:cs typeface="Pretendard Bold"/>
              </a:rPr>
              <a:t>rgument Passing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47800" y="4495800"/>
            <a:ext cx="12382500" cy="736600"/>
          </a:xfrm>
          <a:prstGeom prst="rect">
            <a:avLst/>
          </a:prstGeom>
        </p:spPr>
        <p:txBody>
          <a:bodyPr anchor="ctr" rtlCol="false" lIns="0" tIns="62991" rIns="0" bIns="62991"/>
          <a:lstStyle/>
          <a:p>
            <a:pPr algn="l" lvl="0">
              <a:lnSpc>
                <a:spcPct val="96279"/>
              </a:lnSpc>
            </a:pPr>
            <a:r>
              <a:rPr lang="en-US" sz="4133" b="false" i="false" u="none" strike="noStrike" spc="-300" cap="all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A</a:t>
            </a:r>
            <a:r>
              <a:rPr lang="en-US" sz="4133" b="false" i="false" u="none" strike="noStrike" spc="-3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rgs는 </a:t>
            </a:r>
            <a:r>
              <a:rPr lang="en-US" sz="4133" b="true" i="false" u="none" strike="noStrike" spc="-3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유저 모드</a:t>
            </a:r>
            <a:r>
              <a:rPr lang="en-US" sz="4133" b="false" i="false" u="none" strike="noStrike" spc="-3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에서 동작하기 위한 </a:t>
            </a:r>
            <a:r>
              <a:rPr lang="en-US" sz="4133" b="true" i="false" u="none" strike="noStrike" spc="-3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초기 설정값</a:t>
            </a:r>
            <a:r>
              <a:rPr lang="en-US" sz="4133" b="false" i="false" u="none" strike="noStrike" spc="-3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이다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47800" y="5511800"/>
            <a:ext cx="12357100" cy="635000"/>
          </a:xfrm>
          <a:prstGeom prst="rect">
            <a:avLst/>
          </a:prstGeom>
        </p:spPr>
        <p:txBody>
          <a:bodyPr anchor="ctr" rtlCol="false" lIns="0" tIns="54863" rIns="0" bIns="54863"/>
          <a:lstStyle/>
          <a:p>
            <a:pPr algn="l" lvl="0">
              <a:lnSpc>
                <a:spcPct val="96279"/>
              </a:lnSpc>
            </a:pPr>
            <a:r>
              <a:rPr lang="en-US" sz="3599" b="fals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유저 프로그램(main 함수 등) → 초기 설정값 읽기 → 시스템 콜 요청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668500" y="4572000"/>
            <a:ext cx="7823200" cy="81153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4224000" y="5308600"/>
            <a:ext cx="596900" cy="5969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14414500" y="5359400"/>
            <a:ext cx="2794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785" b="true" i="false" u="none" strike="noStrike">
                <a:solidFill>
                  <a:srgbClr val="FCFCFC"/>
                </a:solidFill>
                <a:latin typeface="Pretendard Bold"/>
                <a:ea typeface="Pretendard Bold"/>
                <a:cs typeface="Pretendard Bold"/>
              </a:rPr>
              <a:t>1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447800" y="9042400"/>
            <a:ext cx="596900" cy="5969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1638300" y="9093200"/>
            <a:ext cx="2794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785" b="true" i="false" u="none" strike="noStrike">
                <a:solidFill>
                  <a:srgbClr val="FCFCFC"/>
                </a:solidFill>
                <a:latin typeface="Pretendard Bold"/>
                <a:ea typeface="Pretendard Bold"/>
                <a:cs typeface="Pretendard Bold"/>
              </a:rPr>
              <a:t>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286000" y="9017000"/>
            <a:ext cx="12357100" cy="635000"/>
          </a:xfrm>
          <a:prstGeom prst="rect">
            <a:avLst/>
          </a:prstGeom>
        </p:spPr>
        <p:txBody>
          <a:bodyPr anchor="ctr" rtlCol="false" lIns="0" tIns="54863" rIns="0" bIns="54863"/>
          <a:lstStyle/>
          <a:p>
            <a:pPr algn="l" lvl="0">
              <a:lnSpc>
                <a:spcPct val="96279"/>
              </a:lnSpc>
            </a:pPr>
            <a:r>
              <a:rPr lang="en-US" sz="3599" b="fals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main함수가 user stack의 인자를 읽고 실행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4224000" y="7912100"/>
            <a:ext cx="596900" cy="5969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14414500" y="7962900"/>
            <a:ext cx="3175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785" b="true" i="false" u="none" strike="noStrike">
                <a:solidFill>
                  <a:srgbClr val="FCFCFC"/>
                </a:solidFill>
                <a:latin typeface="Pretendard Bold"/>
                <a:ea typeface="Pretendard Bold"/>
                <a:cs typeface="Pretendard Bold"/>
              </a:rPr>
              <a:t>2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447800" y="9880600"/>
            <a:ext cx="596900" cy="5969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1638300" y="9931400"/>
            <a:ext cx="3175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785" b="true" i="false" u="none" strike="noStrike">
                <a:solidFill>
                  <a:srgbClr val="FCFCFC"/>
                </a:solidFill>
                <a:latin typeface="Pretendard Bold"/>
                <a:ea typeface="Pretendard Bold"/>
                <a:cs typeface="Pretendard Bold"/>
              </a:rPr>
              <a:t>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286000" y="9855200"/>
            <a:ext cx="12357100" cy="635000"/>
          </a:xfrm>
          <a:prstGeom prst="rect">
            <a:avLst/>
          </a:prstGeom>
        </p:spPr>
        <p:txBody>
          <a:bodyPr anchor="ctr" rtlCol="false" lIns="0" tIns="54863" rIns="0" bIns="54863"/>
          <a:lstStyle/>
          <a:p>
            <a:pPr algn="l" lvl="0">
              <a:lnSpc>
                <a:spcPct val="96279"/>
              </a:lnSpc>
            </a:pPr>
            <a:r>
              <a:rPr lang="en-US" sz="3599" b="fals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실행된 main 함수에서 msg를 읽고 → 시스템 콜(write)을 요청</a:t>
            </a: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4224000" y="11506200"/>
            <a:ext cx="596900" cy="5969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14414500" y="11557000"/>
            <a:ext cx="3302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785" b="true" i="false" u="none" strike="noStrike">
                <a:solidFill>
                  <a:srgbClr val="FCFCFC"/>
                </a:solidFill>
                <a:latin typeface="Pretendard Bold"/>
                <a:ea typeface="Pretendard Bold"/>
                <a:cs typeface="Pretendard Bold"/>
              </a:rPr>
              <a:t>3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447800" y="10718800"/>
            <a:ext cx="596900" cy="596900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1638300" y="10769600"/>
            <a:ext cx="3302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785" b="true" i="false" u="none" strike="noStrike">
                <a:solidFill>
                  <a:srgbClr val="FCFCFC"/>
                </a:solidFill>
                <a:latin typeface="Pretendard Bold"/>
                <a:ea typeface="Pretendard Bold"/>
                <a:cs typeface="Pretendard Bold"/>
              </a:rPr>
              <a:t>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286000" y="10718800"/>
            <a:ext cx="12357100" cy="635000"/>
          </a:xfrm>
          <a:prstGeom prst="rect">
            <a:avLst/>
          </a:prstGeom>
        </p:spPr>
        <p:txBody>
          <a:bodyPr anchor="ctr" rtlCol="false" lIns="0" tIns="54863" rIns="0" bIns="54863"/>
          <a:lstStyle/>
          <a:p>
            <a:pPr algn="l" lvl="0">
              <a:lnSpc>
                <a:spcPct val="96279"/>
              </a:lnSpc>
            </a:pPr>
            <a:r>
              <a:rPr lang="en-US" sz="3599" b="fals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0을 반환하여 시스템 콜(exit)을 요청 → 프로세스 종료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CFC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11200" y="495300"/>
            <a:ext cx="279400" cy="279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08000" y="495300"/>
            <a:ext cx="279400" cy="2794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3063200" y="266700"/>
            <a:ext cx="5549900" cy="444500"/>
          </a:xfrm>
          <a:prstGeom prst="rect">
            <a:avLst/>
          </a:prstGeom>
        </p:spPr>
        <p:txBody>
          <a:bodyPr anchor="ctr" rtlCol="false" lIns="0" tIns="35395" rIns="0" bIns="35395"/>
          <a:lstStyle/>
          <a:p>
            <a:pPr algn="l" lvl="0">
              <a:lnSpc>
                <a:spcPct val="97940"/>
              </a:lnSpc>
            </a:pPr>
            <a:r>
              <a:rPr lang="en-US" sz="2533" b="false" i="false" u="none" strike="noStrike" spc="-200" cap="all">
                <a:solidFill>
                  <a:srgbClr val="161616">
                    <a:alpha val="41176"/>
                  </a:srgbClr>
                </a:solidFill>
                <a:latin typeface="Pretendard Light"/>
                <a:ea typeface="Pretendard Light"/>
                <a:cs typeface="Pretendard Light"/>
              </a:rPr>
              <a:t>황정연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454400" y="1219200"/>
            <a:ext cx="17475200" cy="1066800"/>
          </a:xfrm>
          <a:prstGeom prst="rect">
            <a:avLst/>
          </a:prstGeom>
        </p:spPr>
        <p:txBody>
          <a:bodyPr anchor="ctr" rtlCol="false" lIns="0" tIns="152400" rIns="0" bIns="152400"/>
          <a:lstStyle/>
          <a:p>
            <a:pPr algn="ctr" lvl="0">
              <a:lnSpc>
                <a:spcPct val="83000"/>
              </a:lnSpc>
            </a:pPr>
            <a:r>
              <a:rPr lang="en-US" sz="6000" b="false" i="false" u="none" strike="noStrike" spc="-200" cap="all">
                <a:solidFill>
                  <a:srgbClr val="04CC81"/>
                </a:solidFill>
                <a:latin typeface="Pretendard Bold"/>
                <a:ea typeface="Pretendard Bold"/>
                <a:cs typeface="Pretendard Bold"/>
              </a:rPr>
              <a:t>A</a:t>
            </a:r>
            <a:r>
              <a:rPr lang="en-US" sz="6000" b="false" i="false" u="none" strike="noStrike" spc="-200">
                <a:solidFill>
                  <a:srgbClr val="04CC81"/>
                </a:solidFill>
                <a:latin typeface="Pretendard Bold"/>
                <a:ea typeface="Pretendard Bold"/>
                <a:cs typeface="Pretendard Bold"/>
              </a:rPr>
              <a:t>rgument Passing</a:t>
            </a:r>
            <a:r>
              <a:rPr lang="en-US" sz="6000" b="false" i="false" u="none" strike="noStrike" spc="-2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은 커널에서 주입이 시작된다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128500" y="2882900"/>
            <a:ext cx="11074400" cy="102743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977900" y="3873500"/>
            <a:ext cx="12357100" cy="4292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3599" b="fals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1.  유저 영역의 스택이라도, 맨 처음 </a:t>
            </a:r>
            <a:r>
              <a:rPr lang="en-US" sz="3599" b="tru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시작 명령</a:t>
            </a:r>
            <a:r>
              <a:rPr lang="en-US" sz="3599" b="fals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이 있어야 한다</a:t>
            </a:r>
          </a:p>
          <a:p>
            <a:pPr algn="l" lvl="0">
              <a:lnSpc>
                <a:spcPct val="132800"/>
              </a:lnSpc>
            </a:pPr>
            <a:r>
              <a:rPr lang="en-US" sz="3599" b="fals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2. 유저 영역의 메모리를 짜고 할당할 </a:t>
            </a:r>
            <a:r>
              <a:rPr lang="en-US" sz="3599" b="tru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권한</a:t>
            </a:r>
            <a:r>
              <a:rPr lang="en-US" sz="3599" b="fals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은 커널에게 있음</a:t>
            </a:r>
          </a:p>
          <a:p>
            <a:pPr algn="l" lvl="0">
              <a:lnSpc>
                <a:spcPct val="132800"/>
              </a:lnSpc>
            </a:pPr>
            <a:r>
              <a:rPr lang="en-US" sz="3599" b="fals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3. 시작 명령은 유저 모드로 가기 전에 커널에서 </a:t>
            </a:r>
            <a:r>
              <a:rPr lang="en-US" sz="3599" b="tru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주입</a:t>
            </a:r>
          </a:p>
          <a:p>
            <a:pPr algn="l" lvl="0">
              <a:lnSpc>
                <a:spcPct val="132800"/>
              </a:lnSpc>
            </a:pPr>
            <a:r>
              <a:rPr lang="en-US" sz="3599" b="tru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/>
            </a:r>
          </a:p>
          <a:p>
            <a:pPr algn="l" lvl="0">
              <a:lnSpc>
                <a:spcPct val="132800"/>
              </a:lnSpc>
            </a:pPr>
            <a:r>
              <a:rPr lang="en-US" sz="3599" b="tru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/>
            </a:r>
          </a:p>
          <a:p>
            <a:pPr algn="l" lvl="0">
              <a:lnSpc>
                <a:spcPct val="132800"/>
              </a:lnSpc>
            </a:pPr>
            <a:r>
              <a:rPr lang="en-US" sz="3599" b="tru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첫 삽은 무조건 커널이 떠야 한다!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77900" y="8572500"/>
            <a:ext cx="4305300" cy="4445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CFC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11200" y="495300"/>
            <a:ext cx="279400" cy="279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08000" y="495300"/>
            <a:ext cx="279400" cy="2794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3454400" y="1219200"/>
            <a:ext cx="17475200" cy="1066800"/>
          </a:xfrm>
          <a:prstGeom prst="rect">
            <a:avLst/>
          </a:prstGeom>
        </p:spPr>
        <p:txBody>
          <a:bodyPr anchor="ctr" rtlCol="false" lIns="0" tIns="152400" rIns="0" bIns="152400"/>
          <a:lstStyle/>
          <a:p>
            <a:pPr algn="ctr" lvl="0">
              <a:lnSpc>
                <a:spcPct val="83000"/>
              </a:lnSpc>
            </a:pPr>
            <a:r>
              <a:rPr lang="en-US" sz="6000" b="false" i="false" u="none" strike="noStrike" spc="-2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프로세서에는 </a:t>
            </a:r>
            <a:r>
              <a:rPr lang="en-US" sz="6000" b="false" i="false" u="none" strike="noStrike" spc="-200">
                <a:solidFill>
                  <a:srgbClr val="04CC81"/>
                </a:solidFill>
                <a:latin typeface="Pretendard Bold"/>
                <a:ea typeface="Pretendard Bold"/>
                <a:cs typeface="Pretendard Bold"/>
              </a:rPr>
              <a:t>유저영역</a:t>
            </a:r>
            <a:r>
              <a:rPr lang="en-US" sz="6000" b="false" i="false" u="none" strike="noStrike" spc="-2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과</a:t>
            </a:r>
            <a:r>
              <a:rPr lang="en-US" sz="6000" b="false" i="false" u="none" strike="noStrike" spc="-200">
                <a:solidFill>
                  <a:srgbClr val="04CC81"/>
                </a:solidFill>
                <a:latin typeface="Pretendard Bold"/>
                <a:ea typeface="Pretendard Bold"/>
                <a:cs typeface="Pretendard Bold"/>
              </a:rPr>
              <a:t> 커널영역</a:t>
            </a:r>
            <a:r>
              <a:rPr lang="en-US" sz="6000" b="false" i="false" u="none" strike="noStrike" spc="-2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이 있다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414500" y="2844800"/>
            <a:ext cx="8153400" cy="10337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447800" y="3530600"/>
            <a:ext cx="596900" cy="5969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638300" y="3581400"/>
            <a:ext cx="2794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785" b="true" i="false" u="none" strike="noStrike">
                <a:solidFill>
                  <a:srgbClr val="FCFCFC"/>
                </a:solidFill>
                <a:latin typeface="Pretendard Bold"/>
                <a:ea typeface="Pretendard Bold"/>
                <a:cs typeface="Pretendard Bold"/>
              </a:rPr>
              <a:t>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86000" y="3505200"/>
            <a:ext cx="12357100" cy="635000"/>
          </a:xfrm>
          <a:prstGeom prst="rect">
            <a:avLst/>
          </a:prstGeom>
        </p:spPr>
        <p:txBody>
          <a:bodyPr anchor="ctr" rtlCol="false" lIns="0" tIns="54863" rIns="0" bIns="54863"/>
          <a:lstStyle/>
          <a:p>
            <a:pPr algn="l" lvl="0">
              <a:lnSpc>
                <a:spcPct val="96279"/>
              </a:lnSpc>
            </a:pPr>
            <a:r>
              <a:rPr lang="en-US" sz="3599" b="fals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유저 영역의 맨 위에서 user stack이 </a:t>
            </a:r>
            <a:r>
              <a:rPr lang="en-US" sz="3599" b="tru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아래</a:t>
            </a:r>
            <a:r>
              <a:rPr lang="en-US" sz="3599" b="fals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로 자람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447800" y="4368800"/>
            <a:ext cx="596900" cy="5969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1638300" y="4419600"/>
            <a:ext cx="3175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785" b="true" i="false" u="none" strike="noStrike">
                <a:solidFill>
                  <a:srgbClr val="FCFCFC"/>
                </a:solidFill>
                <a:latin typeface="Pretendard Bold"/>
                <a:ea typeface="Pretendard Bold"/>
                <a:cs typeface="Pretendard Bold"/>
              </a:rPr>
              <a:t>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286000" y="4343400"/>
            <a:ext cx="12357100" cy="635000"/>
          </a:xfrm>
          <a:prstGeom prst="rect">
            <a:avLst/>
          </a:prstGeom>
        </p:spPr>
        <p:txBody>
          <a:bodyPr anchor="ctr" rtlCol="false" lIns="0" tIns="54863" rIns="0" bIns="54863"/>
          <a:lstStyle/>
          <a:p>
            <a:pPr algn="l" lvl="0">
              <a:lnSpc>
                <a:spcPct val="96279"/>
              </a:lnSpc>
            </a:pPr>
            <a:r>
              <a:rPr lang="en-US" sz="3599" b="fals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런 타임 환경의 heap은 반대로 자람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447800" y="5207000"/>
            <a:ext cx="596900" cy="5969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1638300" y="5257800"/>
            <a:ext cx="3302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785" b="true" i="false" u="none" strike="noStrike">
                <a:solidFill>
                  <a:srgbClr val="FCFCFC"/>
                </a:solidFill>
                <a:latin typeface="Pretendard Bold"/>
                <a:ea typeface="Pretendard Bold"/>
                <a:cs typeface="Pretendard Bold"/>
              </a:rPr>
              <a:t>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286000" y="5207000"/>
            <a:ext cx="12357100" cy="635000"/>
          </a:xfrm>
          <a:prstGeom prst="rect">
            <a:avLst/>
          </a:prstGeom>
        </p:spPr>
        <p:txBody>
          <a:bodyPr anchor="ctr" rtlCol="false" lIns="0" tIns="54863" rIns="0" bIns="54863"/>
          <a:lstStyle/>
          <a:p>
            <a:pPr algn="l" lvl="0">
              <a:lnSpc>
                <a:spcPct val="96279"/>
              </a:lnSpc>
            </a:pPr>
            <a:r>
              <a:rPr lang="en-US" sz="3599" b="fals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중간에는 </a:t>
            </a:r>
            <a:r>
              <a:rPr lang="en-US" sz="3599" b="tru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공유 라이브러리 영역</a:t>
            </a:r>
            <a:r>
              <a:rPr lang="en-US" sz="3599" b="fals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이 존재하여 충돌을 방지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5697200" y="6591300"/>
            <a:ext cx="596900" cy="5969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15887700" y="6642100"/>
            <a:ext cx="2794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785" b="true" i="false" u="none" strike="noStrike">
                <a:solidFill>
                  <a:srgbClr val="FCFCFC"/>
                </a:solidFill>
                <a:latin typeface="Pretendard Bold"/>
                <a:ea typeface="Pretendard Bold"/>
                <a:cs typeface="Pretendard Bold"/>
              </a:rPr>
              <a:t>1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697200" y="10261600"/>
            <a:ext cx="596900" cy="5969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15887700" y="10312400"/>
            <a:ext cx="3175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785" b="true" i="false" u="none" strike="noStrike">
                <a:solidFill>
                  <a:srgbClr val="FCFCFC"/>
                </a:solidFill>
                <a:latin typeface="Pretendard Bold"/>
                <a:ea typeface="Pretendard Bold"/>
                <a:cs typeface="Pretendard Bold"/>
              </a:rPr>
              <a:t>2</a:t>
            </a: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5697200" y="8509000"/>
            <a:ext cx="596900" cy="5969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15887700" y="8559800"/>
            <a:ext cx="3302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785" b="true" i="false" u="none" strike="noStrike">
                <a:solidFill>
                  <a:srgbClr val="FCFCFC"/>
                </a:solidFill>
                <a:latin typeface="Pretendard Bold"/>
                <a:ea typeface="Pretendard Bold"/>
                <a:cs typeface="Pretendard Bold"/>
              </a:rPr>
              <a:t>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286000" y="6540500"/>
            <a:ext cx="12357100" cy="635000"/>
          </a:xfrm>
          <a:prstGeom prst="rect">
            <a:avLst/>
          </a:prstGeom>
        </p:spPr>
        <p:txBody>
          <a:bodyPr anchor="ctr" rtlCol="false" lIns="0" tIns="54863" rIns="0" bIns="54863"/>
          <a:lstStyle/>
          <a:p>
            <a:pPr algn="l" lvl="0">
              <a:lnSpc>
                <a:spcPct val="96279"/>
              </a:lnSpc>
            </a:pPr>
            <a:r>
              <a:rPr lang="en-US" sz="3599" b="fals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Argument 을 주입하려면 아래로 내려가며 입력!</a:t>
            </a:r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1112500" y="6743700"/>
            <a:ext cx="4699000" cy="254000"/>
          </a:xfrm>
          <a:prstGeom prst="rect">
            <a:avLst/>
          </a:prstGeom>
        </p:spPr>
      </p:pic>
      <p:sp>
        <p:nvSpPr>
          <p:cNvPr name="TextBox 23" id="23"/>
          <p:cNvSpPr txBox="true"/>
          <p:nvPr/>
        </p:nvSpPr>
        <p:spPr>
          <a:xfrm rot="0">
            <a:off x="23063200" y="266700"/>
            <a:ext cx="5549900" cy="444500"/>
          </a:xfrm>
          <a:prstGeom prst="rect">
            <a:avLst/>
          </a:prstGeom>
        </p:spPr>
        <p:txBody>
          <a:bodyPr anchor="ctr" rtlCol="false" lIns="0" tIns="35395" rIns="0" bIns="35395"/>
          <a:lstStyle/>
          <a:p>
            <a:pPr algn="l" lvl="0">
              <a:lnSpc>
                <a:spcPct val="97940"/>
              </a:lnSpc>
            </a:pPr>
            <a:r>
              <a:rPr lang="en-US" sz="2533" b="false" i="false" u="none" strike="noStrike" spc="-200" cap="all">
                <a:solidFill>
                  <a:srgbClr val="161616">
                    <a:alpha val="41176"/>
                  </a:srgbClr>
                </a:solidFill>
                <a:latin typeface="Pretendard Light"/>
                <a:ea typeface="Pretendard Light"/>
                <a:cs typeface="Pretendard Light"/>
              </a:rPr>
              <a:t>황정연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CFC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11200" y="495300"/>
            <a:ext cx="279400" cy="279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08000" y="495300"/>
            <a:ext cx="279400" cy="2794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86300" y="1092200"/>
            <a:ext cx="15011400" cy="2209800"/>
          </a:xfrm>
          <a:prstGeom prst="rect">
            <a:avLst/>
          </a:prstGeom>
        </p:spPr>
        <p:txBody>
          <a:bodyPr anchor="ctr" rtlCol="false" lIns="0" tIns="142240" rIns="0" bIns="226166"/>
          <a:lstStyle/>
          <a:p>
            <a:pPr algn="ctr" lvl="0">
              <a:lnSpc>
                <a:spcPct val="83000"/>
              </a:lnSpc>
            </a:pPr>
            <a:r>
              <a:rPr lang="en-US" sz="5600" b="false" i="false" u="none" strike="noStrike" spc="-200">
                <a:solidFill>
                  <a:srgbClr val="161616"/>
                </a:solidFill>
                <a:latin typeface="Pretendard SemiBold"/>
                <a:ea typeface="Pretendard SemiBold"/>
                <a:cs typeface="Pretendard SemiBold"/>
              </a:rPr>
              <a:t>Argument Passing 구현에 있어서,</a:t>
            </a:r>
          </a:p>
          <a:p>
            <a:pPr algn="ctr" lvl="0">
              <a:lnSpc>
                <a:spcPct val="83000"/>
              </a:lnSpc>
            </a:pPr>
            <a:r>
              <a:rPr lang="en-US" sz="8904" b="false" i="false" u="none" strike="noStrike" spc="-300">
                <a:solidFill>
                  <a:srgbClr val="04CC81"/>
                </a:solidFill>
                <a:latin typeface="Pretendard Bold"/>
                <a:ea typeface="Pretendard Bold"/>
                <a:cs typeface="Pretendard Bold"/>
              </a:rPr>
              <a:t>Trouble Shooting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247900" y="3873500"/>
            <a:ext cx="12382500" cy="736600"/>
          </a:xfrm>
          <a:prstGeom prst="rect">
            <a:avLst/>
          </a:prstGeom>
        </p:spPr>
        <p:txBody>
          <a:bodyPr anchor="ctr" rtlCol="false" lIns="0" tIns="62991" rIns="0" bIns="62991"/>
          <a:lstStyle/>
          <a:p>
            <a:pPr algn="l" lvl="0">
              <a:lnSpc>
                <a:spcPct val="96279"/>
              </a:lnSpc>
            </a:pPr>
            <a:r>
              <a:rPr lang="en-US" sz="4133" b="false" i="false" u="none" strike="noStrike" spc="-300" cap="all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예상 출력값과 실제 메모리상 </a:t>
            </a:r>
            <a:r>
              <a:rPr lang="en-US" sz="4133" b="true" i="false" u="none" strike="noStrike" spc="-300" cap="all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적재 위치</a:t>
            </a:r>
            <a:r>
              <a:rPr lang="en-US" sz="4133" b="false" i="false" u="none" strike="noStrike" spc="-300" cap="all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를 확인을 통해 수행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247900" y="10058400"/>
            <a:ext cx="7493000" cy="24511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2247900" y="9423400"/>
            <a:ext cx="12357100" cy="635000"/>
          </a:xfrm>
          <a:prstGeom prst="rect">
            <a:avLst/>
          </a:prstGeom>
        </p:spPr>
        <p:txBody>
          <a:bodyPr anchor="ctr" rtlCol="false" lIns="0" tIns="54863" rIns="0" bIns="54863"/>
          <a:lstStyle/>
          <a:p>
            <a:pPr algn="l" lvl="0">
              <a:lnSpc>
                <a:spcPct val="96279"/>
              </a:lnSpc>
            </a:pPr>
            <a:r>
              <a:rPr lang="en-US" sz="3599" b="false" i="false" u="none" strike="noStrike" spc="-200">
                <a:solidFill>
                  <a:srgbClr val="04CC81"/>
                </a:solidFill>
                <a:latin typeface="Pretendard Medium"/>
                <a:ea typeface="Pretendard Medium"/>
                <a:cs typeface="Pretendard Medium"/>
              </a:rPr>
              <a:t>예상 출력값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247900" y="6337300"/>
            <a:ext cx="19088100" cy="17907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2247900" y="5702300"/>
            <a:ext cx="12357100" cy="635000"/>
          </a:xfrm>
          <a:prstGeom prst="rect">
            <a:avLst/>
          </a:prstGeom>
        </p:spPr>
        <p:txBody>
          <a:bodyPr anchor="ctr" rtlCol="false" lIns="0" tIns="54863" rIns="0" bIns="54863"/>
          <a:lstStyle/>
          <a:p>
            <a:pPr algn="l" lvl="0">
              <a:lnSpc>
                <a:spcPct val="96279"/>
              </a:lnSpc>
            </a:pPr>
            <a:r>
              <a:rPr lang="en-US" sz="3599" b="false" i="false" u="none" strike="noStrike" spc="-200">
                <a:solidFill>
                  <a:srgbClr val="04CC81"/>
                </a:solidFill>
                <a:latin typeface="Pretendard Medium"/>
                <a:ea typeface="Pretendard Medium"/>
                <a:cs typeface="Pretendard Medium"/>
              </a:rPr>
              <a:t>적재 위치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480800" y="10134600"/>
            <a:ext cx="596900" cy="5969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11684000" y="10185400"/>
            <a:ext cx="2794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785" b="true" i="false" u="none" strike="noStrike">
                <a:solidFill>
                  <a:srgbClr val="FCFCFC"/>
                </a:solidFill>
                <a:latin typeface="Pretendard Bold"/>
                <a:ea typeface="Pretendard Bold"/>
                <a:cs typeface="Pretendard Bold"/>
              </a:rPr>
              <a:t>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331700" y="10109200"/>
            <a:ext cx="12357100" cy="635000"/>
          </a:xfrm>
          <a:prstGeom prst="rect">
            <a:avLst/>
          </a:prstGeom>
        </p:spPr>
        <p:txBody>
          <a:bodyPr anchor="ctr" rtlCol="false" lIns="0" tIns="54863" rIns="0" bIns="54863"/>
          <a:lstStyle/>
          <a:p>
            <a:pPr algn="l" lvl="0">
              <a:lnSpc>
                <a:spcPct val="96279"/>
              </a:lnSpc>
            </a:pPr>
            <a:r>
              <a:rPr lang="en-US" sz="3599" b="fals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16진수로 표현된 메모리 위치 (d → e → f 순으로 자릿수 증가)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480800" y="10972800"/>
            <a:ext cx="596900" cy="5969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11684000" y="11023600"/>
            <a:ext cx="3175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785" b="true" i="false" u="none" strike="noStrike">
                <a:solidFill>
                  <a:srgbClr val="FCFCFC"/>
                </a:solidFill>
                <a:latin typeface="Pretendard Bold"/>
                <a:ea typeface="Pretendard Bold"/>
                <a:cs typeface="Pretendard Bold"/>
              </a:rPr>
              <a:t>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331700" y="10947400"/>
            <a:ext cx="12357100" cy="635000"/>
          </a:xfrm>
          <a:prstGeom prst="rect">
            <a:avLst/>
          </a:prstGeom>
        </p:spPr>
        <p:txBody>
          <a:bodyPr anchor="ctr" rtlCol="false" lIns="0" tIns="54863" rIns="0" bIns="54863"/>
          <a:lstStyle/>
          <a:p>
            <a:pPr algn="l" lvl="0">
              <a:lnSpc>
                <a:spcPct val="96279"/>
              </a:lnSpc>
            </a:pPr>
            <a:r>
              <a:rPr lang="en-US" sz="3599" b="fals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시작 위치를 나타낸 주소값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1480800" y="11811000"/>
            <a:ext cx="596900" cy="5969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11684000" y="11861800"/>
            <a:ext cx="3302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785" b="true" i="false" u="none" strike="noStrike">
                <a:solidFill>
                  <a:srgbClr val="FCFCFC"/>
                </a:solidFill>
                <a:latin typeface="Pretendard Bold"/>
                <a:ea typeface="Pretendard Bold"/>
                <a:cs typeface="Pretendard Bold"/>
              </a:rPr>
              <a:t>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331700" y="11811000"/>
            <a:ext cx="12357100" cy="635000"/>
          </a:xfrm>
          <a:prstGeom prst="rect">
            <a:avLst/>
          </a:prstGeom>
        </p:spPr>
        <p:txBody>
          <a:bodyPr anchor="ctr" rtlCol="false" lIns="0" tIns="54863" rIns="0" bIns="54863"/>
          <a:lstStyle/>
          <a:p>
            <a:pPr algn="l" lvl="0">
              <a:lnSpc>
                <a:spcPct val="96279"/>
              </a:lnSpc>
            </a:pPr>
            <a:r>
              <a:rPr lang="en-US" sz="3599" b="fals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아스키 코드로 표현된 값들 (주소값은 깨져 있음)</a:t>
            </a: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51000" y="6337300"/>
            <a:ext cx="596900" cy="5969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1841500" y="6388100"/>
            <a:ext cx="2794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785" b="true" i="false" u="none" strike="noStrike">
                <a:solidFill>
                  <a:srgbClr val="FCFCFC"/>
                </a:solidFill>
                <a:latin typeface="Pretendard Bold"/>
                <a:ea typeface="Pretendard Bold"/>
                <a:cs typeface="Pretendard Bold"/>
              </a:rPr>
              <a:t>1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6350000" y="6337300"/>
            <a:ext cx="596900" cy="596900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6540500" y="6388100"/>
            <a:ext cx="3175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785" b="true" i="false" u="none" strike="noStrike">
                <a:solidFill>
                  <a:srgbClr val="FCFCFC"/>
                </a:solidFill>
                <a:latin typeface="Pretendard Bold"/>
                <a:ea typeface="Pretendard Bold"/>
                <a:cs typeface="Pretendard Bold"/>
              </a:rPr>
              <a:t>2</a:t>
            </a:r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1336000" y="7531100"/>
            <a:ext cx="596900" cy="596900"/>
          </a:xfrm>
          <a:prstGeom prst="rect">
            <a:avLst/>
          </a:prstGeom>
        </p:spPr>
      </p:pic>
      <p:sp>
        <p:nvSpPr>
          <p:cNvPr name="TextBox 24" id="24"/>
          <p:cNvSpPr txBox="true"/>
          <p:nvPr/>
        </p:nvSpPr>
        <p:spPr>
          <a:xfrm rot="0">
            <a:off x="21539200" y="7581900"/>
            <a:ext cx="3302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785" b="true" i="false" u="none" strike="noStrike">
                <a:solidFill>
                  <a:srgbClr val="FCFCFC"/>
                </a:solidFill>
                <a:latin typeface="Pretendard Bold"/>
                <a:ea typeface="Pretendard Bold"/>
                <a:cs typeface="Pretendard Bold"/>
              </a:rPr>
              <a:t>3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3063200" y="266700"/>
            <a:ext cx="5549900" cy="444500"/>
          </a:xfrm>
          <a:prstGeom prst="rect">
            <a:avLst/>
          </a:prstGeom>
        </p:spPr>
        <p:txBody>
          <a:bodyPr anchor="ctr" rtlCol="false" lIns="0" tIns="35395" rIns="0" bIns="35395"/>
          <a:lstStyle/>
          <a:p>
            <a:pPr algn="l" lvl="0">
              <a:lnSpc>
                <a:spcPct val="97940"/>
              </a:lnSpc>
            </a:pPr>
            <a:r>
              <a:rPr lang="en-US" sz="2533" b="false" i="false" u="none" strike="noStrike" spc="-200" cap="all">
                <a:solidFill>
                  <a:srgbClr val="161616">
                    <a:alpha val="41176"/>
                  </a:srgbClr>
                </a:solidFill>
                <a:latin typeface="Pretendard Light"/>
                <a:ea typeface="Pretendard Light"/>
                <a:cs typeface="Pretendard Light"/>
              </a:rPr>
              <a:t>황정연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04CC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273800" y="7708900"/>
            <a:ext cx="11480800" cy="825500"/>
          </a:xfrm>
          <a:prstGeom prst="rect">
            <a:avLst/>
          </a:prstGeom>
        </p:spPr>
        <p:txBody>
          <a:bodyPr anchor="ctr" rtlCol="false" lIns="0" tIns="118533" rIns="0" bIns="118533"/>
          <a:lstStyle/>
          <a:p>
            <a:pPr algn="ctr" lvl="0">
              <a:lnSpc>
                <a:spcPct val="83000"/>
              </a:lnSpc>
            </a:pPr>
            <a:r>
              <a:rPr lang="en-US" sz="4666" b="false" i="false" u="none" strike="noStrike" spc="-200" cap="all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최우녕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235700" y="5880100"/>
            <a:ext cx="11557000" cy="1181100"/>
          </a:xfrm>
          <a:prstGeom prst="rect">
            <a:avLst/>
          </a:prstGeom>
        </p:spPr>
        <p:txBody>
          <a:bodyPr anchor="ctr" rtlCol="false" lIns="0" tIns="169333" rIns="0" bIns="169333"/>
          <a:lstStyle/>
          <a:p>
            <a:pPr algn="ctr" lvl="0">
              <a:lnSpc>
                <a:spcPct val="83000"/>
              </a:lnSpc>
            </a:pPr>
            <a:r>
              <a:rPr lang="en-US" sz="6666" b="false" i="false" u="none" strike="noStrike" spc="-2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Process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CFC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762500" y="1485900"/>
            <a:ext cx="14973300" cy="1422400"/>
          </a:xfrm>
          <a:prstGeom prst="rect">
            <a:avLst/>
          </a:prstGeom>
        </p:spPr>
        <p:txBody>
          <a:bodyPr anchor="ctr" rtlCol="false" lIns="0" tIns="202460" rIns="0" bIns="202460"/>
          <a:lstStyle/>
          <a:p>
            <a:pPr algn="ctr" lvl="0">
              <a:lnSpc>
                <a:spcPct val="83000"/>
              </a:lnSpc>
            </a:pPr>
            <a:r>
              <a:rPr lang="en-US" sz="7970" b="false" i="false" u="none" strike="noStrike" spc="-300">
                <a:solidFill>
                  <a:srgbClr val="04CC81"/>
                </a:solidFill>
                <a:latin typeface="Pretendard Bold"/>
                <a:ea typeface="Pretendard Bold"/>
                <a:cs typeface="Pretendard Bold"/>
              </a:rPr>
              <a:t>Process </a:t>
            </a:r>
            <a:r>
              <a:rPr lang="en-US" sz="7970" b="false" i="false" u="none" strike="noStrike" spc="-3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생명주기와 동기화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11200" y="495300"/>
            <a:ext cx="279400" cy="279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08000" y="495300"/>
            <a:ext cx="279400" cy="279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58800" y="13157200"/>
            <a:ext cx="23266400" cy="254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23063200" y="266700"/>
            <a:ext cx="5549900" cy="444500"/>
          </a:xfrm>
          <a:prstGeom prst="rect">
            <a:avLst/>
          </a:prstGeom>
        </p:spPr>
        <p:txBody>
          <a:bodyPr anchor="ctr" rtlCol="false" lIns="0" tIns="35395" rIns="0" bIns="35395"/>
          <a:lstStyle/>
          <a:p>
            <a:pPr algn="l" lvl="0">
              <a:lnSpc>
                <a:spcPct val="97940"/>
              </a:lnSpc>
            </a:pPr>
            <a:r>
              <a:rPr lang="en-US" sz="2533" b="false" i="false" u="none" strike="noStrike" spc="-200" cap="all">
                <a:solidFill>
                  <a:srgbClr val="161616">
                    <a:alpha val="41176"/>
                  </a:srgbClr>
                </a:solidFill>
                <a:latin typeface="Pretendard Light"/>
                <a:ea typeface="Pretendard Light"/>
                <a:cs typeface="Pretendard Light"/>
              </a:rPr>
              <a:t>최우녕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5252700" y="2971800"/>
            <a:ext cx="8318500" cy="99949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977900" y="8902700"/>
            <a:ext cx="12357100" cy="1371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3599" b="fals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1.  생성 시점에는 부모가 </a:t>
            </a:r>
            <a:r>
              <a:rPr lang="en-US" sz="3599" b="tru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fork()</a:t>
            </a:r>
            <a:r>
              <a:rPr lang="en-US" sz="3599" b="fals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의 성공 여부를 확인해야 한다.</a:t>
            </a:r>
          </a:p>
          <a:p>
            <a:pPr algn="l" lvl="0">
              <a:lnSpc>
                <a:spcPct val="132800"/>
              </a:lnSpc>
            </a:pPr>
            <a:r>
              <a:rPr lang="en-US" sz="3599" b="fals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2. 종료 시점에는 부모가 </a:t>
            </a:r>
            <a:r>
              <a:rPr lang="en-US" sz="3599" b="tru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wait()</a:t>
            </a:r>
            <a:r>
              <a:rPr lang="en-US" sz="3599" b="fals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를 통해 자식의 종료 상태를 회수해야 한다.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47800" y="4191000"/>
            <a:ext cx="13423900" cy="1346200"/>
          </a:xfrm>
          <a:prstGeom prst="rect">
            <a:avLst/>
          </a:prstGeom>
        </p:spPr>
        <p:txBody>
          <a:bodyPr anchor="ctr" rtlCol="false" lIns="0" tIns="62991" rIns="0" bIns="62991"/>
          <a:lstStyle/>
          <a:p>
            <a:pPr algn="l" lvl="0">
              <a:lnSpc>
                <a:spcPct val="96279"/>
              </a:lnSpc>
            </a:pPr>
            <a:r>
              <a:rPr lang="en-US" sz="4133" b="false" i="false" u="none" strike="noStrike" spc="-300" cap="all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부모는 자식이 </a:t>
            </a:r>
            <a:r>
              <a:rPr lang="en-US" sz="4133" b="true" i="false" u="none" strike="noStrike" spc="-300" cap="all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정상적으로 생성되었는지 확인</a:t>
            </a:r>
            <a:r>
              <a:rPr lang="en-US" sz="4133" b="false" i="false" u="none" strike="noStrike" spc="-300" cap="all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해야 하고, </a:t>
            </a:r>
          </a:p>
          <a:p>
            <a:pPr algn="l" lvl="0">
              <a:lnSpc>
                <a:spcPct val="96279"/>
              </a:lnSpc>
            </a:pPr>
            <a:r>
              <a:rPr lang="en-US" sz="4133" b="false" i="false" u="none" strike="noStrike" spc="-300" cap="all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자식이 종료한 뒤에는 </a:t>
            </a:r>
            <a:r>
              <a:rPr lang="en-US" sz="4133" b="true" i="false" u="none" strike="noStrike" spc="-300" cap="all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종료 상태를 안전하게 회수</a:t>
            </a:r>
            <a:r>
              <a:rPr lang="en-US" sz="4133" b="false" i="false" u="none" strike="noStrike" spc="-300" cap="all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할 수 있어야 한다.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47800" y="6362700"/>
            <a:ext cx="12357100" cy="1701800"/>
          </a:xfrm>
          <a:prstGeom prst="rect">
            <a:avLst/>
          </a:prstGeom>
        </p:spPr>
        <p:txBody>
          <a:bodyPr anchor="ctr" rtlCol="false" lIns="0" tIns="54863" rIns="0" bIns="54863"/>
          <a:lstStyle/>
          <a:p>
            <a:pPr algn="l" lvl="0">
              <a:lnSpc>
                <a:spcPct val="96279"/>
              </a:lnSpc>
            </a:pPr>
            <a:r>
              <a:rPr lang="en-US" sz="3599" b="fals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fork (부모 대기) → 자식 초기화 및 복제 → 부모 깨우기 → 실행 시작
wait (부모 대기) → 자식 종료 상태 기록 → 부모 깨우기 → 종료 상태 회수</a:t>
            </a:r>
            <a:r>
              <a:rPr lang="en-US" sz="3599" b="fals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/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CFC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762500" y="1485900"/>
            <a:ext cx="14973300" cy="1422400"/>
          </a:xfrm>
          <a:prstGeom prst="rect">
            <a:avLst/>
          </a:prstGeom>
        </p:spPr>
        <p:txBody>
          <a:bodyPr anchor="ctr" rtlCol="false" lIns="0" tIns="202460" rIns="0" bIns="202460"/>
          <a:lstStyle/>
          <a:p>
            <a:pPr algn="ctr" lvl="0">
              <a:lnSpc>
                <a:spcPct val="83000"/>
              </a:lnSpc>
            </a:pPr>
            <a:r>
              <a:rPr lang="en-US" sz="7970" b="false" i="false" u="none" strike="noStrike" spc="-3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왜 </a:t>
            </a:r>
            <a:r>
              <a:rPr lang="en-US" sz="7970" b="false" i="false" u="none" strike="noStrike" spc="-300">
                <a:solidFill>
                  <a:srgbClr val="04CC81"/>
                </a:solidFill>
                <a:latin typeface="Pretendard Bold"/>
                <a:ea typeface="Pretendard Bold"/>
                <a:cs typeface="Pretendard Bold"/>
              </a:rPr>
              <a:t>Process Record</a:t>
            </a:r>
            <a:r>
              <a:rPr lang="en-US" sz="7970" b="false" i="false" u="none" strike="noStrike" spc="-3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가 필요했는가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11200" y="495300"/>
            <a:ext cx="279400" cy="279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08000" y="495300"/>
            <a:ext cx="279400" cy="279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58800" y="13157200"/>
            <a:ext cx="23266400" cy="254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23063200" y="266700"/>
            <a:ext cx="5549900" cy="444500"/>
          </a:xfrm>
          <a:prstGeom prst="rect">
            <a:avLst/>
          </a:prstGeom>
        </p:spPr>
        <p:txBody>
          <a:bodyPr anchor="ctr" rtlCol="false" lIns="0" tIns="35395" rIns="0" bIns="35395"/>
          <a:lstStyle/>
          <a:p>
            <a:pPr algn="l" lvl="0">
              <a:lnSpc>
                <a:spcPct val="97940"/>
              </a:lnSpc>
            </a:pPr>
            <a:r>
              <a:rPr lang="en-US" sz="2533" b="false" i="false" u="none" strike="noStrike" spc="-200" cap="all">
                <a:solidFill>
                  <a:srgbClr val="161616">
                    <a:alpha val="41176"/>
                  </a:srgbClr>
                </a:solidFill>
                <a:latin typeface="Pretendard Light"/>
                <a:ea typeface="Pretendard Light"/>
                <a:cs typeface="Pretendard Light"/>
              </a:rPr>
              <a:t>최우녕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47800" y="4191000"/>
            <a:ext cx="13423900" cy="1346200"/>
          </a:xfrm>
          <a:prstGeom prst="rect">
            <a:avLst/>
          </a:prstGeom>
        </p:spPr>
        <p:txBody>
          <a:bodyPr anchor="ctr" rtlCol="false" lIns="0" tIns="62991" rIns="0" bIns="62991"/>
          <a:lstStyle/>
          <a:p>
            <a:pPr algn="l" lvl="0">
              <a:lnSpc>
                <a:spcPct val="96279"/>
              </a:lnSpc>
            </a:pPr>
            <a:r>
              <a:rPr lang="en-US" sz="4133" b="false" i="false" u="none" strike="noStrike" spc="-300" cap="all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상태와 동기화가 스레드 수명에 묶이지 않게 해야 한다.
그래서 별도 구조체로 분리해 관리해야 한다.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810500" y="3200400"/>
            <a:ext cx="15328900" cy="97790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1447800" y="6362700"/>
            <a:ext cx="14643100" cy="1701800"/>
          </a:xfrm>
          <a:prstGeom prst="rect">
            <a:avLst/>
          </a:prstGeom>
        </p:spPr>
        <p:txBody>
          <a:bodyPr anchor="ctr" rtlCol="false" lIns="0" tIns="54863" rIns="0" bIns="54863"/>
          <a:lstStyle/>
          <a:p>
            <a:pPr algn="l" lvl="0">
              <a:lnSpc>
                <a:spcPct val="96279"/>
              </a:lnSpc>
            </a:pPr>
            <a:r>
              <a:rPr lang="en-US" sz="3599" b="fals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thread 내부 저장 → 자식 수명에 묶임 → 삭제 시점 동기화 필요</a:t>
            </a:r>
            <a:r>
              <a:rPr lang="en-US" sz="3599" b="fals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/>
            </a:r>
          </a:p>
          <a:p>
            <a:pPr algn="l" lvl="0">
              <a:lnSpc>
                <a:spcPct val="96279"/>
              </a:lnSpc>
            </a:pPr>
            <a:r>
              <a:rPr lang="en-US" sz="3599" b="fals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/>
            </a:r>
          </a:p>
          <a:p>
            <a:pPr algn="l" lvl="0">
              <a:lnSpc>
                <a:spcPct val="96279"/>
              </a:lnSpc>
            </a:pPr>
            <a:r>
              <a:rPr lang="en-US" sz="3599" b="fals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/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CFC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762500" y="1485900"/>
            <a:ext cx="14973300" cy="1422400"/>
          </a:xfrm>
          <a:prstGeom prst="rect">
            <a:avLst/>
          </a:prstGeom>
        </p:spPr>
        <p:txBody>
          <a:bodyPr anchor="ctr" rtlCol="false" lIns="0" tIns="202460" rIns="0" bIns="202460"/>
          <a:lstStyle/>
          <a:p>
            <a:pPr algn="ctr" lvl="0">
              <a:lnSpc>
                <a:spcPct val="83000"/>
              </a:lnSpc>
            </a:pPr>
            <a:r>
              <a:rPr lang="en-US" sz="7970" b="false" i="false" u="none" strike="noStrike" spc="-300">
                <a:solidFill>
                  <a:srgbClr val="04CC81"/>
                </a:solidFill>
                <a:latin typeface="Pretendard Bold"/>
                <a:ea typeface="Pretendard Bold"/>
                <a:cs typeface="Pretendard Bold"/>
              </a:rPr>
              <a:t>부모 스레드</a:t>
            </a:r>
            <a:r>
              <a:rPr lang="en-US" sz="7970" b="false" i="false" u="none" strike="noStrike" spc="-3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가 먼저 종료되면?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11200" y="495300"/>
            <a:ext cx="279400" cy="279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08000" y="495300"/>
            <a:ext cx="279400" cy="279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58800" y="13157200"/>
            <a:ext cx="23266400" cy="254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23063200" y="266700"/>
            <a:ext cx="5549900" cy="444500"/>
          </a:xfrm>
          <a:prstGeom prst="rect">
            <a:avLst/>
          </a:prstGeom>
        </p:spPr>
        <p:txBody>
          <a:bodyPr anchor="ctr" rtlCol="false" lIns="0" tIns="35395" rIns="0" bIns="35395"/>
          <a:lstStyle/>
          <a:p>
            <a:pPr algn="l" lvl="0">
              <a:lnSpc>
                <a:spcPct val="97940"/>
              </a:lnSpc>
            </a:pPr>
            <a:r>
              <a:rPr lang="en-US" sz="2533" b="false" i="false" u="none" strike="noStrike" spc="-200" cap="all">
                <a:solidFill>
                  <a:srgbClr val="161616">
                    <a:alpha val="41176"/>
                  </a:srgbClr>
                </a:solidFill>
                <a:latin typeface="Pretendard Light"/>
                <a:ea typeface="Pretendard Light"/>
                <a:cs typeface="Pretendard Light"/>
              </a:rPr>
              <a:t>최우녕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47800" y="4216400"/>
            <a:ext cx="14401800" cy="2565400"/>
          </a:xfrm>
          <a:prstGeom prst="rect">
            <a:avLst/>
          </a:prstGeom>
        </p:spPr>
        <p:txBody>
          <a:bodyPr anchor="ctr" rtlCol="false" lIns="0" tIns="62991" rIns="0" bIns="62991"/>
          <a:lstStyle/>
          <a:p>
            <a:pPr algn="l" lvl="0">
              <a:lnSpc>
                <a:spcPct val="96279"/>
              </a:lnSpc>
            </a:pPr>
            <a:r>
              <a:rPr lang="en-US" sz="4133" b="false" i="false" u="none" strike="noStrike" spc="-300" cap="all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정상 구조에서는 부모가 자식의 종료 상태를 회수한다.
하지만 부모가 먼저 종료되면 자식은 계속 실행될 수 있다.
그리고 자식이 나중에 종료하면 회수 주체가 사라질 수 있다.
즉 문제는 종료 자체가 아니라, </a:t>
            </a:r>
            <a:r>
              <a:rPr lang="en-US" sz="4133" b="true" i="false" u="none" strike="noStrike" spc="-300" cap="all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회수 책임</a:t>
            </a:r>
            <a:r>
              <a:rPr lang="en-US" sz="4133" b="false" i="false" u="none" strike="noStrike" spc="-300" cap="all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이다.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601700" y="3187700"/>
            <a:ext cx="9410700" cy="96901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1358900" y="8204200"/>
            <a:ext cx="12382500" cy="762000"/>
          </a:xfrm>
          <a:prstGeom prst="rect">
            <a:avLst/>
          </a:prstGeom>
        </p:spPr>
        <p:txBody>
          <a:bodyPr anchor="ctr" rtlCol="false" lIns="0" tIns="65023" rIns="0" bIns="65023"/>
          <a:lstStyle/>
          <a:p>
            <a:pPr algn="ctr" lvl="0">
              <a:lnSpc>
                <a:spcPct val="96279"/>
              </a:lnSpc>
            </a:pPr>
            <a:r>
              <a:rPr lang="en-US" sz="4266" b="true" i="false" u="none" strike="noStrike" spc="-3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부모가 살아 있어야 </a:t>
            </a:r>
            <a:r>
              <a:rPr lang="en-US" sz="4266" b="true" i="false" u="none" strike="noStrike" spc="-300">
                <a:solidFill>
                  <a:srgbClr val="04CC81"/>
                </a:solidFill>
                <a:latin typeface="Pretendard Medium"/>
                <a:ea typeface="Pretendard Medium"/>
                <a:cs typeface="Pretendard Medium"/>
              </a:rPr>
              <a:t>wait</a:t>
            </a:r>
            <a:r>
              <a:rPr lang="en-US" sz="4266" b="true" i="false" u="none" strike="noStrike" spc="-3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 → </a:t>
            </a:r>
            <a:r>
              <a:rPr lang="en-US" sz="4266" b="true" i="false" u="none" strike="noStrike" spc="-300">
                <a:solidFill>
                  <a:srgbClr val="04CC81"/>
                </a:solidFill>
                <a:latin typeface="Pretendard Medium"/>
                <a:ea typeface="Pretendard Medium"/>
                <a:cs typeface="Pretendard Medium"/>
              </a:rPr>
              <a:t>reap</a:t>
            </a:r>
            <a:r>
              <a:rPr lang="en-US" sz="4266" b="true" i="false" u="none" strike="noStrike" spc="-3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이 가능하다.</a:t>
            </a:r>
            <a:r>
              <a:rPr lang="en-US" sz="3599" b="fals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/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441700" y="9207500"/>
            <a:ext cx="8115300" cy="39497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CFC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178300" y="1485900"/>
            <a:ext cx="16141700" cy="1422400"/>
          </a:xfrm>
          <a:prstGeom prst="rect">
            <a:avLst/>
          </a:prstGeom>
        </p:spPr>
        <p:txBody>
          <a:bodyPr anchor="ctr" rtlCol="false" lIns="0" tIns="202460" rIns="0" bIns="202460"/>
          <a:lstStyle/>
          <a:p>
            <a:pPr algn="ctr" lvl="0">
              <a:lnSpc>
                <a:spcPct val="83000"/>
              </a:lnSpc>
            </a:pPr>
            <a:r>
              <a:rPr lang="en-US" sz="7970" b="false" i="false" u="none" strike="noStrike" spc="-3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부모 </a:t>
            </a:r>
            <a:r>
              <a:rPr lang="en-US" sz="7970" b="false" i="false" u="none" strike="noStrike" spc="-300">
                <a:solidFill>
                  <a:srgbClr val="04CC81"/>
                </a:solidFill>
                <a:latin typeface="Pretendard Bold"/>
                <a:ea typeface="Pretendard Bold"/>
                <a:cs typeface="Pretendard Bold"/>
              </a:rPr>
              <a:t>exit</a:t>
            </a:r>
            <a:r>
              <a:rPr lang="en-US" sz="7970" b="false" i="false" u="none" strike="noStrike" spc="-3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에서 </a:t>
            </a:r>
            <a:r>
              <a:rPr lang="en-US" sz="7970" b="false" i="false" u="none" strike="noStrike" spc="-300">
                <a:solidFill>
                  <a:srgbClr val="04CC81"/>
                </a:solidFill>
                <a:latin typeface="Pretendard Bold"/>
                <a:ea typeface="Pretendard Bold"/>
                <a:cs typeface="Pretendard Bold"/>
              </a:rPr>
              <a:t>wait</a:t>
            </a:r>
            <a:r>
              <a:rPr lang="en-US" sz="7970" b="false" i="false" u="none" strike="noStrike" spc="-3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를 그대로 쓸 수 없었다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11200" y="495300"/>
            <a:ext cx="279400" cy="279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08000" y="495300"/>
            <a:ext cx="279400" cy="2794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23063200" y="266700"/>
            <a:ext cx="5549900" cy="444500"/>
          </a:xfrm>
          <a:prstGeom prst="rect">
            <a:avLst/>
          </a:prstGeom>
        </p:spPr>
        <p:txBody>
          <a:bodyPr anchor="ctr" rtlCol="false" lIns="0" tIns="35395" rIns="0" bIns="35395"/>
          <a:lstStyle/>
          <a:p>
            <a:pPr algn="l" lvl="0">
              <a:lnSpc>
                <a:spcPct val="97940"/>
              </a:lnSpc>
            </a:pPr>
            <a:r>
              <a:rPr lang="en-US" sz="2533" b="false" i="false" u="none" strike="noStrike" spc="-200" cap="all">
                <a:solidFill>
                  <a:srgbClr val="161616">
                    <a:alpha val="41176"/>
                  </a:srgbClr>
                </a:solidFill>
                <a:latin typeface="Pretendard Light"/>
                <a:ea typeface="Pretendard Light"/>
                <a:cs typeface="Pretendard Light"/>
              </a:rPr>
              <a:t>최우녕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58800" y="13157200"/>
            <a:ext cx="23266400" cy="254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977900" y="8534400"/>
            <a:ext cx="12357100" cy="2108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3599" b="fals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1.  자식이 살아 있으면 </a:t>
            </a:r>
            <a:r>
              <a:rPr lang="en-US" sz="3599" b="tru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wait()</a:t>
            </a:r>
            <a:r>
              <a:rPr lang="en-US" sz="3599" b="fals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는 </a:t>
            </a:r>
            <a:r>
              <a:rPr lang="en-US" sz="3599" b="tru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block</a:t>
            </a:r>
            <a:r>
              <a:rPr lang="en-US" sz="3599" b="fals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될 수 있다.</a:t>
            </a:r>
          </a:p>
          <a:p>
            <a:pPr algn="l" lvl="0">
              <a:lnSpc>
                <a:spcPct val="132800"/>
              </a:lnSpc>
            </a:pPr>
            <a:r>
              <a:rPr lang="en-US" sz="3599" b="fals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2.이미 종료된 경우라면 기다릴 이유가 없다.</a:t>
            </a:r>
          </a:p>
          <a:p>
            <a:pPr algn="l" lvl="0">
              <a:lnSpc>
                <a:spcPct val="132800"/>
              </a:lnSpc>
            </a:pPr>
            <a:r>
              <a:rPr lang="en-US" sz="3599" b="fals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3. 따라서</a:t>
            </a:r>
            <a:r>
              <a:rPr lang="en-US" sz="3599" b="tru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 wait()</a:t>
            </a:r>
            <a:r>
              <a:rPr lang="en-US" sz="3599" b="fals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는 </a:t>
            </a:r>
            <a:r>
              <a:rPr lang="en-US" sz="3599" b="tru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exit</a:t>
            </a:r>
            <a:r>
              <a:rPr lang="en-US" sz="3599" b="fals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 경로의 </a:t>
            </a:r>
            <a:r>
              <a:rPr lang="en-US" sz="3599" b="tru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cleanup </a:t>
            </a:r>
            <a:r>
              <a:rPr lang="en-US" sz="3599" b="fals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함수로 쓰기 어렵다.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47800" y="4216400"/>
            <a:ext cx="14401800" cy="2565400"/>
          </a:xfrm>
          <a:prstGeom prst="rect">
            <a:avLst/>
          </a:prstGeom>
        </p:spPr>
        <p:txBody>
          <a:bodyPr anchor="ctr" rtlCol="false" lIns="0" tIns="62991" rIns="0" bIns="62991"/>
          <a:lstStyle/>
          <a:p>
            <a:pPr algn="l" lvl="0">
              <a:lnSpc>
                <a:spcPct val="96279"/>
              </a:lnSpc>
            </a:pPr>
            <a:r>
              <a:rPr lang="en-US" sz="4133" b="true" i="false" u="none" strike="noStrike" spc="-300" cap="all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"그럼 wait를 그대로 쓰면 되지 않나?”</a:t>
            </a:r>
            <a:r>
              <a:rPr lang="en-US" sz="4133" b="false" i="false" u="none" strike="noStrike" spc="-300" cap="all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
기존 wait()로 해결할 수 있을 것처럼 보였으나,
자식이 아직 살아 있으면 부모는 잠들 수 있고,
이미 종료된 경우라면 wait() 자체가 불필요했다.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5011400" y="3086100"/>
            <a:ext cx="7988300" cy="99441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CFC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4490700" y="3327400"/>
            <a:ext cx="8686800" cy="98425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4178300" y="1485900"/>
            <a:ext cx="16141700" cy="1422400"/>
          </a:xfrm>
          <a:prstGeom prst="rect">
            <a:avLst/>
          </a:prstGeom>
        </p:spPr>
        <p:txBody>
          <a:bodyPr anchor="ctr" rtlCol="false" lIns="0" tIns="202460" rIns="0" bIns="202460"/>
          <a:lstStyle/>
          <a:p>
            <a:pPr algn="ctr" lvl="0">
              <a:lnSpc>
                <a:spcPct val="83000"/>
              </a:lnSpc>
            </a:pPr>
            <a:r>
              <a:rPr lang="en-US" sz="7970" b="false" i="false" u="none" strike="noStrike" spc="-3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그래서 회수 책임을 </a:t>
            </a:r>
            <a:r>
              <a:rPr lang="en-US" sz="7970" b="false" i="false" u="none" strike="noStrike" spc="-300">
                <a:solidFill>
                  <a:srgbClr val="04CC81"/>
                </a:solidFill>
                <a:latin typeface="Pretendard Bold"/>
                <a:ea typeface="Pretendard Bold"/>
                <a:cs typeface="Pretendard Bold"/>
              </a:rPr>
              <a:t>Root</a:t>
            </a:r>
            <a:r>
              <a:rPr lang="en-US" sz="7970" b="false" i="false" u="none" strike="noStrike" spc="-3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로 넘겼다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11200" y="495300"/>
            <a:ext cx="279400" cy="279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08000" y="495300"/>
            <a:ext cx="279400" cy="2794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23063200" y="266700"/>
            <a:ext cx="5549900" cy="444500"/>
          </a:xfrm>
          <a:prstGeom prst="rect">
            <a:avLst/>
          </a:prstGeom>
        </p:spPr>
        <p:txBody>
          <a:bodyPr anchor="ctr" rtlCol="false" lIns="0" tIns="35395" rIns="0" bIns="35395"/>
          <a:lstStyle/>
          <a:p>
            <a:pPr algn="l" lvl="0">
              <a:lnSpc>
                <a:spcPct val="97940"/>
              </a:lnSpc>
            </a:pPr>
            <a:r>
              <a:rPr lang="en-US" sz="2533" b="false" i="false" u="none" strike="noStrike" spc="-200" cap="all">
                <a:solidFill>
                  <a:srgbClr val="161616">
                    <a:alpha val="41176"/>
                  </a:srgbClr>
                </a:solidFill>
                <a:latin typeface="Pretendard Light"/>
                <a:ea typeface="Pretendard Light"/>
                <a:cs typeface="Pretendard Light"/>
              </a:rPr>
              <a:t>최우녕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58800" y="13157200"/>
            <a:ext cx="23266400" cy="25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125700" y="6667500"/>
            <a:ext cx="7480300" cy="2451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125700" y="9067800"/>
            <a:ext cx="7480300" cy="25146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445000" y="5829300"/>
            <a:ext cx="8623300" cy="7099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5245100" y="9169400"/>
            <a:ext cx="3810000" cy="16891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5245100" y="11366500"/>
            <a:ext cx="5994400" cy="11049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1938000" y="9639300"/>
            <a:ext cx="1739900" cy="17399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1447800" y="4191000"/>
            <a:ext cx="13423900" cy="1346200"/>
          </a:xfrm>
          <a:prstGeom prst="rect">
            <a:avLst/>
          </a:prstGeom>
        </p:spPr>
        <p:txBody>
          <a:bodyPr anchor="ctr" rtlCol="false" lIns="0" tIns="62991" rIns="0" bIns="62991"/>
          <a:lstStyle/>
          <a:p>
            <a:pPr algn="l" lvl="0">
              <a:lnSpc>
                <a:spcPct val="96279"/>
              </a:lnSpc>
            </a:pPr>
            <a:r>
              <a:rPr lang="en-US" sz="4133" b="false" i="false" u="none" strike="noStrike" spc="-300" cap="all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부모가 종료될 때 자식 목록을 확인해서,
이미 끝난 자식은 즉시 </a:t>
            </a:r>
            <a:r>
              <a:rPr lang="en-US" sz="4133" b="true" i="false" u="none" strike="noStrike" spc="-300" cap="all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회수</a:t>
            </a:r>
            <a:r>
              <a:rPr lang="en-US" sz="4133" b="false" i="false" u="none" strike="noStrike" spc="-300" cap="all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하고 살아 있는 자식만 </a:t>
            </a:r>
            <a:r>
              <a:rPr lang="en-US" sz="4133" b="true" i="false" u="none" strike="noStrike" spc="-300" cap="all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Root</a:t>
            </a:r>
            <a:r>
              <a:rPr lang="en-US" sz="4133" b="false" i="false" u="none" strike="noStrike" spc="-300" cap="all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로 넘긴다.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CFC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178300" y="1485900"/>
            <a:ext cx="16141700" cy="1422400"/>
          </a:xfrm>
          <a:prstGeom prst="rect">
            <a:avLst/>
          </a:prstGeom>
        </p:spPr>
        <p:txBody>
          <a:bodyPr anchor="ctr" rtlCol="false" lIns="0" tIns="202460" rIns="0" bIns="202460"/>
          <a:lstStyle/>
          <a:p>
            <a:pPr algn="ctr" lvl="0">
              <a:lnSpc>
                <a:spcPct val="83000"/>
              </a:lnSpc>
            </a:pPr>
            <a:r>
              <a:rPr lang="en-US" sz="7970" b="false" i="false" u="none" strike="noStrike" spc="-3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실수하면서 정리된 기준들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11200" y="495300"/>
            <a:ext cx="279400" cy="279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08000" y="495300"/>
            <a:ext cx="279400" cy="2794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23063200" y="266700"/>
            <a:ext cx="5549900" cy="444500"/>
          </a:xfrm>
          <a:prstGeom prst="rect">
            <a:avLst/>
          </a:prstGeom>
        </p:spPr>
        <p:txBody>
          <a:bodyPr anchor="ctr" rtlCol="false" lIns="0" tIns="35395" rIns="0" bIns="35395"/>
          <a:lstStyle/>
          <a:p>
            <a:pPr algn="l" lvl="0">
              <a:lnSpc>
                <a:spcPct val="97940"/>
              </a:lnSpc>
            </a:pPr>
            <a:r>
              <a:rPr lang="en-US" sz="2533" b="false" i="false" u="none" strike="noStrike" spc="-200" cap="all">
                <a:solidFill>
                  <a:srgbClr val="161616">
                    <a:alpha val="41176"/>
                  </a:srgbClr>
                </a:solidFill>
                <a:latin typeface="Pretendard Light"/>
                <a:ea typeface="Pretendard Light"/>
                <a:cs typeface="Pretendard Light"/>
              </a:rPr>
              <a:t>최우녕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58800" y="13157200"/>
            <a:ext cx="23266400" cy="254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447800" y="4495800"/>
            <a:ext cx="12382500" cy="736600"/>
          </a:xfrm>
          <a:prstGeom prst="rect">
            <a:avLst/>
          </a:prstGeom>
        </p:spPr>
        <p:txBody>
          <a:bodyPr anchor="ctr" rtlCol="false" lIns="0" tIns="62991" rIns="0" bIns="62991"/>
          <a:lstStyle/>
          <a:p>
            <a:pPr algn="l" lvl="0">
              <a:lnSpc>
                <a:spcPct val="96279"/>
              </a:lnSpc>
            </a:pPr>
            <a:r>
              <a:rPr lang="en-US" sz="4133" b="false" i="false" u="none" strike="noStrike" spc="-3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fork 중 fd_table 복제에서 발생한 패닉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709400" y="4152900"/>
            <a:ext cx="10845800" cy="86233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1358900" y="7073900"/>
            <a:ext cx="10350500" cy="3822700"/>
          </a:xfrm>
          <a:prstGeom prst="rect">
            <a:avLst/>
          </a:prstGeom>
        </p:spPr>
        <p:txBody>
          <a:bodyPr anchor="ctr" rtlCol="false" lIns="0" tIns="54863" rIns="0" bIns="54863"/>
          <a:lstStyle/>
          <a:p>
            <a:pPr algn="l" lvl="0">
              <a:lnSpc>
                <a:spcPct val="96279"/>
              </a:lnSpc>
            </a:pPr>
            <a:r>
              <a:rPr lang="en-US" sz="3599" b="fals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포크 과정의 메모리 할당과 자원 복제는
유저 모드가 아니라 커널 모드에서만 처리돼야 했다.
즉 유저 요청과 커널 내부 처리의 경계를 구분하는 것이
구현의 중요한 기준이 되었다.
</a:t>
            </a:r>
            <a:r>
              <a:rPr lang="en-US" sz="3599" b="fals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/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31700" y="7239000"/>
            <a:ext cx="7569200" cy="990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CFC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178300" y="1485900"/>
            <a:ext cx="16141700" cy="1422400"/>
          </a:xfrm>
          <a:prstGeom prst="rect">
            <a:avLst/>
          </a:prstGeom>
        </p:spPr>
        <p:txBody>
          <a:bodyPr anchor="ctr" rtlCol="false" lIns="0" tIns="202460" rIns="0" bIns="202460"/>
          <a:lstStyle/>
          <a:p>
            <a:pPr algn="ctr" lvl="0">
              <a:lnSpc>
                <a:spcPct val="83000"/>
              </a:lnSpc>
            </a:pPr>
            <a:r>
              <a:rPr lang="en-US" sz="7970" b="false" i="false" u="none" strike="noStrike" spc="-3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실수하면서 정리된 기준들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11200" y="495300"/>
            <a:ext cx="279400" cy="279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08000" y="495300"/>
            <a:ext cx="279400" cy="2794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23063200" y="266700"/>
            <a:ext cx="5549900" cy="444500"/>
          </a:xfrm>
          <a:prstGeom prst="rect">
            <a:avLst/>
          </a:prstGeom>
        </p:spPr>
        <p:txBody>
          <a:bodyPr anchor="ctr" rtlCol="false" lIns="0" tIns="35395" rIns="0" bIns="35395"/>
          <a:lstStyle/>
          <a:p>
            <a:pPr algn="l" lvl="0">
              <a:lnSpc>
                <a:spcPct val="97940"/>
              </a:lnSpc>
            </a:pPr>
            <a:r>
              <a:rPr lang="en-US" sz="2533" b="false" i="false" u="none" strike="noStrike" spc="-200" cap="all">
                <a:solidFill>
                  <a:srgbClr val="161616">
                    <a:alpha val="41176"/>
                  </a:srgbClr>
                </a:solidFill>
                <a:latin typeface="Pretendard Light"/>
                <a:ea typeface="Pretendard Light"/>
                <a:cs typeface="Pretendard Light"/>
              </a:rPr>
              <a:t>최우녕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58800" y="13157200"/>
            <a:ext cx="23266400" cy="25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471400" y="4254500"/>
            <a:ext cx="9677400" cy="63881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447800" y="4495800"/>
            <a:ext cx="12382500" cy="736600"/>
          </a:xfrm>
          <a:prstGeom prst="rect">
            <a:avLst/>
          </a:prstGeom>
        </p:spPr>
        <p:txBody>
          <a:bodyPr anchor="ctr" rtlCol="false" lIns="0" tIns="62991" rIns="0" bIns="62991"/>
          <a:lstStyle/>
          <a:p>
            <a:pPr algn="l" lvl="0">
              <a:lnSpc>
                <a:spcPct val="96279"/>
              </a:lnSpc>
            </a:pPr>
            <a:r>
              <a:rPr lang="en-US" sz="4133" b="false" i="false" u="none" strike="noStrike" spc="-3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fork 실패 경로에서 ownership을 먼저 끊어야 했다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58900" y="6540500"/>
            <a:ext cx="10350500" cy="4876800"/>
          </a:xfrm>
          <a:prstGeom prst="rect">
            <a:avLst/>
          </a:prstGeom>
        </p:spPr>
        <p:txBody>
          <a:bodyPr anchor="ctr" rtlCol="false" lIns="0" tIns="54863" rIns="0" bIns="54863"/>
          <a:lstStyle/>
          <a:p>
            <a:pPr algn="l" lvl="0">
              <a:lnSpc>
                <a:spcPct val="96279"/>
              </a:lnSpc>
            </a:pPr>
            <a:r>
              <a:rPr lang="en-US" sz="3599" b="fals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자식이 fork 실패 사실을 기록한 뒤 부모를 먼저 깨우고 바로 thread_exit()로 들어가는 흐름으로 구현
부모가 깨어난 뒤 상태를 회수할 수 있기 때문에,
자식이 같은 상태 포인터를 계속 들고 있으면 dangling pointer 문제가 생길 수 있었다.
그래서 부모를 깨우기 전에
현재 스레드와 상태 포인터의 연결을 먼저 끊어야 했다.</a:t>
            </a:r>
            <a:r>
              <a:rPr lang="en-US" sz="3599" b="fals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/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CFC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178300" y="1485900"/>
            <a:ext cx="16141700" cy="1422400"/>
          </a:xfrm>
          <a:prstGeom prst="rect">
            <a:avLst/>
          </a:prstGeom>
        </p:spPr>
        <p:txBody>
          <a:bodyPr anchor="ctr" rtlCol="false" lIns="0" tIns="202460" rIns="0" bIns="202460"/>
          <a:lstStyle/>
          <a:p>
            <a:pPr algn="ctr" lvl="0">
              <a:lnSpc>
                <a:spcPct val="83000"/>
              </a:lnSpc>
            </a:pPr>
            <a:r>
              <a:rPr lang="en-US" sz="7970" b="false" i="false" u="none" strike="noStrike" spc="-3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실수하면서 정리된 기준들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11200" y="495300"/>
            <a:ext cx="279400" cy="279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08000" y="495300"/>
            <a:ext cx="279400" cy="2794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23063200" y="266700"/>
            <a:ext cx="5549900" cy="444500"/>
          </a:xfrm>
          <a:prstGeom prst="rect">
            <a:avLst/>
          </a:prstGeom>
        </p:spPr>
        <p:txBody>
          <a:bodyPr anchor="ctr" rtlCol="false" lIns="0" tIns="35395" rIns="0" bIns="35395"/>
          <a:lstStyle/>
          <a:p>
            <a:pPr algn="l" lvl="0">
              <a:lnSpc>
                <a:spcPct val="97940"/>
              </a:lnSpc>
            </a:pPr>
            <a:r>
              <a:rPr lang="en-US" sz="2533" b="false" i="false" u="none" strike="noStrike" spc="-200" cap="all">
                <a:solidFill>
                  <a:srgbClr val="161616">
                    <a:alpha val="41176"/>
                  </a:srgbClr>
                </a:solidFill>
                <a:latin typeface="Pretendard Light"/>
                <a:ea typeface="Pretendard Light"/>
                <a:cs typeface="Pretendard Light"/>
              </a:rPr>
              <a:t>최우녕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58800" y="13157200"/>
            <a:ext cx="23266400" cy="254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447800" y="4495800"/>
            <a:ext cx="12382500" cy="736600"/>
          </a:xfrm>
          <a:prstGeom prst="rect">
            <a:avLst/>
          </a:prstGeom>
        </p:spPr>
        <p:txBody>
          <a:bodyPr anchor="ctr" rtlCol="false" lIns="0" tIns="62991" rIns="0" bIns="62991"/>
          <a:lstStyle/>
          <a:p>
            <a:pPr algn="l" lvl="0">
              <a:lnSpc>
                <a:spcPct val="96279"/>
              </a:lnSpc>
            </a:pPr>
            <a:r>
              <a:rPr lang="en-US" sz="4133" b="false" i="false" u="none" strike="noStrike" spc="-3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상태를 </a:t>
            </a:r>
            <a:r>
              <a:rPr lang="en-US" sz="4133" b="true" i="false" u="none" strike="noStrike" spc="-3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thread</a:t>
            </a:r>
            <a:r>
              <a:rPr lang="en-US" sz="4133" b="false" i="false" u="none" strike="noStrike" spc="-3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 수명에 묶으면 정리 시점이 꼬인다는 점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654800" y="8382000"/>
            <a:ext cx="5130800" cy="4648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268200" y="2921000"/>
            <a:ext cx="11404600" cy="102235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1447800" y="5397500"/>
            <a:ext cx="12357100" cy="2755900"/>
          </a:xfrm>
          <a:prstGeom prst="rect">
            <a:avLst/>
          </a:prstGeom>
        </p:spPr>
        <p:txBody>
          <a:bodyPr anchor="ctr" rtlCol="false" lIns="0" tIns="54863" rIns="0" bIns="54863"/>
          <a:lstStyle/>
          <a:p>
            <a:pPr algn="l" lvl="0">
              <a:lnSpc>
                <a:spcPct val="96279"/>
              </a:lnSpc>
            </a:pPr>
            <a:r>
              <a:rPr lang="en-US" sz="3599" b="fals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상태를 thread 내부에만 두면
자식의 수명과 부모의 wait 시점이 충돌할 수 있었다.
그래서 상태와 동기화는
부모와 자식이 함께 보는 별도 구조체로 분리해야 했다.</a:t>
            </a:r>
            <a:r>
              <a:rPr lang="en-US" sz="3599" b="fals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/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04CC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235700" y="5880100"/>
            <a:ext cx="11557000" cy="1181100"/>
          </a:xfrm>
          <a:prstGeom prst="rect">
            <a:avLst/>
          </a:prstGeom>
        </p:spPr>
        <p:txBody>
          <a:bodyPr anchor="ctr" rtlCol="false" lIns="0" tIns="169333" rIns="0" bIns="169333"/>
          <a:lstStyle/>
          <a:p>
            <a:pPr algn="ctr" lvl="0">
              <a:lnSpc>
                <a:spcPct val="83000"/>
              </a:lnSpc>
            </a:pPr>
            <a:r>
              <a:rPr lang="en-US" sz="6666" b="false" i="false" u="none" strike="noStrike" spc="-200" cap="all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R</a:t>
            </a:r>
            <a:r>
              <a:rPr lang="en-US" sz="6666" b="false" i="false" u="none" strike="noStrike" spc="-2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ead </a:t>
            </a:r>
            <a:r>
              <a:rPr lang="en-US" sz="6666" b="false" i="false" u="none" strike="noStrike" spc="-200" cap="all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시스템콜 트러블슈팅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273800" y="7708900"/>
            <a:ext cx="11480800" cy="825500"/>
          </a:xfrm>
          <a:prstGeom prst="rect">
            <a:avLst/>
          </a:prstGeom>
        </p:spPr>
        <p:txBody>
          <a:bodyPr anchor="ctr" rtlCol="false" lIns="0" tIns="118533" rIns="0" bIns="118533"/>
          <a:lstStyle/>
          <a:p>
            <a:pPr algn="ctr" lvl="0">
              <a:lnSpc>
                <a:spcPct val="83000"/>
              </a:lnSpc>
            </a:pPr>
            <a:r>
              <a:rPr lang="en-US" sz="4666" b="false" i="false" u="none" strike="noStrike" spc="-200" cap="all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정찬빈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CFC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11200" y="495300"/>
            <a:ext cx="279400" cy="279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08000" y="495300"/>
            <a:ext cx="279400" cy="279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58800" y="13157200"/>
            <a:ext cx="23266400" cy="254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4762500" y="1485900"/>
            <a:ext cx="14986000" cy="1422400"/>
          </a:xfrm>
          <a:prstGeom prst="rect">
            <a:avLst/>
          </a:prstGeom>
        </p:spPr>
        <p:txBody>
          <a:bodyPr anchor="ctr" rtlCol="false" lIns="0" tIns="202460" rIns="0" bIns="202460"/>
          <a:lstStyle/>
          <a:p>
            <a:pPr algn="ctr" lvl="0">
              <a:lnSpc>
                <a:spcPct val="83000"/>
              </a:lnSpc>
            </a:pPr>
            <a:r>
              <a:rPr lang="en-US" sz="7970" b="false" i="false" u="none" strike="noStrike" spc="-300">
                <a:solidFill>
                  <a:srgbClr val="04CC81"/>
                </a:solidFill>
                <a:latin typeface="Pretendard Bold"/>
                <a:ea typeface="Pretendard Bold"/>
                <a:cs typeface="Pretendard Bold"/>
              </a:rPr>
              <a:t>read 시스템콜 구현목표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243300" y="4445000"/>
            <a:ext cx="2070100" cy="28448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4914900" y="9779000"/>
            <a:ext cx="16357600" cy="1371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3733" b="fals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파일에서 실제로 읽은 바이트 수( 파일 끝에 도달했을 때)를 반환하거나</a:t>
            </a:r>
          </a:p>
          <a:p>
            <a:pPr algn="l" lvl="0">
              <a:lnSpc>
                <a:spcPct val="124499"/>
              </a:lnSpc>
            </a:pPr>
            <a:r>
              <a:rPr lang="en-US" sz="3733" b="fals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파일을 읽을 수 없으면 0을 반환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3063200" y="266700"/>
            <a:ext cx="5549900" cy="444500"/>
          </a:xfrm>
          <a:prstGeom prst="rect">
            <a:avLst/>
          </a:prstGeom>
        </p:spPr>
        <p:txBody>
          <a:bodyPr anchor="ctr" rtlCol="false" lIns="0" tIns="35395" rIns="0" bIns="35395"/>
          <a:lstStyle/>
          <a:p>
            <a:pPr algn="l" lvl="0">
              <a:lnSpc>
                <a:spcPct val="97940"/>
              </a:lnSpc>
            </a:pPr>
            <a:r>
              <a:rPr lang="en-US" sz="2533" b="false" i="false" u="none" strike="noStrike" spc="-200" cap="all">
                <a:solidFill>
                  <a:srgbClr val="161616">
                    <a:alpha val="41176"/>
                  </a:srgbClr>
                </a:solidFill>
                <a:latin typeface="Pretendard Light"/>
                <a:ea typeface="Pretendard Light"/>
                <a:cs typeface="Pretendard Light"/>
              </a:rPr>
              <a:t>정찬빈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737100" y="4229100"/>
            <a:ext cx="15024100" cy="44704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CFC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11200" y="495300"/>
            <a:ext cx="279400" cy="279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08000" y="495300"/>
            <a:ext cx="279400" cy="279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58800" y="13157200"/>
            <a:ext cx="23266400" cy="254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4699000" y="63500"/>
            <a:ext cx="14986000" cy="1422400"/>
          </a:xfrm>
          <a:prstGeom prst="rect">
            <a:avLst/>
          </a:prstGeom>
        </p:spPr>
        <p:txBody>
          <a:bodyPr anchor="ctr" rtlCol="false" lIns="0" tIns="202460" rIns="0" bIns="202460"/>
          <a:lstStyle/>
          <a:p>
            <a:pPr algn="ctr" lvl="0">
              <a:lnSpc>
                <a:spcPct val="83000"/>
              </a:lnSpc>
            </a:pPr>
            <a:r>
              <a:rPr lang="en-US" sz="7970" b="false" i="false" u="none" strike="noStrike" spc="-300">
                <a:solidFill>
                  <a:srgbClr val="04CC81"/>
                </a:solidFill>
                <a:latin typeface="Pretendard Bold"/>
                <a:ea typeface="Pretendard Bold"/>
                <a:cs typeface="Pretendard Bold"/>
              </a:rPr>
              <a:t>read 시스템콜 구현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3063200" y="266700"/>
            <a:ext cx="5549900" cy="444500"/>
          </a:xfrm>
          <a:prstGeom prst="rect">
            <a:avLst/>
          </a:prstGeom>
        </p:spPr>
        <p:txBody>
          <a:bodyPr anchor="ctr" rtlCol="false" lIns="0" tIns="35395" rIns="0" bIns="35395"/>
          <a:lstStyle/>
          <a:p>
            <a:pPr algn="l" lvl="0">
              <a:lnSpc>
                <a:spcPct val="97940"/>
              </a:lnSpc>
            </a:pPr>
            <a:r>
              <a:rPr lang="en-US" sz="2533" b="false" i="false" u="none" strike="noStrike" spc="-200" cap="all">
                <a:solidFill>
                  <a:srgbClr val="161616">
                    <a:alpha val="41176"/>
                  </a:srgbClr>
                </a:solidFill>
                <a:latin typeface="Pretendard Light"/>
                <a:ea typeface="Pretendard Light"/>
                <a:cs typeface="Pretendard Light"/>
              </a:rPr>
              <a:t>정찬빈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331200" y="1752600"/>
            <a:ext cx="7708900" cy="11747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CFC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11200" y="495300"/>
            <a:ext cx="279400" cy="279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08000" y="495300"/>
            <a:ext cx="279400" cy="279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58800" y="13157200"/>
            <a:ext cx="23266400" cy="254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4749800" y="1244600"/>
            <a:ext cx="14884400" cy="1016000"/>
          </a:xfrm>
          <a:prstGeom prst="rect">
            <a:avLst/>
          </a:prstGeom>
        </p:spPr>
        <p:txBody>
          <a:bodyPr anchor="ctr" rtlCol="false" lIns="0" tIns="144886" rIns="0" bIns="144886"/>
          <a:lstStyle/>
          <a:p>
            <a:pPr algn="ctr" lvl="0">
              <a:lnSpc>
                <a:spcPct val="83000"/>
              </a:lnSpc>
            </a:pPr>
            <a:r>
              <a:rPr lang="en-US" sz="5704" b="false" i="false" u="none" strike="noStrike" spc="-2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read-normal 테스트 실행 시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860800" y="7645400"/>
            <a:ext cx="18148300" cy="1600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3733" b="tru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처음에는 read 시스템콜의 return 값, 즉 파일에서 실제로 읽은 바이트가 8바이트로 반환되는 거라고 예상</a:t>
            </a:r>
          </a:p>
          <a:p>
            <a:pPr algn="l" lvl="0">
              <a:lnSpc>
                <a:spcPct val="124499"/>
              </a:lnSpc>
            </a:pPr>
            <a:r>
              <a:rPr lang="en-US" sz="3733" b="tru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-&gt; 하지만 디버깅 결과 read 시스템 콜의 return 값은 373바이트로 문제가 없었음</a:t>
            </a:r>
          </a:p>
          <a:p>
            <a:pPr algn="l" lvl="0">
              <a:lnSpc>
                <a:spcPct val="124499"/>
              </a:lnSpc>
            </a:pPr>
            <a:r>
              <a:rPr lang="en-US" sz="533" b="false" i="false" u="none" strike="noStrike" spc="-1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/>
            </a:r>
          </a:p>
          <a:p>
            <a:pPr algn="l" lvl="0">
              <a:lnSpc>
                <a:spcPct val="124499"/>
              </a:lnSpc>
            </a:pPr>
            <a:r>
              <a:rPr lang="en-US" sz="533" b="false" i="false" u="none" strike="noStrike" spc="-1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/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3063200" y="266700"/>
            <a:ext cx="5549900" cy="444500"/>
          </a:xfrm>
          <a:prstGeom prst="rect">
            <a:avLst/>
          </a:prstGeom>
        </p:spPr>
        <p:txBody>
          <a:bodyPr anchor="ctr" rtlCol="false" lIns="0" tIns="35395" rIns="0" bIns="35395"/>
          <a:lstStyle/>
          <a:p>
            <a:pPr algn="l" lvl="0">
              <a:lnSpc>
                <a:spcPct val="97940"/>
              </a:lnSpc>
            </a:pPr>
            <a:r>
              <a:rPr lang="en-US" sz="2533" b="false" i="false" u="none" strike="noStrike" spc="-200" cap="all">
                <a:solidFill>
                  <a:srgbClr val="161616">
                    <a:alpha val="41176"/>
                  </a:srgbClr>
                </a:solidFill>
                <a:latin typeface="Pretendard Light"/>
                <a:ea typeface="Pretendard Light"/>
                <a:cs typeface="Pretendard Light"/>
              </a:rPr>
              <a:t>정찬빈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054600" y="4165600"/>
            <a:ext cx="14465300" cy="18796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2755900" y="3086100"/>
            <a:ext cx="20358100" cy="660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3733" b="tru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테스트 케이스 목표 : sample.txt 파일을 열어서 그 내용이 sample 변수에 들어 있는 데이터와 정확히 같은지 검사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CFC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11200" y="495300"/>
            <a:ext cx="279400" cy="279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08000" y="495300"/>
            <a:ext cx="279400" cy="279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58800" y="13157200"/>
            <a:ext cx="23266400" cy="254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4762500" y="1485900"/>
            <a:ext cx="14973300" cy="1422400"/>
          </a:xfrm>
          <a:prstGeom prst="rect">
            <a:avLst/>
          </a:prstGeom>
        </p:spPr>
        <p:txBody>
          <a:bodyPr anchor="ctr" rtlCol="false" lIns="0" tIns="202460" rIns="0" bIns="202460"/>
          <a:lstStyle/>
          <a:p>
            <a:pPr algn="ctr" lvl="0">
              <a:lnSpc>
                <a:spcPct val="83000"/>
              </a:lnSpc>
            </a:pPr>
            <a:r>
              <a:rPr lang="en-US" sz="7970" b="false" i="false" u="none" strike="noStrike" spc="-300">
                <a:solidFill>
                  <a:srgbClr val="04CC81"/>
                </a:solidFill>
                <a:latin typeface="Pretendard Bold"/>
                <a:ea typeface="Pretendard Bold"/>
                <a:cs typeface="Pretendard Bold"/>
              </a:rPr>
              <a:t>문제 원인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243300" y="4445000"/>
            <a:ext cx="2070100" cy="28448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6032500" y="9372600"/>
            <a:ext cx="17056100" cy="3505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3733" b="false" i="false" u="none" strike="noStrike" spc="-200">
                <a:solidFill>
                  <a:srgbClr val="04CC81"/>
                </a:solidFill>
                <a:latin typeface="Pretendard Medium"/>
                <a:ea typeface="Pretendard Medium"/>
                <a:cs typeface="Pretendard Medium"/>
              </a:rPr>
              <a:t/>
            </a:r>
          </a:p>
          <a:p>
            <a:pPr algn="l" lvl="0">
              <a:lnSpc>
                <a:spcPct val="124499"/>
              </a:lnSpc>
            </a:pPr>
            <a:r>
              <a:rPr lang="en-US" sz="3733" b="false" i="false" u="none" strike="noStrike" spc="-200">
                <a:solidFill>
                  <a:srgbClr val="04CC81"/>
                </a:solidFill>
                <a:latin typeface="Pretendard Medium"/>
                <a:ea typeface="Pretendard Medium"/>
                <a:cs typeface="Pretendard Medium"/>
              </a:rPr>
              <a:t>filesize 시스템 콜을 구현하지 않아서 발생하는 문제</a:t>
            </a:r>
          </a:p>
          <a:p>
            <a:pPr algn="l" lvl="0">
              <a:lnSpc>
                <a:spcPct val="124499"/>
              </a:lnSpc>
            </a:pPr>
            <a:r>
              <a:rPr lang="en-US" sz="3733" b="fals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/>
            </a:r>
          </a:p>
          <a:p>
            <a:pPr algn="l" lvl="0">
              <a:lnSpc>
                <a:spcPct val="124499"/>
              </a:lnSpc>
            </a:pPr>
            <a:r>
              <a:rPr lang="en-US" sz="3733" b="fals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=&gt; 이 테스트케이스에서는 file_size(실제 파일 크기)와 size(실제 읽어야 하는 크기)가 같아야 통과</a:t>
            </a:r>
          </a:p>
          <a:p>
            <a:pPr algn="l" lvl="0">
              <a:lnSpc>
                <a:spcPct val="124499"/>
              </a:lnSpc>
            </a:pPr>
            <a:r>
              <a:rPr lang="en-US" sz="3733" b="fals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=&gt; 제대로된 file_size를 구하려면 시스템콜 filesize 구현해야 함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3063200" y="266700"/>
            <a:ext cx="5549900" cy="444500"/>
          </a:xfrm>
          <a:prstGeom prst="rect">
            <a:avLst/>
          </a:prstGeom>
        </p:spPr>
        <p:txBody>
          <a:bodyPr anchor="ctr" rtlCol="false" lIns="0" tIns="35395" rIns="0" bIns="35395"/>
          <a:lstStyle/>
          <a:p>
            <a:pPr algn="l" lvl="0">
              <a:lnSpc>
                <a:spcPct val="97940"/>
              </a:lnSpc>
            </a:pPr>
            <a:r>
              <a:rPr lang="en-US" sz="2533" b="false" i="false" u="none" strike="noStrike" spc="-200" cap="all">
                <a:solidFill>
                  <a:srgbClr val="161616">
                    <a:alpha val="41176"/>
                  </a:srgbClr>
                </a:solidFill>
                <a:latin typeface="Pretendard Light"/>
                <a:ea typeface="Pretendard Light"/>
                <a:cs typeface="Pretendard Light"/>
              </a:rPr>
              <a:t>정찬빈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032500" y="3873500"/>
            <a:ext cx="12319000" cy="57023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743700" y="7658100"/>
            <a:ext cx="10528300" cy="1905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CFC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11200" y="495300"/>
            <a:ext cx="279400" cy="279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08000" y="495300"/>
            <a:ext cx="279400" cy="279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58800" y="13157200"/>
            <a:ext cx="23266400" cy="254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4762500" y="1485900"/>
            <a:ext cx="14973300" cy="1422400"/>
          </a:xfrm>
          <a:prstGeom prst="rect">
            <a:avLst/>
          </a:prstGeom>
        </p:spPr>
        <p:txBody>
          <a:bodyPr anchor="ctr" rtlCol="false" lIns="0" tIns="202460" rIns="0" bIns="202460"/>
          <a:lstStyle/>
          <a:p>
            <a:pPr algn="ctr" lvl="0">
              <a:lnSpc>
                <a:spcPct val="83000"/>
              </a:lnSpc>
            </a:pPr>
            <a:r>
              <a:rPr lang="en-US" sz="7970" b="false" i="false" u="none" strike="noStrike" spc="-300">
                <a:solidFill>
                  <a:srgbClr val="04CC81"/>
                </a:solidFill>
                <a:latin typeface="Pretendard Bold"/>
                <a:ea typeface="Pretendard Bold"/>
                <a:cs typeface="Pretendard Bold"/>
              </a:rPr>
              <a:t>문제 해결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416800" y="9029700"/>
            <a:ext cx="16357600" cy="2794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3733" b="fals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filesize 시스템 콜로 실제 파일의 크기 반환하는 것을 구현하였고,</a:t>
            </a:r>
          </a:p>
          <a:p>
            <a:pPr algn="l" lvl="0">
              <a:lnSpc>
                <a:spcPct val="124499"/>
              </a:lnSpc>
            </a:pPr>
            <a:r>
              <a:rPr lang="en-US" sz="3733" b="fals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테스트코드에서 filesize와 size의 크기가 같음이 확인되어</a:t>
            </a:r>
          </a:p>
          <a:p>
            <a:pPr algn="l" lvl="0">
              <a:lnSpc>
                <a:spcPct val="124499"/>
              </a:lnSpc>
            </a:pPr>
            <a:r>
              <a:rPr lang="en-US" sz="3733" b="fals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/>
            </a:r>
          </a:p>
          <a:p>
            <a:pPr algn="l" lvl="0">
              <a:lnSpc>
                <a:spcPct val="124499"/>
              </a:lnSpc>
            </a:pPr>
            <a:r>
              <a:rPr lang="en-US" sz="3733" b="fals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-&gt; 테스트 통과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3063200" y="266700"/>
            <a:ext cx="5549900" cy="444500"/>
          </a:xfrm>
          <a:prstGeom prst="rect">
            <a:avLst/>
          </a:prstGeom>
        </p:spPr>
        <p:txBody>
          <a:bodyPr anchor="ctr" rtlCol="false" lIns="0" tIns="35395" rIns="0" bIns="35395"/>
          <a:lstStyle/>
          <a:p>
            <a:pPr algn="l" lvl="0">
              <a:lnSpc>
                <a:spcPct val="97940"/>
              </a:lnSpc>
            </a:pPr>
            <a:r>
              <a:rPr lang="en-US" sz="2533" b="false" i="false" u="none" strike="noStrike" spc="-200" cap="all">
                <a:solidFill>
                  <a:srgbClr val="161616">
                    <a:alpha val="41176"/>
                  </a:srgbClr>
                </a:solidFill>
                <a:latin typeface="Pretendard Light"/>
                <a:ea typeface="Pretendard Light"/>
                <a:cs typeface="Pretendard Light"/>
              </a:rPr>
              <a:t>정찬빈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093700" y="4445000"/>
            <a:ext cx="9220200" cy="3251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485900" y="4775200"/>
            <a:ext cx="9461500" cy="25781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bg>
      <p:bgPr>
        <a:solidFill>
          <a:srgbClr val="04CC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235700" y="5880100"/>
            <a:ext cx="11557000" cy="1181100"/>
          </a:xfrm>
          <a:prstGeom prst="rect">
            <a:avLst/>
          </a:prstGeom>
        </p:spPr>
        <p:txBody>
          <a:bodyPr anchor="ctr" rtlCol="false" lIns="0" tIns="169333" rIns="0" bIns="169333"/>
          <a:lstStyle/>
          <a:p>
            <a:pPr algn="ctr" lvl="0">
              <a:lnSpc>
                <a:spcPct val="83000"/>
              </a:lnSpc>
            </a:pPr>
            <a:r>
              <a:rPr lang="en-US" sz="6666" b="false" i="false" u="none" strike="noStrike" spc="-2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FD Table 자원 할당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273800" y="7708900"/>
            <a:ext cx="11480800" cy="825500"/>
          </a:xfrm>
          <a:prstGeom prst="rect">
            <a:avLst/>
          </a:prstGeom>
        </p:spPr>
        <p:txBody>
          <a:bodyPr anchor="ctr" rtlCol="false" lIns="0" tIns="118533" rIns="0" bIns="118533"/>
          <a:lstStyle/>
          <a:p>
            <a:pPr algn="ctr" lvl="0">
              <a:lnSpc>
                <a:spcPct val="83000"/>
              </a:lnSpc>
            </a:pPr>
            <a:r>
              <a:rPr lang="en-US" sz="4666" b="false" i="false" u="none" strike="noStrike" spc="-200" cap="all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최영빈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CFC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62300" y="1485900"/>
            <a:ext cx="18643600" cy="1422400"/>
          </a:xfrm>
          <a:prstGeom prst="rect">
            <a:avLst/>
          </a:prstGeom>
        </p:spPr>
        <p:txBody>
          <a:bodyPr anchor="ctr" rtlCol="false" lIns="0" tIns="202460" rIns="0" bIns="202460"/>
          <a:lstStyle/>
          <a:p>
            <a:pPr algn="ctr" lvl="0">
              <a:lnSpc>
                <a:spcPct val="83000"/>
              </a:lnSpc>
            </a:pPr>
            <a:r>
              <a:rPr lang="en-US" sz="7970" b="false" i="false" u="none" strike="noStrike" spc="-300">
                <a:solidFill>
                  <a:srgbClr val="161616"/>
                </a:solidFill>
                <a:latin typeface="Pretendard Bold"/>
                <a:ea typeface="Pretendard Bold"/>
                <a:cs typeface="Pretendard Bold"/>
              </a:rPr>
              <a:t>왜 fd_table을 fork()에서 복사해야 하는가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11200" y="495300"/>
            <a:ext cx="279400" cy="279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08000" y="495300"/>
            <a:ext cx="279400" cy="279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58800" y="13157200"/>
            <a:ext cx="23266400" cy="254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23063200" y="266700"/>
            <a:ext cx="5549900" cy="444500"/>
          </a:xfrm>
          <a:prstGeom prst="rect">
            <a:avLst/>
          </a:prstGeom>
        </p:spPr>
        <p:txBody>
          <a:bodyPr anchor="ctr" rtlCol="false" lIns="0" tIns="35395" rIns="0" bIns="35395"/>
          <a:lstStyle/>
          <a:p>
            <a:pPr algn="l" lvl="0">
              <a:lnSpc>
                <a:spcPct val="97940"/>
              </a:lnSpc>
            </a:pPr>
            <a:r>
              <a:rPr lang="en-US" sz="2533" b="false" i="false" u="none" strike="noStrike" spc="-200" cap="all">
                <a:solidFill>
                  <a:srgbClr val="161616">
                    <a:alpha val="41176"/>
                  </a:srgbClr>
                </a:solidFill>
                <a:latin typeface="Pretendard Light"/>
                <a:ea typeface="Pretendard Light"/>
                <a:cs typeface="Pretendard Light"/>
              </a:rPr>
              <a:t>최영빈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441700" y="3568700"/>
            <a:ext cx="18084800" cy="762000"/>
          </a:xfrm>
          <a:prstGeom prst="rect">
            <a:avLst/>
          </a:prstGeom>
        </p:spPr>
        <p:txBody>
          <a:bodyPr anchor="ctr" rtlCol="false" lIns="0" tIns="65024" rIns="0" bIns="65024"/>
          <a:lstStyle/>
          <a:p>
            <a:pPr algn="ctr" lvl="0">
              <a:lnSpc>
                <a:spcPct val="96279"/>
              </a:lnSpc>
            </a:pPr>
            <a:r>
              <a:rPr lang="en-US" sz="4266" b="false" i="false" u="none" strike="noStrike" spc="-300">
                <a:solidFill>
                  <a:srgbClr val="161616"/>
                </a:solidFill>
                <a:latin typeface="Pretendard Regular"/>
                <a:ea typeface="Pretendard Regular"/>
                <a:cs typeface="Pretendard Regular"/>
              </a:rPr>
              <a:t>fork는 부모 프로세스의 </a:t>
            </a:r>
            <a:r>
              <a:rPr lang="en-US" sz="4266" b="true" i="false" u="none" strike="noStrike" spc="-300">
                <a:solidFill>
                  <a:srgbClr val="161616"/>
                </a:solidFill>
                <a:latin typeface="Pretendard Regular"/>
                <a:ea typeface="Pretendard Regular"/>
                <a:cs typeface="Pretendard Regular"/>
              </a:rPr>
              <a:t>현재 실행 상태</a:t>
            </a:r>
            <a:r>
              <a:rPr lang="en-US" sz="4266" b="false" i="false" u="none" strike="noStrike" spc="-300">
                <a:solidFill>
                  <a:srgbClr val="161616"/>
                </a:solidFill>
                <a:latin typeface="Pretendard Regular"/>
                <a:ea typeface="Pretendard Regular"/>
                <a:cs typeface="Pretendard Regular"/>
              </a:rPr>
              <a:t>를 </a:t>
            </a:r>
            <a:r>
              <a:rPr lang="en-US" sz="4266" b="true" i="false" u="none" strike="noStrike" spc="-300">
                <a:solidFill>
                  <a:srgbClr val="161616"/>
                </a:solidFill>
                <a:latin typeface="Pretendard Regular"/>
                <a:ea typeface="Pretendard Regular"/>
                <a:cs typeface="Pretendard Regular"/>
              </a:rPr>
              <a:t>복제</a:t>
            </a:r>
            <a:r>
              <a:rPr lang="en-US" sz="4266" b="false" i="false" u="none" strike="noStrike" spc="-300">
                <a:solidFill>
                  <a:srgbClr val="161616"/>
                </a:solidFill>
                <a:latin typeface="Pretendard Regular"/>
                <a:ea typeface="Pretendard Regular"/>
                <a:cs typeface="Pretendard Regular"/>
              </a:rPr>
              <a:t>해 자식 프로세스를 만드는 시스템 콜이다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62100" y="4445000"/>
            <a:ext cx="21831300" cy="762000"/>
          </a:xfrm>
          <a:prstGeom prst="rect">
            <a:avLst/>
          </a:prstGeom>
        </p:spPr>
        <p:txBody>
          <a:bodyPr anchor="ctr" rtlCol="false" lIns="0" tIns="65024" rIns="0" bIns="65024"/>
          <a:lstStyle/>
          <a:p>
            <a:pPr algn="ctr" lvl="0">
              <a:lnSpc>
                <a:spcPct val="96279"/>
              </a:lnSpc>
            </a:pPr>
            <a:r>
              <a:rPr lang="en-US" sz="4266" b="true" i="false" u="none" strike="noStrike" spc="-3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→ 자식이 </a:t>
            </a:r>
            <a:r>
              <a:rPr lang="en-US" sz="4266" b="true" i="false" u="none" strike="noStrike" spc="-300">
                <a:solidFill>
                  <a:srgbClr val="04CC81"/>
                </a:solidFill>
                <a:latin typeface="Pretendard Medium"/>
                <a:ea typeface="Pretendard Medium"/>
                <a:cs typeface="Pretendard Medium"/>
              </a:rPr>
              <a:t>부모가 이미 열어 두고 사용 중인 파일 상태</a:t>
            </a:r>
            <a:r>
              <a:rPr lang="en-US" sz="4266" b="true" i="false" u="none" strike="noStrike" spc="-3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를 이어받아야 하기 때문에 </a:t>
            </a:r>
            <a:r>
              <a:rPr lang="en-US" sz="4266" b="true" i="false" u="none" strike="noStrike" spc="-300">
                <a:solidFill>
                  <a:srgbClr val="04CC81"/>
                </a:solidFill>
                <a:latin typeface="Pretendard Medium"/>
                <a:ea typeface="Pretendard Medium"/>
                <a:cs typeface="Pretendard Medium"/>
              </a:rPr>
              <a:t>fd_table</a:t>
            </a:r>
            <a:r>
              <a:rPr lang="en-US" sz="4266" b="true" i="false" u="none" strike="noStrike" spc="-3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 복제가 필요하다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743700" y="6565900"/>
            <a:ext cx="11391900" cy="66040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6731000" y="5803900"/>
            <a:ext cx="11557000" cy="660400"/>
          </a:xfrm>
          <a:prstGeom prst="rect">
            <a:avLst/>
          </a:prstGeom>
        </p:spPr>
        <p:txBody>
          <a:bodyPr anchor="ctr" rtlCol="false" lIns="0" tIns="56896" rIns="0" bIns="56896"/>
          <a:lstStyle/>
          <a:p>
            <a:pPr algn="l" lvl="0">
              <a:lnSpc>
                <a:spcPct val="96279"/>
              </a:lnSpc>
            </a:pPr>
            <a:r>
              <a:rPr lang="en-US" sz="3733" b="false" i="false" u="none" strike="noStrike" spc="-200">
                <a:solidFill>
                  <a:srgbClr val="04CC81"/>
                </a:solidFill>
                <a:latin typeface="Pretendard Medium"/>
                <a:ea typeface="Pretendard Medium"/>
                <a:cs typeface="Pretendard Medium"/>
              </a:rPr>
              <a:t>__do_fork()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CFC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870200" y="1485900"/>
            <a:ext cx="18643600" cy="1422400"/>
          </a:xfrm>
          <a:prstGeom prst="rect">
            <a:avLst/>
          </a:prstGeom>
        </p:spPr>
        <p:txBody>
          <a:bodyPr anchor="ctr" rtlCol="false" lIns="0" tIns="202460" rIns="0" bIns="202460"/>
          <a:lstStyle/>
          <a:p>
            <a:pPr algn="ctr" lvl="0">
              <a:lnSpc>
                <a:spcPct val="83000"/>
              </a:lnSpc>
            </a:pPr>
            <a:r>
              <a:rPr lang="en-US" sz="7970" b="false" i="false" u="none" strike="noStrike" spc="-300">
                <a:solidFill>
                  <a:srgbClr val="161616"/>
                </a:solidFill>
                <a:latin typeface="Pretendard Bold"/>
                <a:ea typeface="Pretendard Bold"/>
                <a:cs typeface="Pretendard Bold"/>
              </a:rPr>
              <a:t>fd_table 복제가 </a:t>
            </a:r>
            <a:r>
              <a:rPr lang="en-US" sz="7970" b="false" i="false" u="none" strike="noStrike" spc="-300">
                <a:solidFill>
                  <a:srgbClr val="04CC81"/>
                </a:solidFill>
                <a:latin typeface="Pretendard Bold"/>
                <a:ea typeface="Pretendard Bold"/>
                <a:cs typeface="Pretendard Bold"/>
              </a:rPr>
              <a:t>불안정</a:t>
            </a:r>
            <a:r>
              <a:rPr lang="en-US" sz="7970" b="false" i="false" u="none" strike="noStrike" spc="-300">
                <a:solidFill>
                  <a:srgbClr val="161616"/>
                </a:solidFill>
                <a:latin typeface="Pretendard Bold"/>
                <a:ea typeface="Pretendard Bold"/>
                <a:cs typeface="Pretendard Bold"/>
              </a:rPr>
              <a:t>한가?라는 의심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11200" y="495300"/>
            <a:ext cx="279400" cy="279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08000" y="495300"/>
            <a:ext cx="279400" cy="279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58800" y="13157200"/>
            <a:ext cx="23266400" cy="254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23063200" y="266700"/>
            <a:ext cx="5549900" cy="444500"/>
          </a:xfrm>
          <a:prstGeom prst="rect">
            <a:avLst/>
          </a:prstGeom>
        </p:spPr>
        <p:txBody>
          <a:bodyPr anchor="ctr" rtlCol="false" lIns="0" tIns="35395" rIns="0" bIns="35395"/>
          <a:lstStyle/>
          <a:p>
            <a:pPr algn="l" lvl="0">
              <a:lnSpc>
                <a:spcPct val="97940"/>
              </a:lnSpc>
            </a:pPr>
            <a:r>
              <a:rPr lang="en-US" sz="2533" b="false" i="false" u="none" strike="noStrike" spc="-200" cap="all">
                <a:solidFill>
                  <a:srgbClr val="161616">
                    <a:alpha val="41176"/>
                  </a:srgbClr>
                </a:solidFill>
                <a:latin typeface="Pretendard Light"/>
                <a:ea typeface="Pretendard Light"/>
                <a:cs typeface="Pretendard Light"/>
              </a:rPr>
              <a:t>최영빈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489700" y="3873500"/>
            <a:ext cx="11353800" cy="21082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11366500" y="6540500"/>
            <a:ext cx="1663700" cy="13081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3441700" y="8458200"/>
            <a:ext cx="18084800" cy="762000"/>
          </a:xfrm>
          <a:prstGeom prst="rect">
            <a:avLst/>
          </a:prstGeom>
        </p:spPr>
        <p:txBody>
          <a:bodyPr anchor="ctr" rtlCol="false" lIns="0" tIns="65024" rIns="0" bIns="65024"/>
          <a:lstStyle/>
          <a:p>
            <a:pPr algn="ctr" lvl="0">
              <a:lnSpc>
                <a:spcPct val="96279"/>
              </a:lnSpc>
            </a:pPr>
            <a:r>
              <a:rPr lang="en-US" sz="4266" b="true" i="false" u="none" strike="noStrike" spc="-300">
                <a:solidFill>
                  <a:srgbClr val="161616"/>
                </a:solidFill>
                <a:latin typeface="Pretendard Regular"/>
                <a:ea typeface="Pretendard Regular"/>
                <a:cs typeface="Pretendard Regular"/>
              </a:rPr>
              <a:t>가설: 부모의 열린 파일 상태가 자식에게 완전하게 이어지지 않음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62100" y="9499600"/>
            <a:ext cx="21831300" cy="762000"/>
          </a:xfrm>
          <a:prstGeom prst="rect">
            <a:avLst/>
          </a:prstGeom>
        </p:spPr>
        <p:txBody>
          <a:bodyPr anchor="ctr" rtlCol="false" lIns="0" tIns="65024" rIns="0" bIns="65024"/>
          <a:lstStyle/>
          <a:p>
            <a:pPr algn="ctr" lvl="0">
              <a:lnSpc>
                <a:spcPct val="96279"/>
              </a:lnSpc>
            </a:pPr>
            <a:r>
              <a:rPr lang="en-US" sz="4266" b="true" i="false" u="none" strike="noStrike" spc="-3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→ 부모의 fd 상태를 보장하는 초기화 위치가 필요했음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CFC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870200" y="1485900"/>
            <a:ext cx="18643600" cy="1422400"/>
          </a:xfrm>
          <a:prstGeom prst="rect">
            <a:avLst/>
          </a:prstGeom>
        </p:spPr>
        <p:txBody>
          <a:bodyPr anchor="ctr" rtlCol="false" lIns="0" tIns="202460" rIns="0" bIns="202460"/>
          <a:lstStyle/>
          <a:p>
            <a:pPr algn="ctr" lvl="0">
              <a:lnSpc>
                <a:spcPct val="83000"/>
              </a:lnSpc>
            </a:pPr>
            <a:r>
              <a:rPr lang="en-US" sz="7970" b="false" i="false" u="none" strike="noStrike" spc="-300">
                <a:solidFill>
                  <a:srgbClr val="161616"/>
                </a:solidFill>
                <a:latin typeface="Pretendard Bold"/>
                <a:ea typeface="Pretendard Bold"/>
                <a:cs typeface="Pretendard Bold"/>
              </a:rPr>
              <a:t>process_init() 너 </a:t>
            </a:r>
            <a:r>
              <a:rPr lang="en-US" sz="7970" b="false" i="false" u="none" strike="noStrike" spc="-300">
                <a:solidFill>
                  <a:srgbClr val="04CC81"/>
                </a:solidFill>
                <a:latin typeface="Pretendard Bold"/>
                <a:ea typeface="Pretendard Bold"/>
                <a:cs typeface="Pretendard Bold"/>
              </a:rPr>
              <a:t>fd_table를 할당해라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11200" y="495300"/>
            <a:ext cx="279400" cy="279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08000" y="495300"/>
            <a:ext cx="279400" cy="279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58800" y="13157200"/>
            <a:ext cx="23266400" cy="254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23063200" y="266700"/>
            <a:ext cx="5549900" cy="444500"/>
          </a:xfrm>
          <a:prstGeom prst="rect">
            <a:avLst/>
          </a:prstGeom>
        </p:spPr>
        <p:txBody>
          <a:bodyPr anchor="ctr" rtlCol="false" lIns="0" tIns="35395" rIns="0" bIns="35395"/>
          <a:lstStyle/>
          <a:p>
            <a:pPr algn="l" lvl="0">
              <a:lnSpc>
                <a:spcPct val="97940"/>
              </a:lnSpc>
            </a:pPr>
            <a:r>
              <a:rPr lang="en-US" sz="2533" b="false" i="false" u="none" strike="noStrike" spc="-200" cap="all">
                <a:solidFill>
                  <a:srgbClr val="161616">
                    <a:alpha val="41176"/>
                  </a:srgbClr>
                </a:solidFill>
                <a:latin typeface="Pretendard Light"/>
                <a:ea typeface="Pretendard Light"/>
                <a:cs typeface="Pretendard Light"/>
              </a:rPr>
              <a:t>최영빈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162300" y="4165600"/>
            <a:ext cx="18097500" cy="787400"/>
          </a:xfrm>
          <a:prstGeom prst="rect">
            <a:avLst/>
          </a:prstGeom>
        </p:spPr>
        <p:txBody>
          <a:bodyPr anchor="ctr" rtlCol="false" lIns="0" tIns="67056" rIns="0" bIns="67056"/>
          <a:lstStyle/>
          <a:p>
            <a:pPr algn="ctr" lvl="0">
              <a:lnSpc>
                <a:spcPct val="96279"/>
              </a:lnSpc>
            </a:pPr>
            <a:r>
              <a:rPr lang="en-US" sz="4400" b="false" i="false" u="none" strike="noStrike" spc="-300">
                <a:solidFill>
                  <a:srgbClr val="161616"/>
                </a:solidFill>
                <a:latin typeface="Pretendard Regular"/>
                <a:ea typeface="Pretendard Regular"/>
                <a:cs typeface="Pretendard Regular"/>
              </a:rPr>
              <a:t>프로세스가 시작되는 또 다른 지점은 initd()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162300" y="5537200"/>
            <a:ext cx="18097500" cy="1435100"/>
          </a:xfrm>
          <a:prstGeom prst="rect">
            <a:avLst/>
          </a:prstGeom>
        </p:spPr>
        <p:txBody>
          <a:bodyPr anchor="ctr" rtlCol="false" lIns="0" tIns="67056" rIns="0" bIns="67056"/>
          <a:lstStyle/>
          <a:p>
            <a:pPr algn="ctr" lvl="0">
              <a:lnSpc>
                <a:spcPct val="96279"/>
              </a:lnSpc>
            </a:pPr>
            <a:r>
              <a:rPr lang="en-US" sz="4400" b="false" i="false" u="none" strike="noStrike" spc="-300">
                <a:solidFill>
                  <a:srgbClr val="161616"/>
                </a:solidFill>
                <a:latin typeface="Pretendard Regular"/>
                <a:ea typeface="Pretendard Regular"/>
                <a:cs typeface="Pretendard Regular"/>
              </a:rPr>
              <a:t>__do_fork()와 initd()
두 군데에서 fd_table을 할당하면 되겠다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314700" y="7543800"/>
            <a:ext cx="18097500" cy="787400"/>
          </a:xfrm>
          <a:prstGeom prst="rect">
            <a:avLst/>
          </a:prstGeom>
        </p:spPr>
        <p:txBody>
          <a:bodyPr anchor="ctr" rtlCol="false" lIns="0" tIns="67056" rIns="0" bIns="67056"/>
          <a:lstStyle/>
          <a:p>
            <a:pPr algn="ctr" lvl="0">
              <a:lnSpc>
                <a:spcPct val="96279"/>
              </a:lnSpc>
            </a:pPr>
            <a:r>
              <a:rPr lang="en-US" sz="4400" b="false" i="false" u="none" strike="noStrike" spc="-300">
                <a:solidFill>
                  <a:srgbClr val="161616"/>
                </a:solidFill>
                <a:latin typeface="Pretendard Regular"/>
                <a:ea typeface="Pretendard Regular"/>
                <a:cs typeface="Pretendard Regular"/>
              </a:rPr>
              <a:t>둘 다 process_init()을 호출하고 있어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971800" y="8915400"/>
            <a:ext cx="18097500" cy="787400"/>
          </a:xfrm>
          <a:prstGeom prst="rect">
            <a:avLst/>
          </a:prstGeom>
        </p:spPr>
        <p:txBody>
          <a:bodyPr anchor="ctr" rtlCol="false" lIns="0" tIns="67056" rIns="0" bIns="67056"/>
          <a:lstStyle/>
          <a:p>
            <a:pPr algn="ctr" lvl="0">
              <a:lnSpc>
                <a:spcPct val="96279"/>
              </a:lnSpc>
            </a:pPr>
            <a:r>
              <a:rPr lang="en-US" sz="4400" b="false" i="false" u="none" strike="noStrike" spc="-300">
                <a:solidFill>
                  <a:srgbClr val="161616"/>
                </a:solidFill>
                <a:latin typeface="Pretendard Regular"/>
                <a:ea typeface="Pretendard Regular"/>
                <a:cs typeface="Pretendard Regular"/>
              </a:rPr>
              <a:t>그렇다면...!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1282700" y="6565900"/>
            <a:ext cx="10604500" cy="66294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CFC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870200" y="1485900"/>
            <a:ext cx="18643600" cy="1422400"/>
          </a:xfrm>
          <a:prstGeom prst="rect">
            <a:avLst/>
          </a:prstGeom>
        </p:spPr>
        <p:txBody>
          <a:bodyPr anchor="ctr" rtlCol="false" lIns="0" tIns="202460" rIns="0" bIns="202460"/>
          <a:lstStyle/>
          <a:p>
            <a:pPr algn="ctr" lvl="0">
              <a:lnSpc>
                <a:spcPct val="83000"/>
              </a:lnSpc>
            </a:pPr>
            <a:r>
              <a:rPr lang="en-US" sz="7970" b="false" i="false" u="none" strike="noStrike" spc="-300">
                <a:solidFill>
                  <a:srgbClr val="161616"/>
                </a:solidFill>
                <a:latin typeface="Pretendard Bold"/>
                <a:ea typeface="Pretendard Bold"/>
                <a:cs typeface="Pretendard Bold"/>
              </a:rPr>
              <a:t>process_init() 너 </a:t>
            </a:r>
            <a:r>
              <a:rPr lang="en-US" sz="7970" b="false" i="false" u="none" strike="noStrike" spc="-300">
                <a:solidFill>
                  <a:srgbClr val="04CC81"/>
                </a:solidFill>
                <a:latin typeface="Pretendard Bold"/>
                <a:ea typeface="Pretendard Bold"/>
                <a:cs typeface="Pretendard Bold"/>
              </a:rPr>
              <a:t>fd_table를 할당해라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11200" y="495300"/>
            <a:ext cx="279400" cy="279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08000" y="495300"/>
            <a:ext cx="279400" cy="279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58800" y="13157200"/>
            <a:ext cx="23266400" cy="2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764000" y="7251700"/>
            <a:ext cx="6858000" cy="54610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6992600" y="9105900"/>
            <a:ext cx="6388100" cy="1739900"/>
          </a:xfrm>
          <a:prstGeom prst="rect">
            <a:avLst/>
          </a:prstGeom>
        </p:spPr>
        <p:txBody>
          <a:bodyPr anchor="ctr" rtlCol="false" lIns="0" tIns="81280" rIns="0" bIns="81280"/>
          <a:lstStyle/>
          <a:p>
            <a:pPr algn="ctr" lvl="0">
              <a:lnSpc>
                <a:spcPct val="96279"/>
              </a:lnSpc>
            </a:pPr>
            <a:r>
              <a:rPr lang="en-US" sz="5333" b="true" i="false" u="none" strike="noStrike" spc="-300">
                <a:solidFill>
                  <a:srgbClr val="04CC81"/>
                </a:solidFill>
                <a:latin typeface="Pretendard Medium"/>
                <a:ea typeface="Pretendard Medium"/>
                <a:cs typeface="Pretendard Medium"/>
              </a:rPr>
              <a:t>process_exec()</a:t>
            </a:r>
          </a:p>
          <a:p>
            <a:pPr algn="ctr" lvl="0">
              <a:lnSpc>
                <a:spcPct val="96279"/>
              </a:lnSpc>
            </a:pPr>
            <a:r>
              <a:rPr lang="en-US" sz="5333" b="true" i="false" u="none" strike="noStrike" spc="-300" cap="all">
                <a:solidFill>
                  <a:srgbClr val="04CC81"/>
                </a:solidFill>
                <a:latin typeface="Pretendard Medium"/>
                <a:ea typeface="Pretendard Medium"/>
                <a:cs typeface="Pretendard Medium"/>
              </a:rPr>
              <a:t>에서 하고 있는데?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3063200" y="266700"/>
            <a:ext cx="5549900" cy="444500"/>
          </a:xfrm>
          <a:prstGeom prst="rect">
            <a:avLst/>
          </a:prstGeom>
        </p:spPr>
        <p:txBody>
          <a:bodyPr anchor="ctr" rtlCol="false" lIns="0" tIns="35395" rIns="0" bIns="35395"/>
          <a:lstStyle/>
          <a:p>
            <a:pPr algn="l" lvl="0">
              <a:lnSpc>
                <a:spcPct val="97940"/>
              </a:lnSpc>
            </a:pPr>
            <a:r>
              <a:rPr lang="en-US" sz="2533" b="false" i="false" u="none" strike="noStrike" spc="-200" cap="all">
                <a:solidFill>
                  <a:srgbClr val="161616">
                    <a:alpha val="41176"/>
                  </a:srgbClr>
                </a:solidFill>
                <a:latin typeface="Pretendard Light"/>
                <a:ea typeface="Pretendard Light"/>
                <a:cs typeface="Pretendard Light"/>
              </a:rPr>
              <a:t>최영빈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162300" y="4165600"/>
            <a:ext cx="18097500" cy="787400"/>
          </a:xfrm>
          <a:prstGeom prst="rect">
            <a:avLst/>
          </a:prstGeom>
        </p:spPr>
        <p:txBody>
          <a:bodyPr anchor="ctr" rtlCol="false" lIns="0" tIns="67056" rIns="0" bIns="67056"/>
          <a:lstStyle/>
          <a:p>
            <a:pPr algn="ctr" lvl="0">
              <a:lnSpc>
                <a:spcPct val="96279"/>
              </a:lnSpc>
            </a:pPr>
            <a:r>
              <a:rPr lang="en-US" sz="4400" b="false" i="false" u="none" strike="noStrike" spc="-300">
                <a:solidFill>
                  <a:srgbClr val="161616"/>
                </a:solidFill>
                <a:latin typeface="Pretendard Regular"/>
                <a:ea typeface="Pretendard Regular"/>
                <a:cs typeface="Pretendard Regular"/>
              </a:rPr>
              <a:t>프로세스가 시작되는 또 다른 지점은 initd()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162300" y="5537200"/>
            <a:ext cx="18097500" cy="1435100"/>
          </a:xfrm>
          <a:prstGeom prst="rect">
            <a:avLst/>
          </a:prstGeom>
        </p:spPr>
        <p:txBody>
          <a:bodyPr anchor="ctr" rtlCol="false" lIns="0" tIns="67056" rIns="0" bIns="67056"/>
          <a:lstStyle/>
          <a:p>
            <a:pPr algn="ctr" lvl="0">
              <a:lnSpc>
                <a:spcPct val="96279"/>
              </a:lnSpc>
            </a:pPr>
            <a:r>
              <a:rPr lang="en-US" sz="4400" b="false" i="false" u="none" strike="noStrike" spc="-300">
                <a:solidFill>
                  <a:srgbClr val="161616"/>
                </a:solidFill>
                <a:latin typeface="Pretendard Regular"/>
                <a:ea typeface="Pretendard Regular"/>
                <a:cs typeface="Pretendard Regular"/>
              </a:rPr>
              <a:t>__do_fork()와 initd()
두 군데에서 fd_table을 할당하면 되겠다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314700" y="7543800"/>
            <a:ext cx="18097500" cy="787400"/>
          </a:xfrm>
          <a:prstGeom prst="rect">
            <a:avLst/>
          </a:prstGeom>
        </p:spPr>
        <p:txBody>
          <a:bodyPr anchor="ctr" rtlCol="false" lIns="0" tIns="67056" rIns="0" bIns="67056"/>
          <a:lstStyle/>
          <a:p>
            <a:pPr algn="ctr" lvl="0">
              <a:lnSpc>
                <a:spcPct val="96279"/>
              </a:lnSpc>
            </a:pPr>
            <a:r>
              <a:rPr lang="en-US" sz="4400" b="false" i="false" u="none" strike="noStrike" spc="-300">
                <a:solidFill>
                  <a:srgbClr val="161616"/>
                </a:solidFill>
                <a:latin typeface="Pretendard Regular"/>
                <a:ea typeface="Pretendard Regular"/>
                <a:cs typeface="Pretendard Regular"/>
              </a:rPr>
              <a:t>둘 다 process_init()을 호출하고 있어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971800" y="8915400"/>
            <a:ext cx="18097500" cy="787400"/>
          </a:xfrm>
          <a:prstGeom prst="rect">
            <a:avLst/>
          </a:prstGeom>
        </p:spPr>
        <p:txBody>
          <a:bodyPr anchor="ctr" rtlCol="false" lIns="0" tIns="67056" rIns="0" bIns="67056"/>
          <a:lstStyle/>
          <a:p>
            <a:pPr algn="ctr" lvl="0">
              <a:lnSpc>
                <a:spcPct val="96279"/>
              </a:lnSpc>
            </a:pPr>
            <a:r>
              <a:rPr lang="en-US" sz="4400" b="false" i="false" u="none" strike="noStrike" spc="-300">
                <a:solidFill>
                  <a:srgbClr val="161616"/>
                </a:solidFill>
                <a:latin typeface="Pretendard Regular"/>
                <a:ea typeface="Pretendard Regular"/>
                <a:cs typeface="Pretendard Regular"/>
              </a:rPr>
              <a:t>그렇다면...!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-1282700" y="6565900"/>
            <a:ext cx="10604500" cy="66294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CFC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21000" y="1701800"/>
            <a:ext cx="18554700" cy="990600"/>
          </a:xfrm>
          <a:prstGeom prst="rect">
            <a:avLst/>
          </a:prstGeom>
        </p:spPr>
        <p:txBody>
          <a:bodyPr anchor="ctr" rtlCol="false" lIns="0" tIns="142240" rIns="0" bIns="142240"/>
          <a:lstStyle/>
          <a:p>
            <a:pPr algn="ctr" lvl="0">
              <a:lnSpc>
                <a:spcPct val="83000"/>
              </a:lnSpc>
            </a:pPr>
            <a:r>
              <a:rPr lang="en-US" sz="5600" b="false" i="false" u="none" strike="noStrike" spc="-200">
                <a:solidFill>
                  <a:srgbClr val="161616"/>
                </a:solidFill>
                <a:latin typeface="Pretendard Bold"/>
                <a:ea typeface="Pretendard Bold"/>
                <a:cs typeface="Pretendard Bold"/>
              </a:rPr>
              <a:t>논의 포인트 : 어떻게 분리하고 어디에 둘 것인가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11200" y="495300"/>
            <a:ext cx="279400" cy="279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08000" y="495300"/>
            <a:ext cx="279400" cy="279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58800" y="13157200"/>
            <a:ext cx="23266400" cy="254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23063200" y="266700"/>
            <a:ext cx="5549900" cy="444500"/>
          </a:xfrm>
          <a:prstGeom prst="rect">
            <a:avLst/>
          </a:prstGeom>
        </p:spPr>
        <p:txBody>
          <a:bodyPr anchor="ctr" rtlCol="false" lIns="0" tIns="35395" rIns="0" bIns="35395"/>
          <a:lstStyle/>
          <a:p>
            <a:pPr algn="l" lvl="0">
              <a:lnSpc>
                <a:spcPct val="97940"/>
              </a:lnSpc>
            </a:pPr>
            <a:r>
              <a:rPr lang="en-US" sz="2533" b="false" i="false" u="none" strike="noStrike" spc="-200" cap="all">
                <a:solidFill>
                  <a:srgbClr val="161616">
                    <a:alpha val="41176"/>
                  </a:srgbClr>
                </a:solidFill>
                <a:latin typeface="Pretendard Light"/>
                <a:ea typeface="Pretendard Light"/>
                <a:cs typeface="Pretendard Light"/>
              </a:rPr>
              <a:t>최영빈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77900" y="3810000"/>
            <a:ext cx="10541000" cy="88265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562100" y="9410700"/>
            <a:ext cx="9372600" cy="2921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3733" b="fals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- process_init()은 fd_table 할당만 맡기기엔 
함수 책임이 모호함</a:t>
            </a:r>
          </a:p>
          <a:p>
            <a:pPr algn="ctr" lvl="0">
              <a:lnSpc>
                <a:spcPct val="124499"/>
              </a:lnSpc>
            </a:pPr>
            <a:r>
              <a:rPr lang="en-US" sz="666" b="false" i="false" u="none" strike="noStrike" spc="-1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 </a:t>
            </a:r>
          </a:p>
          <a:p>
            <a:pPr algn="ctr" lvl="0">
              <a:lnSpc>
                <a:spcPct val="124499"/>
              </a:lnSpc>
            </a:pPr>
            <a:r>
              <a:rPr lang="en-US" sz="3733" b="fals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- fd_table 할당은 실패 가능성이 있는 작업이므로,
bool 반환 helper로 분리하면 예외 처리에 유리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851400" y="3327400"/>
            <a:ext cx="2819400" cy="11557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4800600" y="3429000"/>
            <a:ext cx="2908300" cy="952500"/>
          </a:xfrm>
          <a:prstGeom prst="rect">
            <a:avLst/>
          </a:prstGeom>
        </p:spPr>
        <p:txBody>
          <a:bodyPr anchor="ctr" rtlCol="false" lIns="0" tIns="81280" rIns="0" bIns="81280"/>
          <a:lstStyle/>
          <a:p>
            <a:pPr algn="ctr" lvl="0">
              <a:lnSpc>
                <a:spcPct val="96279"/>
              </a:lnSpc>
            </a:pPr>
            <a:r>
              <a:rPr lang="en-US" sz="5333" b="true" i="false" u="none" strike="noStrike" spc="-300">
                <a:solidFill>
                  <a:srgbClr val="04CC81"/>
                </a:solidFill>
                <a:latin typeface="Pretendard Medium"/>
                <a:ea typeface="Pretendard Medium"/>
                <a:cs typeface="Pretendard Medium"/>
              </a:rPr>
              <a:t>구현 방식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750800" y="3873500"/>
            <a:ext cx="10541000" cy="8826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052800" y="4635500"/>
            <a:ext cx="3937000" cy="54737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13335000" y="10274300"/>
            <a:ext cx="9372600" cy="2082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3733" b="fals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- process_exec()는 실행 문맥 전환 함수이므로, </a:t>
            </a:r>
          </a:p>
          <a:p>
            <a:pPr algn="ctr" lvl="0">
              <a:lnSpc>
                <a:spcPct val="124499"/>
              </a:lnSpc>
            </a:pPr>
            <a:r>
              <a:rPr lang="en-US" sz="3733" b="fals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흐름상 fd_table 준비는 </a:t>
            </a:r>
            <a:r>
              <a:rPr lang="en-US" sz="3733" b="false" i="false" u="none" strike="noStrike" spc="-200">
                <a:solidFill>
                  <a:srgbClr val="04CC81"/>
                </a:solidFill>
                <a:latin typeface="Pretendard Medium"/>
                <a:ea typeface="Pretendard Medium"/>
                <a:cs typeface="Pretendard Medium"/>
              </a:rPr>
              <a:t>최초 프로세스 시작 경로</a:t>
            </a:r>
            <a:r>
              <a:rPr lang="en-US" sz="3733" b="fals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인 </a:t>
            </a:r>
          </a:p>
          <a:p>
            <a:pPr algn="ctr" lvl="0">
              <a:lnSpc>
                <a:spcPct val="124499"/>
              </a:lnSpc>
            </a:pPr>
            <a:r>
              <a:rPr lang="en-US" sz="3733" b="fals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initd()가 더 자연스럽다고 판단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611600" y="3390900"/>
            <a:ext cx="2819400" cy="11557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16573500" y="3492500"/>
            <a:ext cx="2908300" cy="952500"/>
          </a:xfrm>
          <a:prstGeom prst="rect">
            <a:avLst/>
          </a:prstGeom>
        </p:spPr>
        <p:txBody>
          <a:bodyPr anchor="ctr" rtlCol="false" lIns="0" tIns="81280" rIns="0" bIns="81280"/>
          <a:lstStyle/>
          <a:p>
            <a:pPr algn="ctr" lvl="0">
              <a:lnSpc>
                <a:spcPct val="96279"/>
              </a:lnSpc>
            </a:pPr>
            <a:r>
              <a:rPr lang="en-US" sz="5333" b="true" i="false" u="none" strike="noStrike" spc="-300">
                <a:solidFill>
                  <a:srgbClr val="04CC81"/>
                </a:solidFill>
                <a:latin typeface="Pretendard Medium"/>
                <a:ea typeface="Pretendard Medium"/>
                <a:cs typeface="Pretendard Medium"/>
              </a:rPr>
              <a:t>할당 위치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46200" y="5448300"/>
            <a:ext cx="9817100" cy="30734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2001500" y="4203700"/>
            <a:ext cx="7950200" cy="72898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4762500" y="1485900"/>
            <a:ext cx="14973300" cy="1422400"/>
          </a:xfrm>
          <a:prstGeom prst="rect">
            <a:avLst/>
          </a:prstGeom>
        </p:spPr>
        <p:txBody>
          <a:bodyPr anchor="ctr" rtlCol="false" lIns="0" tIns="202460" rIns="0" bIns="202460"/>
          <a:lstStyle/>
          <a:p>
            <a:pPr algn="ctr" lvl="0">
              <a:lnSpc>
                <a:spcPct val="83000"/>
              </a:lnSpc>
            </a:pPr>
            <a:r>
              <a:rPr lang="en-US" sz="7970" b="false" i="false" u="none" strike="noStrike" spc="-300" cap="all">
                <a:solidFill>
                  <a:srgbClr val="161616"/>
                </a:solidFill>
                <a:latin typeface="Pretendard Bold"/>
                <a:ea typeface="Pretendard Bold"/>
                <a:cs typeface="Pretendard Bold"/>
              </a:rPr>
              <a:t>코드 구현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3063200" y="266700"/>
            <a:ext cx="5549900" cy="444500"/>
          </a:xfrm>
          <a:prstGeom prst="rect">
            <a:avLst/>
          </a:prstGeom>
        </p:spPr>
        <p:txBody>
          <a:bodyPr anchor="ctr" rtlCol="false" lIns="0" tIns="35395" rIns="0" bIns="35395"/>
          <a:lstStyle/>
          <a:p>
            <a:pPr algn="l" lvl="0">
              <a:lnSpc>
                <a:spcPct val="97940"/>
              </a:lnSpc>
            </a:pPr>
            <a:r>
              <a:rPr lang="en-US" sz="2533" b="false" i="false" u="none" strike="noStrike" spc="-200" cap="all">
                <a:solidFill>
                  <a:srgbClr val="161616">
                    <a:alpha val="41176"/>
                  </a:srgbClr>
                </a:solidFill>
                <a:latin typeface="Pretendard Light"/>
                <a:ea typeface="Pretendard Light"/>
                <a:cs typeface="Pretendard Light"/>
              </a:rPr>
              <a:t>최영빈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77900" y="4203700"/>
            <a:ext cx="9385300" cy="8039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712700" y="9664700"/>
            <a:ext cx="4927600" cy="13462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2514917">
            <a:off x="9969500" y="9182100"/>
            <a:ext cx="3162300" cy="1905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2001500" y="3429000"/>
            <a:ext cx="11531600" cy="660400"/>
          </a:xfrm>
          <a:prstGeom prst="rect">
            <a:avLst/>
          </a:prstGeom>
        </p:spPr>
        <p:txBody>
          <a:bodyPr anchor="ctr" rtlCol="false" lIns="0" tIns="56896" rIns="0" bIns="56896"/>
          <a:lstStyle/>
          <a:p>
            <a:pPr algn="l" lvl="0">
              <a:lnSpc>
                <a:spcPct val="96279"/>
              </a:lnSpc>
            </a:pPr>
            <a:r>
              <a:rPr lang="en-US" sz="3733" b="false" i="false" u="none" strike="noStrike" spc="-200">
                <a:solidFill>
                  <a:srgbClr val="04CC81"/>
                </a:solidFill>
                <a:latin typeface="Pretendard Medium"/>
                <a:ea typeface="Pretendard Medium"/>
                <a:cs typeface="Pretendard Medium"/>
              </a:rPr>
              <a:t>initd()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762500" y="1485900"/>
            <a:ext cx="14973300" cy="1422400"/>
          </a:xfrm>
          <a:prstGeom prst="rect">
            <a:avLst/>
          </a:prstGeom>
        </p:spPr>
        <p:txBody>
          <a:bodyPr anchor="ctr" rtlCol="false" lIns="0" tIns="202460" rIns="0" bIns="202460"/>
          <a:lstStyle/>
          <a:p>
            <a:pPr algn="ctr" lvl="0">
              <a:lnSpc>
                <a:spcPct val="83000"/>
              </a:lnSpc>
            </a:pPr>
            <a:r>
              <a:rPr lang="en-US" sz="7970" b="false" i="false" u="none" strike="noStrike" spc="-300" cap="all">
                <a:solidFill>
                  <a:srgbClr val="161616"/>
                </a:solidFill>
                <a:latin typeface="Pretendard Bold"/>
                <a:ea typeface="Pretendard Bold"/>
                <a:cs typeface="Pretendard Bold"/>
              </a:rPr>
              <a:t>코드 구현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3063200" y="266700"/>
            <a:ext cx="5549900" cy="444500"/>
          </a:xfrm>
          <a:prstGeom prst="rect">
            <a:avLst/>
          </a:prstGeom>
        </p:spPr>
        <p:txBody>
          <a:bodyPr anchor="ctr" rtlCol="false" lIns="0" tIns="35395" rIns="0" bIns="35395"/>
          <a:lstStyle/>
          <a:p>
            <a:pPr algn="l" lvl="0">
              <a:lnSpc>
                <a:spcPct val="97940"/>
              </a:lnSpc>
            </a:pPr>
            <a:r>
              <a:rPr lang="en-US" sz="2533" b="false" i="false" u="none" strike="noStrike" spc="-200" cap="all">
                <a:solidFill>
                  <a:srgbClr val="161616">
                    <a:alpha val="41176"/>
                  </a:srgbClr>
                </a:solidFill>
                <a:latin typeface="Pretendard Light"/>
                <a:ea typeface="Pretendard Light"/>
                <a:cs typeface="Pretendard Light"/>
              </a:rPr>
              <a:t>최영빈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77900" y="4203700"/>
            <a:ext cx="9385300" cy="8039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2001500" y="4203700"/>
            <a:ext cx="10896600" cy="7264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255500" y="7835900"/>
            <a:ext cx="5473700" cy="18923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1002084">
            <a:off x="10325100" y="8407400"/>
            <a:ext cx="1968500" cy="1905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1988800" y="3429000"/>
            <a:ext cx="11557000" cy="660400"/>
          </a:xfrm>
          <a:prstGeom prst="rect">
            <a:avLst/>
          </a:prstGeom>
        </p:spPr>
        <p:txBody>
          <a:bodyPr anchor="ctr" rtlCol="false" lIns="0" tIns="56896" rIns="0" bIns="56896"/>
          <a:lstStyle/>
          <a:p>
            <a:pPr algn="l" lvl="0">
              <a:lnSpc>
                <a:spcPct val="96279"/>
              </a:lnSpc>
            </a:pPr>
            <a:r>
              <a:rPr lang="en-US" sz="3733" b="false" i="false" u="none" strike="noStrike" spc="-200">
                <a:solidFill>
                  <a:srgbClr val="04CC81"/>
                </a:solidFill>
                <a:latin typeface="Pretendard Medium"/>
                <a:ea typeface="Pretendard Medium"/>
                <a:cs typeface="Pretendard Medium"/>
              </a:rPr>
              <a:t>__do_fork() 내부 호출: duplicate_fd_table()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>
  <p:cSld>
    <p:bg>
      <p:bgPr>
        <a:solidFill>
          <a:srgbClr val="04CC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407400" y="6311900"/>
            <a:ext cx="7569200" cy="1079500"/>
          </a:xfrm>
          <a:prstGeom prst="rect">
            <a:avLst/>
          </a:prstGeom>
        </p:spPr>
        <p:txBody>
          <a:bodyPr anchor="ctr" rtlCol="false" lIns="0" tIns="155047" rIns="0" bIns="155047"/>
          <a:lstStyle/>
          <a:p>
            <a:pPr algn="ctr" lvl="0">
              <a:lnSpc>
                <a:spcPct val="83000"/>
              </a:lnSpc>
            </a:pPr>
            <a:r>
              <a:rPr lang="en-US" sz="6104" b="false" i="false" u="none" strike="noStrike" spc="-200" cap="all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감사합니다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>
  <p:cSld>
    <p:bg>
      <p:bgPr>
        <a:solidFill>
          <a:srgbClr val="04CC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407400" y="6311900"/>
            <a:ext cx="7569200" cy="1079500"/>
          </a:xfrm>
          <a:prstGeom prst="rect">
            <a:avLst/>
          </a:prstGeom>
        </p:spPr>
        <p:txBody>
          <a:bodyPr anchor="ctr" rtlCol="false" lIns="0" tIns="155047" rIns="0" bIns="155047"/>
          <a:lstStyle/>
          <a:p>
            <a:pPr algn="ctr" lvl="0">
              <a:lnSpc>
                <a:spcPct val="83000"/>
              </a:lnSpc>
            </a:pPr>
            <a:r>
              <a:rPr lang="en-US" sz="6104" b="false" i="false" u="none" strike="noStrike" spc="-200" cap="all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