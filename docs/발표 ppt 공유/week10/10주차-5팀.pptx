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Inter"/>
      <p:bold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E6BC5D-92F3-48EC-AE4E-B258787F6079}">
  <a:tblStyle styleId="{6DE6BC5D-92F3-48EC-AE4E-B258787F607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slide" Target="slides/slide19.xml"/><Relationship Id="rId27" Type="http://schemas.openxmlformats.org/officeDocument/2006/relationships/font" Target="fonts/Int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db33a16d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db33a16d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db33a16dd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db33a16dd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db33a16dd_5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db33a16dd_5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b33a16dd_5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db33a16dd_5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db33a16dd_5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db33a16dd_5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db33a16dd_5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db33a16dd_5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db33a16dd_5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db33a16dd_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db33a16dd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db33a16dd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db33a16dd_7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db33a16dd_7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db33a16dd_7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db33a16dd_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db33a16dd_7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db33a16dd_7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db33a16dd_7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ddb33a16dd_7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db33a16dd_7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db33a16dd_7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ddb33a16dd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ddb33a16dd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db33a16dd_16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db33a16dd_16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db33a16dd_6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db33a16dd_6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ddb33a16dd_23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ddb33a16dd_2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ddb33a16dd_6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ddb33a16dd_6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26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9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10" Type="http://schemas.openxmlformats.org/officeDocument/2006/relationships/image" Target="../media/image14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25.png"/><Relationship Id="rId8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11" Type="http://schemas.openxmlformats.org/officeDocument/2006/relationships/image" Target="../media/image29.png"/><Relationship Id="rId10" Type="http://schemas.openxmlformats.org/officeDocument/2006/relationships/image" Target="../media/image19.png"/><Relationship Id="rId12" Type="http://schemas.openxmlformats.org/officeDocument/2006/relationships/image" Target="../media/image27.png"/><Relationship Id="rId9" Type="http://schemas.openxmlformats.org/officeDocument/2006/relationships/image" Target="../media/image22.png"/><Relationship Id="rId5" Type="http://schemas.openxmlformats.org/officeDocument/2006/relationships/image" Target="../media/image6.png"/><Relationship Id="rId6" Type="http://schemas.openxmlformats.org/officeDocument/2006/relationships/image" Target="../media/image17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11" Type="http://schemas.openxmlformats.org/officeDocument/2006/relationships/image" Target="../media/image20.png"/><Relationship Id="rId10" Type="http://schemas.openxmlformats.org/officeDocument/2006/relationships/image" Target="../media/image30.png"/><Relationship Id="rId9" Type="http://schemas.openxmlformats.org/officeDocument/2006/relationships/image" Target="../media/image23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33.png"/><Relationship Id="rId5" Type="http://schemas.openxmlformats.org/officeDocument/2006/relationships/image" Target="../media/image1.png"/><Relationship Id="rId6" Type="http://schemas.openxmlformats.org/officeDocument/2006/relationships/image" Target="../media/image24.png"/><Relationship Id="rId7" Type="http://schemas.openxmlformats.org/officeDocument/2006/relationships/image" Target="../media/image6.png"/><Relationship Id="rId8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2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650" y="0"/>
            <a:ext cx="23853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8929" y="2292650"/>
            <a:ext cx="6000025" cy="28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6" y="744575"/>
            <a:ext cx="6361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User program</a:t>
            </a:r>
            <a:endParaRPr b="1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2834125"/>
            <a:ext cx="6361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/>
              <a:t>5</a:t>
            </a:r>
            <a:r>
              <a:rPr b="1" lang="ko" sz="1800"/>
              <a:t>조</a:t>
            </a:r>
            <a:r>
              <a:rPr lang="ko" sz="1800"/>
              <a:t> - 이민정, 이호준, 홍윤기</a:t>
            </a:r>
            <a:endParaRPr sz="1800"/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35" y="89054"/>
            <a:ext cx="1204050" cy="33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7846" y="514903"/>
            <a:ext cx="1323500" cy="127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50183" y="86204"/>
            <a:ext cx="1204050" cy="30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3929825"/>
            <a:ext cx="2504450" cy="12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11" y="3506000"/>
            <a:ext cx="1055000" cy="4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목차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process_wait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semaphore vs cond vs lock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semaphore의 위치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자식 process 종료 대기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PageFault &amp; PANIC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초기화 위치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Debugging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fd_table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fd_table 설계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fd_table 생명주기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ko"/>
              <a:t>추가 개선사항</a:t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3725" y="0"/>
            <a:ext cx="2050275" cy="121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43700" y="1213675"/>
            <a:ext cx="1000300" cy="177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05850" y="2983950"/>
            <a:ext cx="738150" cy="1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1225"/>
            <a:ext cx="29567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1" y="2277025"/>
            <a:ext cx="4890300" cy="28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type="ctrTitle"/>
          </p:nvPr>
        </p:nvSpPr>
        <p:spPr>
          <a:xfrm>
            <a:off x="2380931" y="584450"/>
            <a:ext cx="6361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process_wait</a:t>
            </a:r>
            <a:endParaRPr/>
          </a:p>
        </p:txBody>
      </p:sp>
      <p:sp>
        <p:nvSpPr>
          <p:cNvPr id="82" name="Google Shape;82;p15"/>
          <p:cNvSpPr txBox="1"/>
          <p:nvPr>
            <p:ph idx="1" type="subTitle"/>
          </p:nvPr>
        </p:nvSpPr>
        <p:spPr>
          <a:xfrm>
            <a:off x="2192075" y="2637050"/>
            <a:ext cx="6361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/>
              <a:t>설계 시 주요 논의 사항</a:t>
            </a:r>
            <a:endParaRPr sz="1800"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500" y="215209"/>
            <a:ext cx="498825" cy="47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1300" y="4773275"/>
            <a:ext cx="1612700" cy="3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Semaphore vs Cond vs Lock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/>
              <a:t>초기 process_wait()의 형태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/>
              <a:t>process_wait()의 </a:t>
            </a:r>
            <a:r>
              <a:rPr b="1" lang="ko" sz="1500"/>
              <a:t>주요 역할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50"/>
              <a:t>부모가 “</a:t>
            </a:r>
            <a:r>
              <a:rPr b="1" lang="ko" sz="1350">
                <a:solidFill>
                  <a:srgbClr val="CC0000"/>
                </a:solidFill>
                <a:highlight>
                  <a:srgbClr val="FFE599"/>
                </a:highlight>
              </a:rPr>
              <a:t>특정 자식 하나의 종료 시점</a:t>
            </a:r>
            <a:r>
              <a:rPr lang="ko" sz="1350"/>
              <a:t>”을 기다리는 동작</a:t>
            </a:r>
            <a:endParaRPr sz="13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350"/>
              <a:t>=&gt; 공유 상태를 계속 관찰할 필요성</a:t>
            </a:r>
            <a:r>
              <a:rPr lang="ko" sz="1350"/>
              <a:t>X  ==  </a:t>
            </a:r>
            <a:r>
              <a:rPr b="1" lang="ko" sz="1350">
                <a:solidFill>
                  <a:srgbClr val="CC0000"/>
                </a:solidFill>
              </a:rPr>
              <a:t>1회</a:t>
            </a:r>
            <a:r>
              <a:rPr lang="ko" sz="1350"/>
              <a:t> 동작</a:t>
            </a:r>
            <a:endParaRPr sz="1350"/>
          </a:p>
        </p:txBody>
      </p:sp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 rotWithShape="1">
          <a:blip r:embed="rId6">
            <a:alphaModFix/>
          </a:blip>
          <a:srcRect b="0" l="0" r="507" t="0"/>
          <a:stretch/>
        </p:blipFill>
        <p:spPr>
          <a:xfrm>
            <a:off x="999775" y="1586126"/>
            <a:ext cx="5320250" cy="13753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3884049" y="2933979"/>
            <a:ext cx="4249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999999"/>
                </a:solidFill>
              </a:rPr>
              <a:t>임시방편 : </a:t>
            </a:r>
            <a:r>
              <a:rPr lang="ko" sz="1200">
                <a:solidFill>
                  <a:srgbClr val="999999"/>
                </a:solidFill>
              </a:rPr>
              <a:t>while문 또는 for문을 사용한 최소 구현으로 동작..</a:t>
            </a:r>
            <a:endParaRPr sz="1200">
              <a:solidFill>
                <a:srgbClr val="999999"/>
              </a:solidFill>
            </a:endParaRPr>
          </a:p>
        </p:txBody>
      </p:sp>
      <p:grpSp>
        <p:nvGrpSpPr>
          <p:cNvPr id="96" name="Google Shape;96;p16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97" name="Google Shape;97;p1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1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Semaphore vs Cond vs Lock</a:t>
            </a:r>
            <a:endParaRPr/>
          </a:p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/>
              <a:t>주요 도구 비교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/>
          </a:p>
          <a:p>
            <a:pPr indent="-314325" lvl="0" marL="457200" rtl="0" algn="l">
              <a:spcBef>
                <a:spcPts val="1200"/>
              </a:spcBef>
              <a:spcAft>
                <a:spcPts val="0"/>
              </a:spcAft>
              <a:buSzPts val="1350"/>
              <a:buChar char="-"/>
            </a:pPr>
            <a:r>
              <a:rPr lang="ko" sz="1350"/>
              <a:t>Lock : 종료 대기 구현 불가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SzPts val="1350"/>
              <a:buChar char="-"/>
            </a:pPr>
            <a:r>
              <a:rPr lang="ko" sz="1350"/>
              <a:t>Cond : 종료 신호 보존 X -&gt; 선행 종료 상황에 취약</a:t>
            </a:r>
            <a:endParaRPr sz="1350"/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350"/>
              <a:buChar char="-"/>
            </a:pPr>
            <a:r>
              <a:rPr b="1" lang="ko" sz="1350">
                <a:solidFill>
                  <a:srgbClr val="CC0000"/>
                </a:solidFill>
              </a:rPr>
              <a:t>Semaphore : 종료 신호 보존 O,   부모-자식 1회 동기화를 직접 표현 가능</a:t>
            </a:r>
            <a:endParaRPr b="1" sz="1350">
              <a:solidFill>
                <a:srgbClr val="CC0000"/>
              </a:solidFill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8" name="Google Shape;108;p17"/>
          <p:cNvGraphicFramePr/>
          <p:nvPr/>
        </p:nvGraphicFramePr>
        <p:xfrm>
          <a:off x="575469" y="163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{6DE6BC5D-92F3-48EC-AE4E-B258787F6079}</a:tableStyleId>
              </a:tblPr>
              <a:tblGrid>
                <a:gridCol w="4793575"/>
                <a:gridCol w="703600"/>
                <a:gridCol w="1268700"/>
                <a:gridCol w="1161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999999"/>
                          </a:solidFill>
                        </a:rPr>
                        <a:t>주요 질문</a:t>
                      </a:r>
                      <a:endParaRPr>
                        <a:solidFill>
                          <a:srgbClr val="999999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Lock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Cond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Semaphore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“</a:t>
                      </a:r>
                      <a:r>
                        <a:rPr b="1" lang="ko"/>
                        <a:t>자식 종료”를 부모에게 알려줄 수 있는가?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solidFill>
                            <a:srgbClr val="CC0000"/>
                          </a:solidFill>
                        </a:rPr>
                        <a:t>X</a:t>
                      </a:r>
                      <a:endParaRPr b="1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solidFill>
                            <a:srgbClr val="6FA8DC"/>
                          </a:solidFill>
                        </a:rPr>
                        <a:t>O</a:t>
                      </a:r>
                      <a:br>
                        <a:rPr lang="ko">
                          <a:solidFill>
                            <a:srgbClr val="1155CC"/>
                          </a:solidFill>
                        </a:rPr>
                      </a:br>
                      <a:r>
                        <a:rPr lang="ko"/>
                        <a:t>(</a:t>
                      </a:r>
                      <a:r>
                        <a:rPr lang="ko"/>
                        <a:t>신호 보존X)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solidFill>
                            <a:srgbClr val="1155CC"/>
                          </a:solidFill>
                        </a:rPr>
                        <a:t>O</a:t>
                      </a:r>
                      <a:endParaRPr b="1">
                        <a:solidFill>
                          <a:srgbClr val="1155CC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자식이 먼저 끝나도 부모가 나중에 그 사실을 받을 수 있는가?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solidFill>
                            <a:srgbClr val="CC0000"/>
                          </a:solidFill>
                        </a:rPr>
                        <a:t>X</a:t>
                      </a:r>
                      <a:endParaRPr b="1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보장 어려움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solidFill>
                            <a:srgbClr val="1155CC"/>
                          </a:solidFill>
                        </a:rPr>
                        <a:t>O</a:t>
                      </a:r>
                      <a:endParaRPr b="1">
                        <a:solidFill>
                          <a:srgbClr val="1155CC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일회성 전달에 적절한가?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solidFill>
                            <a:srgbClr val="CC0000"/>
                          </a:solidFill>
                        </a:rPr>
                        <a:t>X</a:t>
                      </a:r>
                      <a:endParaRPr b="1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애매함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>
                          <a:solidFill>
                            <a:srgbClr val="1155CC"/>
                          </a:solidFill>
                        </a:rPr>
                        <a:t>O</a:t>
                      </a:r>
                      <a:endParaRPr b="1">
                        <a:solidFill>
                          <a:srgbClr val="1155CC"/>
                        </a:solidFill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grpSp>
        <p:nvGrpSpPr>
          <p:cNvPr id="109" name="Google Shape;109;p17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110" name="Google Shape;110;p1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Semaphore의 위치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/>
              <a:t>Q. 누가 semaphore를 봐야 하는가?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350">
                <a:solidFill>
                  <a:srgbClr val="CC0000"/>
                </a:solidFill>
              </a:rPr>
              <a:t>부모, 자식 모두 접근 가능한 공유 구조체</a:t>
            </a:r>
            <a:endParaRPr b="1" sz="1350">
              <a:solidFill>
                <a:srgbClr val="CC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18"/>
          <p:cNvGraphicFramePr/>
          <p:nvPr/>
        </p:nvGraphicFramePr>
        <p:xfrm>
          <a:off x="353880" y="19821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{6DE6BC5D-92F3-48EC-AE4E-B258787F6079}</a:tableStyleId>
              </a:tblPr>
              <a:tblGrid>
                <a:gridCol w="1510200"/>
                <a:gridCol w="3779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부모의 지역변수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자식이 접근 어려움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자식의 지역변수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자식이 끝나면 함께 소멸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부모 thread 내 단일 semaphore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자식이 여러 명인 경우, 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/>
                        <a:t>어떤 자식을 기다리는 신호인지 구분 어려움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CC0000"/>
                          </a:solidFill>
                        </a:rPr>
                        <a:t>공유 entry</a:t>
                      </a:r>
                      <a:endParaRPr sz="1200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CC0000"/>
                          </a:solidFill>
                        </a:rPr>
                        <a:t>특정 자식에 대한 종료 상태와 부모 process 연결 가능</a:t>
                      </a:r>
                      <a:endParaRPr sz="1200">
                        <a:solidFill>
                          <a:srgbClr val="CC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2" name="Google Shape;122;p18"/>
          <p:cNvPicPr preferRelativeResize="0"/>
          <p:nvPr/>
        </p:nvPicPr>
        <p:blipFill rotWithShape="1">
          <a:blip r:embed="rId6">
            <a:alphaModFix/>
          </a:blip>
          <a:srcRect b="0" l="16729" r="16542" t="0"/>
          <a:stretch/>
        </p:blipFill>
        <p:spPr>
          <a:xfrm>
            <a:off x="5721173" y="551380"/>
            <a:ext cx="3350925" cy="274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4155" y="3178986"/>
            <a:ext cx="2744875" cy="152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/>
          <p:nvPr/>
        </p:nvSpPr>
        <p:spPr>
          <a:xfrm rot="6728130">
            <a:off x="8209029" y="3691573"/>
            <a:ext cx="363059" cy="38055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18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126" name="Google Shape;126;p18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8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8" name="Google Shape;128;p18"/>
          <p:cNvSpPr/>
          <p:nvPr/>
        </p:nvSpPr>
        <p:spPr>
          <a:xfrm rot="6728130">
            <a:off x="8628704" y="2199598"/>
            <a:ext cx="363059" cy="38055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2076576" y="3787750"/>
            <a:ext cx="3566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CC0000"/>
                </a:solidFill>
                <a:highlight>
                  <a:srgbClr val="FFE599"/>
                </a:highlight>
              </a:rPr>
              <a:t>=&gt; 자식 process의 상태를 관리하는 구조체 생성</a:t>
            </a:r>
            <a:br>
              <a:rPr b="1" lang="ko" sz="1200">
                <a:solidFill>
                  <a:srgbClr val="CC0000"/>
                </a:solidFill>
                <a:highlight>
                  <a:srgbClr val="FFE599"/>
                </a:highlight>
              </a:rPr>
            </a:br>
            <a:r>
              <a:rPr b="1" lang="ko" sz="1200">
                <a:solidFill>
                  <a:srgbClr val="CC0000"/>
                </a:solidFill>
                <a:highlight>
                  <a:srgbClr val="FFE599"/>
                </a:highlight>
              </a:rPr>
              <a:t>: struct child_status</a:t>
            </a:r>
            <a:endParaRPr b="1" sz="1200"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ko" sz="1500"/>
              <a:t>자식 프로세스 종료 대기 및 상태값 회수 구현</a:t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6103158" y="2174224"/>
            <a:ext cx="2973000" cy="78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프로세스 종료 대기</a:t>
            </a:r>
            <a:endParaRPr/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5998" y="1601749"/>
            <a:ext cx="5039000" cy="30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4321401" y="1933550"/>
            <a:ext cx="35667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CC0000"/>
                </a:solidFill>
                <a:highlight>
                  <a:srgbClr val="FFE599"/>
                </a:highlight>
              </a:rPr>
              <a:t>&lt;- 세마포어가 있는 구조체 가져오기</a:t>
            </a:r>
            <a:endParaRPr b="1" sz="1200"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2543006" y="3097713"/>
            <a:ext cx="4806600" cy="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CC0000"/>
                </a:solidFill>
                <a:highlight>
                  <a:srgbClr val="FFE599"/>
                </a:highlight>
              </a:rPr>
              <a:t>&lt;- wait이 TURE ,    </a:t>
            </a:r>
            <a:br>
              <a:rPr b="1" lang="ko" sz="1200">
                <a:solidFill>
                  <a:srgbClr val="CC0000"/>
                </a:solidFill>
                <a:highlight>
                  <a:srgbClr val="FFE599"/>
                </a:highlight>
              </a:rPr>
            </a:br>
            <a:r>
              <a:rPr b="1" lang="ko" sz="1200">
                <a:solidFill>
                  <a:srgbClr val="CC0000"/>
                </a:solidFill>
                <a:highlight>
                  <a:srgbClr val="FFE599"/>
                </a:highlight>
              </a:rPr>
              <a:t>	semaphore DOWN 으로 자식 종료를 기다리고, </a:t>
            </a:r>
            <a:br>
              <a:rPr b="1" lang="ko" sz="1200">
                <a:solidFill>
                  <a:srgbClr val="CC0000"/>
                </a:solidFill>
                <a:highlight>
                  <a:srgbClr val="FFE599"/>
                </a:highlight>
              </a:rPr>
            </a:br>
            <a:r>
              <a:rPr b="1" lang="ko" sz="1200">
                <a:solidFill>
                  <a:srgbClr val="CC0000"/>
                </a:solidFill>
                <a:highlight>
                  <a:srgbClr val="FFE599"/>
                </a:highlight>
              </a:rPr>
              <a:t>	기다림 처리를 완료했다면 상태를 FALSE로 바꿔줌  </a:t>
            </a:r>
            <a:endParaRPr b="1" sz="1200"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sp>
        <p:nvSpPr>
          <p:cNvPr id="143" name="Google Shape;143;p19"/>
          <p:cNvSpPr txBox="1"/>
          <p:nvPr/>
        </p:nvSpPr>
        <p:spPr>
          <a:xfrm>
            <a:off x="2184557" y="2301763"/>
            <a:ext cx="4249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1155CC"/>
                </a:solidFill>
                <a:highlight>
                  <a:srgbClr val="FFE599"/>
                </a:highlight>
              </a:rPr>
              <a:t>&lt;- 자식 정보가 없는 경우</a:t>
            </a:r>
            <a:endParaRPr b="1" sz="1200">
              <a:solidFill>
                <a:srgbClr val="1155CC"/>
              </a:solidFill>
              <a:highlight>
                <a:srgbClr val="FFE599"/>
              </a:highlight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580038" y="3825001"/>
            <a:ext cx="4249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1155CC"/>
                </a:solidFill>
                <a:highlight>
                  <a:srgbClr val="FFE599"/>
                </a:highlight>
              </a:rPr>
              <a:t>&lt;- 이미 기다렸거나, wait할 수 없는 상태</a:t>
            </a:r>
            <a:endParaRPr b="1" sz="1200">
              <a:solidFill>
                <a:srgbClr val="1155CC"/>
              </a:solidFill>
              <a:highlight>
                <a:srgbClr val="FFE599"/>
              </a:highlight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2468523" y="2616025"/>
            <a:ext cx="4249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1155CC"/>
                </a:solidFill>
                <a:highlight>
                  <a:srgbClr val="FFE599"/>
                </a:highlight>
              </a:rPr>
              <a:t>&lt;- </a:t>
            </a:r>
            <a:r>
              <a:rPr b="1" lang="ko" sz="1200">
                <a:solidFill>
                  <a:srgbClr val="1155CC"/>
                </a:solidFill>
                <a:highlight>
                  <a:srgbClr val="FFE599"/>
                </a:highlight>
              </a:rPr>
              <a:t>이미 종료되었거나, wait이 불가능한 상태</a:t>
            </a:r>
            <a:r>
              <a:rPr b="1" lang="ko" sz="1200">
                <a:solidFill>
                  <a:srgbClr val="1155CC"/>
                </a:solidFill>
                <a:highlight>
                  <a:srgbClr val="FFE599"/>
                </a:highlight>
              </a:rPr>
              <a:t> </a:t>
            </a:r>
            <a:endParaRPr b="1" sz="1200">
              <a:solidFill>
                <a:srgbClr val="1155CC"/>
              </a:solidFill>
              <a:highlight>
                <a:srgbClr val="FFE599"/>
              </a:highlight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2311927" y="4147207"/>
            <a:ext cx="4249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CC0000"/>
                </a:solidFill>
                <a:highlight>
                  <a:srgbClr val="FFE599"/>
                </a:highlight>
              </a:rPr>
              <a:t>&lt;- 자식의 종료 코드 반환</a:t>
            </a:r>
            <a:endParaRPr b="1" sz="1200"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5465500" y="2291024"/>
            <a:ext cx="42498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/>
              <a:t>도대체 어디에서 semaphore를</a:t>
            </a:r>
            <a:br>
              <a:rPr b="1" lang="ko"/>
            </a:br>
            <a:r>
              <a:rPr b="1" lang="ko">
                <a:solidFill>
                  <a:srgbClr val="CC0000"/>
                </a:solidFill>
              </a:rPr>
              <a:t>초기화</a:t>
            </a:r>
            <a:r>
              <a:rPr b="1" lang="ko"/>
              <a:t>해야 하는가?</a:t>
            </a:r>
            <a:endParaRPr b="1"/>
          </a:p>
        </p:txBody>
      </p:sp>
      <p:pic>
        <p:nvPicPr>
          <p:cNvPr id="148" name="Google Shape;14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47318" y="3020816"/>
            <a:ext cx="1668212" cy="1668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38882" y="3029507"/>
            <a:ext cx="1668212" cy="1668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94300" y="3210980"/>
            <a:ext cx="1483075" cy="1483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19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152" name="Google Shape;152;p19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9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1225"/>
            <a:ext cx="259707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1" y="2277025"/>
            <a:ext cx="4890300" cy="28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>
            <p:ph type="ctrTitle"/>
          </p:nvPr>
        </p:nvSpPr>
        <p:spPr>
          <a:xfrm>
            <a:off x="2453281" y="584450"/>
            <a:ext cx="6361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PageFault &amp; PANIC</a:t>
            </a:r>
            <a:endParaRPr/>
          </a:p>
        </p:txBody>
      </p:sp>
      <p:sp>
        <p:nvSpPr>
          <p:cNvPr id="161" name="Google Shape;161;p20"/>
          <p:cNvSpPr txBox="1"/>
          <p:nvPr>
            <p:ph idx="1" type="subTitle"/>
          </p:nvPr>
        </p:nvSpPr>
        <p:spPr>
          <a:xfrm>
            <a:off x="2192075" y="2637050"/>
            <a:ext cx="6361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/>
              <a:t>feat. Debugging</a:t>
            </a:r>
            <a:endParaRPr sz="1800"/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1300" y="4773275"/>
            <a:ext cx="1612700" cy="3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500" y="215209"/>
            <a:ext cx="498825" cy="4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리스트 초기화</a:t>
            </a:r>
            <a:endParaRPr/>
          </a:p>
        </p:txBody>
      </p:sp>
      <p:pic>
        <p:nvPicPr>
          <p:cNvPr id="169" name="Google Shape;1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0425" y="1200825"/>
            <a:ext cx="4376201" cy="191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21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174" name="Google Shape;174;p2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6" name="Google Shape;176;p21"/>
          <p:cNvSpPr/>
          <p:nvPr/>
        </p:nvSpPr>
        <p:spPr>
          <a:xfrm>
            <a:off x="5517005" y="2174224"/>
            <a:ext cx="2973000" cy="788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4879346" y="2291024"/>
            <a:ext cx="42498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/>
              <a:t>도대체 어디에서 semaphore를</a:t>
            </a:r>
            <a:br>
              <a:rPr b="1" lang="ko"/>
            </a:br>
            <a:r>
              <a:rPr b="1" lang="ko">
                <a:solidFill>
                  <a:srgbClr val="CC0000"/>
                </a:solidFill>
              </a:rPr>
              <a:t>초기화</a:t>
            </a:r>
            <a:r>
              <a:rPr b="1" lang="ko"/>
              <a:t>해야 하는가?</a:t>
            </a:r>
            <a:endParaRPr b="1"/>
          </a:p>
        </p:txBody>
      </p:sp>
      <p:pic>
        <p:nvPicPr>
          <p:cNvPr id="178" name="Google Shape;17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61164" y="3020816"/>
            <a:ext cx="1668212" cy="1668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52729" y="3029507"/>
            <a:ext cx="1668212" cy="1668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08146" y="3210980"/>
            <a:ext cx="1483075" cy="148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thread_create 밖에서 호출하기</a:t>
            </a:r>
            <a:endParaRPr/>
          </a:p>
        </p:txBody>
      </p:sp>
      <p:pic>
        <p:nvPicPr>
          <p:cNvPr id="186" name="Google Shape;18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22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190" name="Google Shape;190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2" name="Google Shape;192;p22" title="Screenshot 2026-05-07 at 3.02.06 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1700" y="1316175"/>
            <a:ext cx="3372806" cy="93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3960136" y="1365557"/>
            <a:ext cx="41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이렇게 하면 위험!</a:t>
            </a:r>
            <a:endParaRPr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4764611" y="2251082"/>
            <a:ext cx="416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thread_unblock(t)로 실행 가능 상태로 </a:t>
            </a:r>
            <a:endParaRPr>
              <a:solidFill>
                <a:srgbClr val="CC0000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만들어 버리기 때문</a:t>
            </a:r>
            <a:endParaRPr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pic>
        <p:nvPicPr>
          <p:cNvPr id="195" name="Google Shape;195;p22" title="Screenshot 2026-05-07 at 3.18.02 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1700" y="2348875"/>
            <a:ext cx="4452900" cy="169883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4764611" y="2851332"/>
            <a:ext cx="4167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child_status_insert를 하기 전</a:t>
            </a: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에</a:t>
            </a: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 child가 종료</a:t>
            </a: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하면</a:t>
            </a:r>
            <a:endParaRPr>
              <a:solidFill>
                <a:srgbClr val="CC0000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무한대기가 됨</a:t>
            </a:r>
            <a:endParaRPr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스레드 tid 원소 추가</a:t>
            </a:r>
            <a:endParaRPr/>
          </a:p>
        </p:txBody>
      </p:sp>
      <p:pic>
        <p:nvPicPr>
          <p:cNvPr id="202" name="Google Shape;20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1017725"/>
            <a:ext cx="3775601" cy="11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0842" y="2255637"/>
            <a:ext cx="8487782" cy="17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/>
        </p:nvSpPr>
        <p:spPr>
          <a:xfrm>
            <a:off x="2922600" y="1673700"/>
            <a:ext cx="41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CC0000"/>
                </a:solidFill>
                <a:highlight>
                  <a:srgbClr val="FFE599"/>
                </a:highlight>
              </a:rPr>
              <a:t>&lt;- 여기서 insert!</a:t>
            </a:r>
            <a:endParaRPr sz="1800"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7311288" y="3012250"/>
            <a:ext cx="158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CC0000"/>
                </a:solidFill>
                <a:highlight>
                  <a:srgbClr val="FFE599"/>
                </a:highlight>
              </a:rPr>
              <a:t>PANIC ??</a:t>
            </a:r>
            <a:endParaRPr sz="1800"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grpSp>
        <p:nvGrpSpPr>
          <p:cNvPr id="209" name="Google Shape;209;p23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210" name="Google Shape;210;p23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12" name="Google Shape;212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56481" y="2951117"/>
            <a:ext cx="1716300" cy="1716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3"/>
          <p:cNvSpPr/>
          <p:nvPr/>
        </p:nvSpPr>
        <p:spPr>
          <a:xfrm>
            <a:off x="340850" y="2268356"/>
            <a:ext cx="2083800" cy="1542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1640577" y="3319750"/>
            <a:ext cx="1293900" cy="1542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init.c: main()</a:t>
            </a:r>
            <a:endParaRPr/>
          </a:p>
        </p:txBody>
      </p:sp>
      <p:pic>
        <p:nvPicPr>
          <p:cNvPr id="220" name="Google Shape;2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1017725"/>
            <a:ext cx="5662050" cy="1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/>
        </p:nvSpPr>
        <p:spPr>
          <a:xfrm>
            <a:off x="2427151" y="1355400"/>
            <a:ext cx="416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CC0000"/>
                </a:solidFill>
                <a:highlight>
                  <a:srgbClr val="FFE599"/>
                </a:highlight>
              </a:rPr>
              <a:t>&lt;- 리스트 초기화 전 idle 스레드 생성</a:t>
            </a:r>
            <a:endParaRPr sz="1300"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pic>
        <p:nvPicPr>
          <p:cNvPr id="225" name="Google Shape;225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71575" y="1882375"/>
            <a:ext cx="4434050" cy="2420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24"/>
          <p:cNvCxnSpPr/>
          <p:nvPr/>
        </p:nvCxnSpPr>
        <p:spPr>
          <a:xfrm>
            <a:off x="2051550" y="1527275"/>
            <a:ext cx="1490400" cy="6033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24"/>
          <p:cNvSpPr txBox="1"/>
          <p:nvPr/>
        </p:nvSpPr>
        <p:spPr>
          <a:xfrm>
            <a:off x="1059236" y="3331407"/>
            <a:ext cx="41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리스트 초기화 전 삽입했기 때문에 에러………</a:t>
            </a:r>
            <a:endParaRPr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grpSp>
        <p:nvGrpSpPr>
          <p:cNvPr id="228" name="Google Shape;228;p24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229" name="Google Shape;229;p24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4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/>
          <p:nvPr/>
        </p:nvSpPr>
        <p:spPr>
          <a:xfrm>
            <a:off x="6005950" y="3500175"/>
            <a:ext cx="2520000" cy="461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idle </a:t>
            </a:r>
            <a:r>
              <a:rPr lang="ko"/>
              <a:t>예외처리</a:t>
            </a:r>
            <a:endParaRPr/>
          </a:p>
        </p:txBody>
      </p:sp>
      <p:pic>
        <p:nvPicPr>
          <p:cNvPr id="237" name="Google Shape;2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1017725"/>
            <a:ext cx="2668775" cy="1283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1" name="Google Shape;241;p25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242" name="Google Shape;242;p25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5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" name="Google Shape;244;p25"/>
          <p:cNvSpPr txBox="1"/>
          <p:nvPr/>
        </p:nvSpPr>
        <p:spPr>
          <a:xfrm>
            <a:off x="3811054" y="1063240"/>
            <a:ext cx="41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 </a:t>
            </a: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idle</a:t>
            </a: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스레드만 예외처리 해주면 해결?</a:t>
            </a:r>
            <a:endParaRPr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pic>
        <p:nvPicPr>
          <p:cNvPr id="245" name="Google Shape;245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980472" y="1063238"/>
            <a:ext cx="1049251" cy="104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 txBox="1"/>
          <p:nvPr/>
        </p:nvSpPr>
        <p:spPr>
          <a:xfrm>
            <a:off x="5163150" y="2480600"/>
            <a:ext cx="165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GOOD JOB!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6390200" y="3531925"/>
            <a:ext cx="26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434343"/>
                </a:solidFill>
              </a:rPr>
              <a:t>but… </a:t>
            </a:r>
            <a:r>
              <a:rPr b="1" lang="ko">
                <a:solidFill>
                  <a:srgbClr val="434343"/>
                </a:solidFill>
              </a:rPr>
              <a:t>더 좋은 방법?!</a:t>
            </a:r>
            <a:endParaRPr b="1">
              <a:solidFill>
                <a:srgbClr val="434343"/>
              </a:solidFill>
            </a:endParaRPr>
          </a:p>
        </p:txBody>
      </p:sp>
      <p:pic>
        <p:nvPicPr>
          <p:cNvPr id="248" name="Google Shape;248;p25" title="Screenshot 2026-05-07 at 2.58.07 AM.png"/>
          <p:cNvPicPr preferRelativeResize="0"/>
          <p:nvPr/>
        </p:nvPicPr>
        <p:blipFill rotWithShape="1">
          <a:blip r:embed="rId10">
            <a:alphaModFix/>
          </a:blip>
          <a:srcRect b="0" l="0" r="0" t="3846"/>
          <a:stretch/>
        </p:blipFill>
        <p:spPr>
          <a:xfrm>
            <a:off x="1051774" y="2531625"/>
            <a:ext cx="3458050" cy="17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811050" y="2648875"/>
            <a:ext cx="2042601" cy="204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3300" y="3468437"/>
            <a:ext cx="965000" cy="96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6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259" name="Google Shape;259;p26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6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1" name="Google Shape;261;p26"/>
          <p:cNvSpPr txBox="1"/>
          <p:nvPr>
            <p:ph type="title"/>
          </p:nvPr>
        </p:nvSpPr>
        <p:spPr>
          <a:xfrm>
            <a:off x="307243" y="4450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해결 : init.c: main함수에서 init 하기</a:t>
            </a:r>
            <a:endParaRPr/>
          </a:p>
        </p:txBody>
      </p:sp>
      <p:pic>
        <p:nvPicPr>
          <p:cNvPr id="262" name="Google Shape;262;p26"/>
          <p:cNvPicPr preferRelativeResize="0"/>
          <p:nvPr/>
        </p:nvPicPr>
        <p:blipFill rotWithShape="1">
          <a:blip r:embed="rId8">
            <a:alphaModFix/>
          </a:blip>
          <a:srcRect b="0" l="4251" r="0" t="0"/>
          <a:stretch/>
        </p:blipFill>
        <p:spPr>
          <a:xfrm>
            <a:off x="502343" y="3291303"/>
            <a:ext cx="2138900" cy="107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6"/>
          <p:cNvPicPr preferRelativeResize="0"/>
          <p:nvPr/>
        </p:nvPicPr>
        <p:blipFill rotWithShape="1">
          <a:blip r:embed="rId9">
            <a:alphaModFix/>
          </a:blip>
          <a:srcRect b="0" l="0" r="0" t="9091"/>
          <a:stretch/>
        </p:blipFill>
        <p:spPr>
          <a:xfrm>
            <a:off x="448804" y="2446975"/>
            <a:ext cx="2393524" cy="64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/>
        </p:nvSpPr>
        <p:spPr>
          <a:xfrm>
            <a:off x="552993" y="1007942"/>
            <a:ext cx="4249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999999"/>
                </a:solidFill>
              </a:rPr>
              <a:t>시행착오 1</a:t>
            </a:r>
            <a:endParaRPr sz="1200">
              <a:solidFill>
                <a:srgbClr val="999999"/>
              </a:solidFill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3815652" y="1598544"/>
            <a:ext cx="4249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1200">
                <a:solidFill>
                  <a:srgbClr val="CC0000"/>
                </a:solidFill>
              </a:rPr>
              <a:t>최종 버전</a:t>
            </a:r>
            <a:endParaRPr b="1" sz="1200">
              <a:solidFill>
                <a:srgbClr val="CC0000"/>
              </a:solidFill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2878502" y="2524638"/>
            <a:ext cx="842400" cy="4902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  <p:pic>
        <p:nvPicPr>
          <p:cNvPr id="267" name="Google Shape;267;p26" title="Screenshot 2026-05-07 at 2.57.40 A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37368" y="2840738"/>
            <a:ext cx="2348425" cy="127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/>
          <p:nvPr/>
        </p:nvSpPr>
        <p:spPr>
          <a:xfrm>
            <a:off x="4169168" y="3729638"/>
            <a:ext cx="1938000" cy="1542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6185797" y="3483638"/>
            <a:ext cx="267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CC0000"/>
                </a:solidFill>
                <a:highlight>
                  <a:srgbClr val="FFE599"/>
                </a:highlight>
              </a:rPr>
              <a:t>이러면 idle을 확인할 필요 X !</a:t>
            </a:r>
            <a:endParaRPr>
              <a:solidFill>
                <a:srgbClr val="CC0000"/>
              </a:solidFill>
              <a:highlight>
                <a:srgbClr val="FFE599"/>
              </a:highlight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9">
            <a:alphaModFix/>
          </a:blip>
          <a:srcRect b="0" l="0" r="0" t="9091"/>
          <a:stretch/>
        </p:blipFill>
        <p:spPr>
          <a:xfrm>
            <a:off x="3671637" y="1932696"/>
            <a:ext cx="2679899" cy="72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6" title="Screenshot 2026-05-07 at 3.02.06 A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9300" y="1303874"/>
            <a:ext cx="3091601" cy="85695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552993" y="2160205"/>
            <a:ext cx="4249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999999"/>
                </a:solidFill>
              </a:rPr>
              <a:t>시행착오 2</a:t>
            </a:r>
            <a:endParaRPr sz="1200">
              <a:solidFill>
                <a:srgbClr val="999999"/>
              </a:solidFill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552993" y="3003438"/>
            <a:ext cx="4249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>
                <a:solidFill>
                  <a:srgbClr val="999999"/>
                </a:solidFill>
              </a:rPr>
              <a:t>시행착오 3</a:t>
            </a:r>
            <a:endParaRPr sz="12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1225"/>
            <a:ext cx="295672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1" y="2277025"/>
            <a:ext cx="4890300" cy="28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>
            <p:ph type="ctrTitle"/>
          </p:nvPr>
        </p:nvSpPr>
        <p:spPr>
          <a:xfrm>
            <a:off x="2380931" y="584450"/>
            <a:ext cx="6361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fd_table</a:t>
            </a:r>
            <a:endParaRPr/>
          </a:p>
        </p:txBody>
      </p:sp>
      <p:sp>
        <p:nvSpPr>
          <p:cNvPr id="281" name="Google Shape;281;p27"/>
          <p:cNvSpPr txBox="1"/>
          <p:nvPr>
            <p:ph idx="1" type="subTitle"/>
          </p:nvPr>
        </p:nvSpPr>
        <p:spPr>
          <a:xfrm>
            <a:off x="2192075" y="2637050"/>
            <a:ext cx="6361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/>
              <a:t>설계와 생명주기</a:t>
            </a:r>
            <a:endParaRPr sz="1800"/>
          </a:p>
        </p:txBody>
      </p:sp>
      <p:pic>
        <p:nvPicPr>
          <p:cNvPr id="282" name="Google Shape;28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1300" y="4773275"/>
            <a:ext cx="1612700" cy="37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2500" y="215209"/>
            <a:ext cx="498825" cy="4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1" name="Google Shape;291;p28"/>
          <p:cNvGrpSpPr/>
          <p:nvPr/>
        </p:nvGrpSpPr>
        <p:grpSpPr>
          <a:xfrm>
            <a:off x="4324700" y="1259700"/>
            <a:ext cx="4191000" cy="1428900"/>
            <a:chOff x="4572000" y="952500"/>
            <a:chExt cx="4191000" cy="1428900"/>
          </a:xfrm>
        </p:grpSpPr>
        <p:sp>
          <p:nvSpPr>
            <p:cNvPr id="292" name="Google Shape;292;p28"/>
            <p:cNvSpPr/>
            <p:nvPr/>
          </p:nvSpPr>
          <p:spPr>
            <a:xfrm>
              <a:off x="4572000" y="952500"/>
              <a:ext cx="4191000" cy="1428900"/>
            </a:xfrm>
            <a:prstGeom prst="roundRect">
              <a:avLst>
                <a:gd fmla="val 800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8"/>
            <p:cNvSpPr txBox="1"/>
            <p:nvPr/>
          </p:nvSpPr>
          <p:spPr>
            <a:xfrm>
              <a:off x="4762500" y="1095375"/>
              <a:ext cx="381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동적 배열 구현 전략</a:t>
              </a:r>
              <a:endParaRPr b="1" sz="16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• fd table의 특성상 인덱스 fd를 통한 접근 작업 빈번</a:t>
              </a:r>
              <a:endParaRPr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• 인덱스 fd 접근 시 </a:t>
              </a:r>
              <a:r>
                <a:rPr b="1" lang="ko" sz="12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O(1)</a:t>
              </a:r>
              <a:r>
                <a:rPr lang="ko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의 효율적인 시간 복잡도 제공</a:t>
              </a:r>
              <a:endParaRPr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4" name="Google Shape;294;p28"/>
          <p:cNvGrpSpPr/>
          <p:nvPr/>
        </p:nvGrpSpPr>
        <p:grpSpPr>
          <a:xfrm>
            <a:off x="4324700" y="2878950"/>
            <a:ext cx="4191000" cy="1238400"/>
            <a:chOff x="4572000" y="2571750"/>
            <a:chExt cx="4191000" cy="1238400"/>
          </a:xfrm>
        </p:grpSpPr>
        <p:sp>
          <p:nvSpPr>
            <p:cNvPr id="295" name="Google Shape;295;p28"/>
            <p:cNvSpPr/>
            <p:nvPr/>
          </p:nvSpPr>
          <p:spPr>
            <a:xfrm>
              <a:off x="4572000" y="2571750"/>
              <a:ext cx="4191000" cy="1238400"/>
            </a:xfrm>
            <a:prstGeom prst="roundRect">
              <a:avLst>
                <a:gd fmla="val 923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8"/>
            <p:cNvSpPr txBox="1"/>
            <p:nvPr/>
          </p:nvSpPr>
          <p:spPr>
            <a:xfrm>
              <a:off x="4762500" y="2714625"/>
              <a:ext cx="381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600">
                  <a:solidFill>
                    <a:srgbClr val="166534"/>
                  </a:solidFill>
                  <a:latin typeface="Inter"/>
                  <a:ea typeface="Inter"/>
                  <a:cs typeface="Inter"/>
                  <a:sym typeface="Inter"/>
                </a:rPr>
                <a:t>포인터 배열 관리</a:t>
              </a:r>
              <a:endParaRPr b="1" sz="1600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• </a:t>
              </a:r>
              <a:r>
                <a:rPr lang="ko" sz="1200">
                  <a:solidFill>
                    <a:srgbClr val="374151"/>
                  </a:solidFill>
                  <a:highlight>
                    <a:srgbClr val="E2E8F0"/>
                  </a:highlight>
                  <a:latin typeface="Arial"/>
                  <a:ea typeface="Arial"/>
                  <a:cs typeface="Arial"/>
                  <a:sym typeface="Arial"/>
                </a:rPr>
                <a:t>**fds</a:t>
              </a:r>
              <a:r>
                <a:rPr lang="ko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 이중 포인터를 통한 포인터 배열 선언</a:t>
              </a:r>
              <a:endParaRPr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ko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• 미사용 fd는 </a:t>
              </a:r>
              <a:r>
                <a:rPr b="1" lang="ko" sz="12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NULL</a:t>
              </a:r>
              <a:r>
                <a:rPr lang="ko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로 저장하여 유효성 판단</a:t>
              </a:r>
              <a:endParaRPr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97" name="Google Shape;297;p28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298" name="Google Shape;298;p2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2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0" name="Google Shape;300;p28" title="스크린샷 2026-05-06 오후 10.30.5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6975" y="191250"/>
            <a:ext cx="3232894" cy="448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29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306" name="Google Shape;30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8" name="Google Shape;30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8025" y="178675"/>
            <a:ext cx="1836500" cy="43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9" title="스크린샷 2026-05-06 오후 10.27.21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55398" y="203937"/>
            <a:ext cx="5947749" cy="433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ko"/>
              <a:t>추가 개선사항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/>
              <a:t>메모리 할당 실패시 예외 처리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50"/>
              <a:t>배열은 메모리 공간을 미리 할당 -&gt;</a:t>
            </a:r>
            <a:r>
              <a:rPr lang="ko" sz="1350">
                <a:solidFill>
                  <a:srgbClr val="CC0000"/>
                </a:solidFill>
              </a:rPr>
              <a:t> malloc / calloc 실패 가능성O</a:t>
            </a:r>
            <a:endParaRPr sz="1350">
              <a:solidFill>
                <a:srgbClr val="CC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50"/>
              <a:t>=&gt; </a:t>
            </a:r>
            <a:r>
              <a:rPr b="1" lang="ko" sz="1350">
                <a:solidFill>
                  <a:srgbClr val="CC0000"/>
                </a:solidFill>
                <a:highlight>
                  <a:srgbClr val="FFE599"/>
                </a:highlight>
              </a:rPr>
              <a:t>예외 처리 필요</a:t>
            </a:r>
            <a:endParaRPr b="1" sz="1350">
              <a:solidFill>
                <a:srgbClr val="CC0000"/>
              </a:solidFill>
              <a:highlight>
                <a:srgbClr val="FFE599"/>
              </a:highlight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CC0000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500"/>
              <a:t>탐색 효율성 개선</a:t>
            </a:r>
            <a:endParaRPr b="1"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50"/>
              <a:t>현재 : 빈 fd 슬롯 탐색 및 프로세스 종료 시 fd_table 순회 -&gt; </a:t>
            </a:r>
            <a:r>
              <a:rPr lang="ko" sz="1350">
                <a:solidFill>
                  <a:srgbClr val="CC0000"/>
                </a:solidFill>
              </a:rPr>
              <a:t>시간복잡도 O(n)</a:t>
            </a:r>
            <a:endParaRPr sz="1350">
              <a:solidFill>
                <a:srgbClr val="CC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350"/>
              <a:t>=&gt; </a:t>
            </a:r>
            <a:r>
              <a:rPr b="1" lang="ko" sz="1350">
                <a:solidFill>
                  <a:srgbClr val="CC0000"/>
                </a:solidFill>
                <a:highlight>
                  <a:srgbClr val="FFE599"/>
                </a:highlight>
              </a:rPr>
              <a:t>free_list 도입 시, fd 탐색 비용 절감 가능</a:t>
            </a:r>
            <a:endParaRPr b="1" sz="1350">
              <a:solidFill>
                <a:srgbClr val="CC0000"/>
              </a:solidFill>
              <a:highlight>
                <a:srgbClr val="FFE599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/>
          </a:p>
        </p:txBody>
      </p:sp>
      <p:pic>
        <p:nvPicPr>
          <p:cNvPr id="319" name="Google Shape;31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786451"/>
            <a:ext cx="9144000" cy="38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752" y="4837523"/>
            <a:ext cx="1049235" cy="29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05634" y="4807085"/>
            <a:ext cx="1049235" cy="326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30"/>
          <p:cNvGrpSpPr/>
          <p:nvPr/>
        </p:nvGrpSpPr>
        <p:grpSpPr>
          <a:xfrm>
            <a:off x="7531300" y="0"/>
            <a:ext cx="1612700" cy="934900"/>
            <a:chOff x="7531300" y="0"/>
            <a:chExt cx="1612700" cy="934900"/>
          </a:xfrm>
        </p:grpSpPr>
        <p:pic>
          <p:nvPicPr>
            <p:cNvPr id="323" name="Google Shape;323;p3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531300" y="0"/>
              <a:ext cx="1612700" cy="3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3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8760925" y="370225"/>
              <a:ext cx="383075" cy="56467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5" name="Google Shape;325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6838750" y="2361650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8650" y="0"/>
            <a:ext cx="23853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3975" y="2352200"/>
            <a:ext cx="6000025" cy="2866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>
            <p:ph type="ctrTitle"/>
          </p:nvPr>
        </p:nvSpPr>
        <p:spPr>
          <a:xfrm>
            <a:off x="311706" y="744575"/>
            <a:ext cx="6361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 &amp; A</a:t>
            </a:r>
            <a:endParaRPr/>
          </a:p>
        </p:txBody>
      </p:sp>
      <p:pic>
        <p:nvPicPr>
          <p:cNvPr id="333" name="Google Shape;33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335" y="89054"/>
            <a:ext cx="1204050" cy="33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07846" y="514903"/>
            <a:ext cx="1323500" cy="127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50183" y="86204"/>
            <a:ext cx="1204050" cy="30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4773275"/>
            <a:ext cx="1612700" cy="3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