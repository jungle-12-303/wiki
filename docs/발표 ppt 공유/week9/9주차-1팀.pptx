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24384000" cy="13716000"/>
  <p:notesSz cx="6858000" cy="9144000"/>
  <p:embeddedFontLst>
    <p:embeddedFont>
      <p:font typeface="Montserrat Regular"/>
      <p:regular r:id="rId33"/>
    </p:embeddedFont>
    <p:embeddedFont>
      <p:font typeface="Montserrat Bold"/>
      <p:bold r:id="rId34"/>
    </p:embeddedFont>
    <p:embeddedFont>
      <p:font typeface="Pretendard Medium"/>
      <p:bold r:id="rId35"/>
    </p:embeddedFont>
    <p:embeddedFont>
      <p:font typeface="Pretendard Black"/>
      <p:bold r:id="rId36"/>
    </p:embeddedFont>
    <p:embeddedFont>
      <p:font typeface="Pretendard Bold"/>
      <p:bold r:id="rId37"/>
    </p:embeddedFont>
    <p:embeddedFont>
      <p:font typeface="Pretendard Light"/>
      <p:regular r:id="rId38"/>
    </p:embeddedFont>
    <p:embeddedFont>
      <p:font typeface="GangwonEduAll Bold"/>
      <p:regular r:id="rId39"/>
    </p:embeddedFont>
    <p:embeddedFont>
      <p:font typeface="Pretendard Regular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1.fntdata" Type="http://schemas.openxmlformats.org/officeDocument/2006/relationships/font"/><Relationship Id="rId34" Target="fonts/font2.fntdata" Type="http://schemas.openxmlformats.org/officeDocument/2006/relationships/font"/><Relationship Id="rId35" Target="fonts/font3.fntdata" Type="http://schemas.openxmlformats.org/officeDocument/2006/relationships/font"/><Relationship Id="rId36" Target="fonts/font4.fntdata" Type="http://schemas.openxmlformats.org/officeDocument/2006/relationships/font"/><Relationship Id="rId37" Target="fonts/font5.fntdata" Type="http://schemas.openxmlformats.org/officeDocument/2006/relationships/font"/><Relationship Id="rId38" Target="fonts/font6.fntdata" Type="http://schemas.openxmlformats.org/officeDocument/2006/relationships/font"/><Relationship Id="rId39" Target="fonts/font7.fntdata" Type="http://schemas.openxmlformats.org/officeDocument/2006/relationships/font"/><Relationship Id="rId4" Target="theme/theme1.xml" Type="http://schemas.openxmlformats.org/officeDocument/2006/relationships/theme"/><Relationship Id="rId40" Target="fonts/font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.png" Type="http://schemas.openxmlformats.org/officeDocument/2006/relationships/image"/><Relationship Id="rId5" Target="../media/image38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3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3.png" Type="http://schemas.openxmlformats.org/officeDocument/2006/relationships/image"/><Relationship Id="rId4" Target="../media/image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3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3.pn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3.png" Type="http://schemas.openxmlformats.org/officeDocument/2006/relationships/image"/><Relationship Id="rId5" Target="../media/image5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3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3.png" Type="http://schemas.openxmlformats.org/officeDocument/2006/relationships/image"/><Relationship Id="rId5" Target="../media/image67.png" Type="http://schemas.openxmlformats.org/officeDocument/2006/relationships/image"/><Relationship Id="rId6" Target="../media/image61.png" Type="http://schemas.openxmlformats.org/officeDocument/2006/relationships/image"/><Relationship Id="rId7" Target="../media/image6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629900" y="4127500"/>
            <a:ext cx="12255500" cy="4013200"/>
          </a:xfrm>
          <a:prstGeom prst="rect">
            <a:avLst/>
          </a:prstGeom>
        </p:spPr>
        <p:txBody>
          <a:bodyPr anchor="ctr" rtlCol="false" lIns="0" tIns="334856" rIns="0" bIns="334856"/>
          <a:lstStyle/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161616"/>
                </a:solidFill>
                <a:latin typeface="Montserrat Regular"/>
                <a:ea typeface="Montserrat Regular"/>
                <a:cs typeface="Montserrat Regular"/>
              </a:rPr>
              <a:t>Pintos project.1</a:t>
            </a:r>
          </a:p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04CC81"/>
                </a:solidFill>
                <a:latin typeface="Pretendard Black"/>
                <a:ea typeface="Pretendard Black"/>
                <a:cs typeface="Pretendard Black"/>
              </a:rPr>
              <a:t>THREADS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3100" y="8597900"/>
            <a:ext cx="9271000" cy="711200"/>
          </a:xfrm>
          <a:prstGeom prst="rect">
            <a:avLst/>
          </a:prstGeom>
        </p:spPr>
        <p:txBody>
          <a:bodyPr anchor="ctr" rtlCol="false" lIns="0" tIns="63499" rIns="0" bIns="63499"/>
          <a:lstStyle/>
          <a:p>
            <a:pPr algn="l" lvl="0">
              <a:lnSpc>
                <a:spcPct val="9544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정찬빈    최우녕    최영빈    황정연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2200" y="469900"/>
            <a:ext cx="2349500" cy="3302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1299"/>
              </a:lnSpc>
            </a:pPr>
            <a:r>
              <a:rPr lang="en-US" sz="1866" b="false" i="false" u="none" strike="noStrike" spc="100" cap="all">
                <a:solidFill>
                  <a:srgbClr val="161616"/>
                </a:solidFill>
                <a:latin typeface="Montserrat Bold"/>
                <a:ea typeface="Montserrat Bold"/>
                <a:cs typeface="Montserrat Bold"/>
              </a:rPr>
              <a:t>WEEK9 TEAM01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76500" y="3962400"/>
            <a:ext cx="61341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95800" y="3822700"/>
            <a:ext cx="2197100" cy="2197100"/>
          </a:xfrm>
          <a:prstGeom prst="rect">
            <a:avLst/>
          </a:prstGeom>
          <a:effectLst>
            <a:outerShdw dir="2700000" dist="303345" blurRad="175266">
              <a:srgbClr val="04CC81">
                <a:alpha val="12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3962400" y="6184900"/>
            <a:ext cx="3467100" cy="1790700"/>
          </a:xfrm>
          <a:prstGeom prst="rect">
            <a:avLst/>
          </a:prstGeom>
        </p:spPr>
        <p:txBody>
          <a:bodyPr anchor="ctr" rtlCol="false" lIns="0" tIns="256646" rIns="0" bIns="256646"/>
          <a:lstStyle/>
          <a:p>
            <a:pPr algn="ctr" lvl="0">
              <a:lnSpc>
                <a:spcPct val="83000"/>
              </a:lnSpc>
            </a:pPr>
            <a:r>
              <a:rPr lang="en-US" sz="10104" b="false" i="false" u="none" strike="noStrike" spc="-4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85800" y="45593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85800" y="62738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85800" y="79756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11200" y="96774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85800" y="28448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13309600" y="3175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09600" y="48895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9600" y="6604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9600" y="83058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9600" y="100203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4100" y="3695700"/>
            <a:ext cx="5524500" cy="330200"/>
          </a:xfrm>
          <a:prstGeom prst="rect">
            <a:avLst/>
          </a:prstGeom>
        </p:spPr>
        <p:txBody>
          <a:bodyPr anchor="ctr" rtlCol="false" lIns="0" tIns="26082" rIns="0" bIns="26082"/>
          <a:lstStyle/>
          <a:p>
            <a:pPr algn="l" lvl="0">
              <a:lnSpc>
                <a:spcPct val="97940"/>
              </a:lnSpc>
            </a:pPr>
            <a:r>
              <a:rPr lang="en-US" sz="1867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73300" y="4584700"/>
            <a:ext cx="89916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Priority-Preempt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24100" y="5397500"/>
            <a:ext cx="5524500" cy="330200"/>
          </a:xfrm>
          <a:prstGeom prst="rect">
            <a:avLst/>
          </a:prstGeom>
        </p:spPr>
        <p:txBody>
          <a:bodyPr anchor="ctr" rtlCol="false" lIns="0" tIns="26082" rIns="0" bIns="26082"/>
          <a:lstStyle/>
          <a:p>
            <a:pPr algn="l" lvl="0">
              <a:lnSpc>
                <a:spcPct val="97940"/>
              </a:lnSpc>
            </a:pPr>
            <a:r>
              <a:rPr lang="en-US" sz="1867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 정찬빈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73300" y="62992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Interrupt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24100" y="7112000"/>
            <a:ext cx="5524500" cy="330200"/>
          </a:xfrm>
          <a:prstGeom prst="rect">
            <a:avLst/>
          </a:prstGeom>
        </p:spPr>
        <p:txBody>
          <a:bodyPr anchor="ctr" rtlCol="false" lIns="0" tIns="26082" rIns="0" bIns="26082"/>
          <a:lstStyle/>
          <a:p>
            <a:pPr algn="l" lvl="0">
              <a:lnSpc>
                <a:spcPct val="97940"/>
              </a:lnSpc>
            </a:pPr>
            <a:r>
              <a:rPr lang="en-US" sz="1867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73300" y="80137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Priority-Donation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24100" y="8826500"/>
            <a:ext cx="5524500" cy="330200"/>
          </a:xfrm>
          <a:prstGeom prst="rect">
            <a:avLst/>
          </a:prstGeom>
        </p:spPr>
        <p:txBody>
          <a:bodyPr anchor="ctr" rtlCol="false" lIns="0" tIns="26082" rIns="0" bIns="26082"/>
          <a:lstStyle/>
          <a:p>
            <a:pPr algn="l" lvl="0">
              <a:lnSpc>
                <a:spcPct val="97940"/>
              </a:lnSpc>
            </a:pPr>
            <a:r>
              <a:rPr lang="en-US" sz="1867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73300" y="97155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회고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24100" y="10528300"/>
            <a:ext cx="5524500" cy="330200"/>
          </a:xfrm>
          <a:prstGeom prst="rect">
            <a:avLst/>
          </a:prstGeom>
        </p:spPr>
        <p:txBody>
          <a:bodyPr anchor="ctr" rtlCol="false" lIns="0" tIns="26082" rIns="0" bIns="26082"/>
          <a:lstStyle/>
          <a:p>
            <a:pPr algn="l" lvl="0">
              <a:lnSpc>
                <a:spcPct val="97940"/>
              </a:lnSpc>
            </a:pPr>
            <a:r>
              <a:rPr lang="en-US" sz="1867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73300" y="2882900"/>
            <a:ext cx="82931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 및 협업 방식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723900" y="8102600"/>
            <a:ext cx="79248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3492500"/>
            <a:ext cx="5207000" cy="1905000"/>
          </a:xfrm>
          <a:prstGeom prst="rect">
            <a:avLst/>
          </a:prstGeom>
          <a:effectLst>
            <a:outerShdw dir="2700000" dist="293587" blurRad="209915">
              <a:srgbClr val="3B4C82">
                <a:alpha val="23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070100" y="4089400"/>
            <a:ext cx="3378200" cy="723900"/>
          </a:xfrm>
          <a:prstGeom prst="rect">
            <a:avLst/>
          </a:prstGeom>
        </p:spPr>
        <p:txBody>
          <a:bodyPr anchor="ctr" rtlCol="false" lIns="0" tIns="61975" rIns="0" bIns="61975"/>
          <a:lstStyle/>
          <a:p>
            <a:pPr algn="ctr" lvl="0">
              <a:lnSpc>
                <a:spcPct val="96279"/>
              </a:lnSpc>
            </a:pPr>
            <a:r>
              <a:rPr lang="en-US" sz="4066" b="false" i="false" u="none" strike="noStrike" spc="-3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Alarm Clock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200" y="3975100"/>
            <a:ext cx="1917700" cy="9525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1299"/>
              </a:lnSpc>
            </a:pPr>
            <a:r>
              <a:rPr lang="en-US" sz="5333" b="true" i="false" u="none" strike="noStrike" spc="-200" cap="all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8000" y="6870700"/>
            <a:ext cx="5207000" cy="1905000"/>
          </a:xfrm>
          <a:prstGeom prst="rect">
            <a:avLst/>
          </a:prstGeom>
          <a:effectLst>
            <a:outerShdw dir="2700000" dist="293587" blurRad="209915">
              <a:srgbClr val="3B4C82">
                <a:alpha val="23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1041400" y="7340600"/>
            <a:ext cx="1435100" cy="9525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1299"/>
              </a:lnSpc>
            </a:pPr>
            <a:r>
              <a:rPr lang="en-US" sz="5333" b="true" i="false" u="none" strike="noStrike" spc="-200" cap="all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0100" y="7454900"/>
            <a:ext cx="3378200" cy="723900"/>
          </a:xfrm>
          <a:prstGeom prst="rect">
            <a:avLst/>
          </a:prstGeom>
        </p:spPr>
        <p:txBody>
          <a:bodyPr anchor="ctr" rtlCol="false" lIns="0" tIns="61975" rIns="0" bIns="61975"/>
          <a:lstStyle/>
          <a:p>
            <a:pPr algn="ctr" lvl="0">
              <a:lnSpc>
                <a:spcPct val="96279"/>
              </a:lnSpc>
            </a:pPr>
            <a:r>
              <a:rPr lang="en-US" sz="4066" b="false" i="false" u="none" strike="noStrike" spc="-3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Priority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10236200"/>
            <a:ext cx="5207000" cy="1905000"/>
          </a:xfrm>
          <a:prstGeom prst="rect">
            <a:avLst/>
          </a:prstGeom>
          <a:effectLst>
            <a:outerShdw dir="2700000" dist="293587" blurRad="209915">
              <a:srgbClr val="3B4C82">
                <a:alpha val="23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1041400" y="10718800"/>
            <a:ext cx="1435100" cy="9525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1299"/>
              </a:lnSpc>
            </a:pPr>
            <a:r>
              <a:rPr lang="en-US" sz="5333" b="true" i="false" u="none" strike="noStrike" spc="-200" cap="all">
                <a:solidFill>
                  <a:srgbClr val="656568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0100" y="10833100"/>
            <a:ext cx="3378200" cy="723900"/>
          </a:xfrm>
          <a:prstGeom prst="rect">
            <a:avLst/>
          </a:prstGeom>
        </p:spPr>
        <p:txBody>
          <a:bodyPr anchor="ctr" rtlCol="false" lIns="0" tIns="61975" rIns="0" bIns="61975"/>
          <a:lstStyle/>
          <a:p>
            <a:pPr algn="ctr" lvl="0">
              <a:lnSpc>
                <a:spcPct val="96279"/>
              </a:lnSpc>
            </a:pPr>
            <a:r>
              <a:rPr lang="en-US" sz="4066" b="false" i="false" u="none" strike="noStrike" spc="-300">
                <a:solidFill>
                  <a:srgbClr val="656568"/>
                </a:solidFill>
                <a:latin typeface="Pretendard Bold"/>
                <a:ea typeface="Pretendard Bold"/>
                <a:cs typeface="Pretendard Bold"/>
              </a:rPr>
              <a:t>MLFQS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95800" y="4673600"/>
            <a:ext cx="5168900" cy="7112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267700" y="3860800"/>
            <a:ext cx="3111500" cy="5715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5449"/>
              </a:lnSpc>
            </a:pPr>
            <a:r>
              <a:rPr lang="en-US" sz="32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정찬빈, 최영빈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224500" y="3860800"/>
            <a:ext cx="3111500" cy="5715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5449"/>
              </a:lnSpc>
            </a:pPr>
            <a:r>
              <a:rPr lang="en-US" sz="32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최우녕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17500" y="3860800"/>
            <a:ext cx="3111500" cy="5715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5449"/>
              </a:lnSpc>
            </a:pPr>
            <a:r>
              <a:rPr lang="en-US" sz="32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황정연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53900" y="4660900"/>
            <a:ext cx="4851400" cy="7137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83500" y="4648200"/>
            <a:ext cx="4267200" cy="715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17400" y="4368800"/>
            <a:ext cx="11772900" cy="4978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3700" y="4394200"/>
            <a:ext cx="1151890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협업 방식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247900" y="3492500"/>
            <a:ext cx="9271000" cy="711200"/>
          </a:xfrm>
          <a:prstGeom prst="rect">
            <a:avLst/>
          </a:prstGeom>
        </p:spPr>
        <p:txBody>
          <a:bodyPr anchor="ctr" rtlCol="false" lIns="0" tIns="63499" rIns="0" bIns="63499"/>
          <a:lstStyle/>
          <a:p>
            <a:pPr algn="l" lvl="0">
              <a:lnSpc>
                <a:spcPct val="9544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팀원별 학습 방식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9300" y="32766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47879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2921000" y="5283200"/>
            <a:ext cx="92075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 cap="all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전체 실행 흐름을 먼저 이해한 뒤 구현 시작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67564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2921000" y="7251700"/>
            <a:ext cx="92075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 cap="all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테스트 통과를 목표로 두고 필요한 기능부터 빠르게 구현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87249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3" id="13"/>
          <p:cNvSpPr txBox="true"/>
          <p:nvPr/>
        </p:nvSpPr>
        <p:spPr>
          <a:xfrm rot="0">
            <a:off x="2400300" y="9220200"/>
            <a:ext cx="102616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 cap="all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테스트 케이스를 먼저 읽고 요구 동작을 기준으로 관련 코드 공부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106807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2400300" y="11176000"/>
            <a:ext cx="102616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GitBook으로 기본 개념을 확인한 뒤, 구글링과 디버깅을 통해 구현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51100" y="6096000"/>
            <a:ext cx="7289800" cy="4864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976600" y="6235700"/>
            <a:ext cx="1066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FFFFFF"/>
                </a:solidFill>
                <a:latin typeface="GangwonEduAll Bold"/>
                <a:ea typeface="GangwonEduAll Bold"/>
                <a:cs typeface="GangwonEduAll Bold"/>
              </a:rPr>
              <a:t>AI↓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72000" y="6642100"/>
            <a:ext cx="1422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FFFFFF"/>
                </a:solidFill>
                <a:latin typeface="GangwonEduAll Bold"/>
                <a:ea typeface="GangwonEduAll Bold"/>
                <a:cs typeface="GangwonEduAll Bold"/>
              </a:rPr>
              <a:t>디버깅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66000" y="6273800"/>
            <a:ext cx="1422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FFFFFF"/>
                </a:solidFill>
                <a:latin typeface="GangwonEduAll Bold"/>
                <a:ea typeface="GangwonEduAll Bold"/>
                <a:cs typeface="GangwonEduAll Bold"/>
              </a:rPr>
              <a:t>대화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580100" y="7416800"/>
            <a:ext cx="1422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FFFFFF"/>
                </a:solidFill>
                <a:latin typeface="GangwonEduAll Bold"/>
                <a:ea typeface="GangwonEduAll Bold"/>
                <a:cs typeface="GangwonEduAll Bold"/>
              </a:rPr>
              <a:t>직접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협업 방식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247900" y="3492500"/>
            <a:ext cx="3505200" cy="711200"/>
          </a:xfrm>
          <a:prstGeom prst="rect">
            <a:avLst/>
          </a:prstGeom>
        </p:spPr>
        <p:txBody>
          <a:bodyPr anchor="ctr" rtlCol="false" lIns="0" tIns="63499" rIns="0" bIns="63499"/>
          <a:lstStyle/>
          <a:p>
            <a:pPr algn="l" lvl="0">
              <a:lnSpc>
                <a:spcPct val="95449"/>
              </a:lnSpc>
            </a:pPr>
            <a:r>
              <a:rPr lang="en-US" sz="39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Git을 사용한 협업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32766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11100" y="7150100"/>
            <a:ext cx="8293100" cy="2311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47900" y="4800600"/>
            <a:ext cx="9956800" cy="1181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각자의 브랜치에서 작업 후 dev로 PR</a:t>
            </a:r>
          </a:p>
          <a:p>
            <a:pPr algn="l" lvl="0">
              <a:lnSpc>
                <a:spcPct val="12449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하나의 통합본을 만들어 최종적으로 main에 merge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47900" y="6565900"/>
            <a:ext cx="9829800" cy="640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024600" y="3657600"/>
            <a:ext cx="4800600" cy="378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485571">
            <a:off x="16827500" y="5232400"/>
            <a:ext cx="1993900" cy="2070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135100" y="9080500"/>
            <a:ext cx="1612900" cy="355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611100" y="6565900"/>
            <a:ext cx="4051300" cy="444500"/>
          </a:xfrm>
          <a:prstGeom prst="rect">
            <a:avLst/>
          </a:prstGeom>
        </p:spPr>
        <p:txBody>
          <a:bodyPr anchor="ctr" rtlCol="false" lIns="0" tIns="40216" rIns="0" bIns="40216"/>
          <a:lstStyle/>
          <a:p>
            <a:pPr algn="l" lvl="0">
              <a:lnSpc>
                <a:spcPct val="95449"/>
              </a:lnSpc>
            </a:pPr>
            <a:r>
              <a:rPr lang="en-US" sz="25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[충돌을 줄이기 위한 컨벤션 작성]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084800" y="9398000"/>
            <a:ext cx="5740400" cy="3771900"/>
          </a:xfrm>
          <a:prstGeom prst="rect">
            <a:avLst/>
          </a:prstGeom>
          <a:effectLst>
            <a:outerShdw dir="2700000" dist="57997" blurRad="282737">
              <a:srgbClr val="000000">
                <a:alpha val="25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399999">
            <a:off x="9042400" y="9829800"/>
            <a:ext cx="6604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Priority-Preempt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1100" y="965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PRIORITY-PREEMPT 테스트 구현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022600" y="106045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03400" y="2755900"/>
            <a:ext cx="21945600" cy="660400"/>
          </a:xfrm>
          <a:prstGeom prst="rect">
            <a:avLst/>
          </a:prstGeom>
        </p:spPr>
        <p:txBody>
          <a:bodyPr anchor="ctr" rtlCol="false" lIns="0" tIns="56895" rIns="0" bIns="56895"/>
          <a:lstStyle/>
          <a:p>
            <a:pPr algn="ctr" lvl="0">
              <a:lnSpc>
                <a:spcPct val="96279"/>
              </a:lnSpc>
            </a:pPr>
            <a:r>
              <a:rPr lang="en-US" sz="3733" b="tru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[ 목표 ]</a:t>
            </a: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  </a:t>
            </a:r>
            <a:r>
              <a:rPr lang="en-US" sz="3733" b="true" i="false" u="none" strike="noStrike" spc="-2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새 스레드를 만들 때 생성되는 스레드의 우선순위가 현재 실행되고 있는 스레드의 우선순위보다 높으면 컨텍스트 스위치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4500" y="4394200"/>
            <a:ext cx="9271000" cy="711200"/>
          </a:xfrm>
          <a:prstGeom prst="rect">
            <a:avLst/>
          </a:prstGeom>
        </p:spPr>
        <p:txBody>
          <a:bodyPr anchor="ctr" rtlCol="false" lIns="0" tIns="63499" rIns="0" bIns="63499"/>
          <a:lstStyle/>
          <a:p>
            <a:pPr algn="l" lvl="0">
              <a:lnSpc>
                <a:spcPct val="9544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키워드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10200" y="42926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0" y="55245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0" y="74930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7531100" y="7670800"/>
            <a:ext cx="9207500" cy="1231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333" b="false" i="false" u="none" strike="noStrike" spc="-200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thread_yield_priority(t) 함수 생성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94500" y="116205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6946900" y="12115800"/>
            <a:ext cx="102616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컨텍스트 스위칭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97700" y="6019800"/>
            <a:ext cx="10261600" cy="5969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스레드 우선순위 왜 필요한가?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0" y="9563100"/>
            <a:ext cx="10553700" cy="1574800"/>
          </a:xfrm>
          <a:prstGeom prst="rect">
            <a:avLst/>
          </a:prstGeom>
          <a:effectLst>
            <a:outerShdw dir="2700000" dist="242576" blurRad="173442">
              <a:srgbClr val="3B4C82">
                <a:alpha val="23000"/>
              </a:srgbClr>
            </a:outerShdw>
          </a:effectLst>
        </p:spPr>
      </p:pic>
      <p:sp>
        <p:nvSpPr>
          <p:cNvPr name="TextBox 17" id="17"/>
          <p:cNvSpPr txBox="true"/>
          <p:nvPr/>
        </p:nvSpPr>
        <p:spPr>
          <a:xfrm rot="0">
            <a:off x="6997700" y="9842500"/>
            <a:ext cx="10261600" cy="10033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ctr" lvl="0">
              <a:lnSpc>
                <a:spcPct val="96279"/>
              </a:lnSpc>
            </a:pPr>
            <a:r>
              <a:rPr lang="en-US" sz="3333" b="false" i="false" u="none" strike="noStrike" spc="-200">
                <a:solidFill>
                  <a:srgbClr val="656568"/>
                </a:solidFill>
                <a:latin typeface="Pretendard Medium"/>
                <a:ea typeface="Pretendard Medium"/>
                <a:cs typeface="Pretendard Medium"/>
              </a:rPr>
              <a:t>왜 thread_yield_priority(t) 함수를
unblock() 함수 안에 넣지 않았는지?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6400" y="51181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우선순위가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필요한 이유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0700" y="53467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운영체제 예시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73400" y="7175500"/>
            <a:ext cx="13652500" cy="350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 키보드/마우스 입력 처리 -&gt; 높은 우선순위
2. 화면 렌더링(UI) -&gt; 높은 우선순위
3. 백그라운드 업데이트 다운로드 -&gt; 낮은 우선순위</a:t>
            </a:r>
          </a:p>
          <a:p>
            <a:pPr algn="l" lvl="0">
              <a:lnSpc>
                <a:spcPct val="124499"/>
              </a:lnSpc>
            </a:pPr>
            <a:br>
              <a:rPr/>
            </a:b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→ 사용자가 타이핑할 시 다운로드 때문에 입력이 밀리면 안되기 때문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73500" y="6972300"/>
            <a:ext cx="24384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1700" y="330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thread_ yield_priority() 함수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67400" y="2540000"/>
            <a:ext cx="12865100" cy="513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5842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1700" y="330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thread_create() 함수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34100" y="1917700"/>
            <a:ext cx="12331700" cy="1126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48500" y="12039600"/>
            <a:ext cx="45339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48500" y="11201400"/>
            <a:ext cx="4533900" cy="228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64300" y="5842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1700" y="330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thread_unblock() 함수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143500" y="2527300"/>
            <a:ext cx="13906500" cy="8890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46800" y="5842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11700" y="330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schedule() 함수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18400" y="5842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235700" y="2209800"/>
            <a:ext cx="11264900" cy="1023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Interrupt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6400" y="51181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Interrupt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는 대체 뭔데?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0700" y="53467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왜 </a:t>
            </a: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하드웨어 타이머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가 필요할까?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73400" y="7531100"/>
            <a:ext cx="17411700" cy="279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 인터럽트는 실행 흐름을 끊고 커널 핸들러로 점프시키는 신호다.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 이것 없이는 커널이 선점 시점도, 깨울 시점도 알 수 없다.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3. 스케줄링, sleep/wakeup, 선점은 모두 여기에 의존한다.</a:t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→ Pintos에서 `timer_interrupt`를 알아야 스레드가 왜 멈추고 왜 다시 도는지 보인다.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71700" y="6388100"/>
            <a:ext cx="75565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왜 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하드웨어 타이머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 필요할까?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36800" y="4419600"/>
            <a:ext cx="19710400" cy="713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01800" y="469900"/>
            <a:ext cx="20980400" cy="1276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Page Fault — 빈 리스트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3429000"/>
            <a:ext cx="10426700" cy="808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53800" y="3390900"/>
            <a:ext cx="11645900" cy="8153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62000" y="117983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부팅 시 ready_list에는 아무도 없다.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3500" y="1485900"/>
            <a:ext cx="19291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EOI 미전송 — 인터럽트 안에서 yield하면?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277600" y="3429000"/>
            <a:ext cx="12636500" cy="805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3429000"/>
            <a:ext cx="10426700" cy="8089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62000" y="117983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PIC가 다음 IRQ0을 영원히 차단한다.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해결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66500" y="3429000"/>
            <a:ext cx="11176000" cy="807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3429000"/>
            <a:ext cx="10426700" cy="8089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62000" y="117983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list_empty 가드 + intr_context 분기로 해결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79100" y="7112000"/>
            <a:ext cx="13589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Priority-Donation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76400" y="5118100"/>
            <a:ext cx="927100" cy="927100"/>
          </a:xfrm>
          <a:prstGeom prst="rect">
            <a:avLst/>
          </a:prstGeom>
          <a:effectLst>
            <a:outerShdw dir="2700000" dist="143014" blurRad="102255">
              <a:srgbClr val="3B4C82">
                <a:alpha val="23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왜 </a:t>
            </a:r>
            <a:r>
              <a:rPr lang="en-US" sz="7970" b="false" i="false" u="none" strike="noStrike" spc="-300" cap="all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riority Donation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 필요한 이유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0700" y="53467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각기 다른 제약조건으로 </a:t>
            </a:r>
            <a:r>
              <a:rPr lang="en-US" sz="4133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Thread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는 코어를 점유한다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73400" y="7531100"/>
            <a:ext cx="13652500" cy="279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 코어는 스레드를 구별하지 않고 priority 순으로 가져온다
2. 몇몇 스레드는 lock을 공유함(특정 자원 공유)
3. 공유 스레드들은 lock을 반납해야 코어 진입(발이 묶임)
</a:t>
            </a: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→ 따라서 lock 공유 스레드들 사이에선 priority 선점이 강제되지 않음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11500" y="7429500"/>
            <a:ext cx="3606800" cy="3606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240500" y="3175000"/>
            <a:ext cx="4292600" cy="4292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8872200" y="4660900"/>
            <a:ext cx="5029200" cy="13462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ctr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알잘딱깔센? </a:t>
            </a:r>
            <a:r>
              <a:rPr lang="en-US" sz="41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no</a:t>
            </a: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!</a:t>
            </a:r>
          </a:p>
          <a:p>
            <a:pPr algn="ctr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일일이 지시하셈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Priority Invertion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87900" y="2717800"/>
            <a:ext cx="14884400" cy="1016000"/>
          </a:xfrm>
          <a:prstGeom prst="rect">
            <a:avLst/>
          </a:prstGeom>
        </p:spPr>
        <p:txBody>
          <a:bodyPr anchor="ctr" rtlCol="false" lIns="0" tIns="144886" rIns="0" bIns="144886"/>
          <a:lstStyle/>
          <a:p>
            <a:pPr algn="ctr" lvl="0">
              <a:lnSpc>
                <a:spcPct val="83000"/>
              </a:lnSpc>
            </a:pPr>
            <a:r>
              <a:rPr lang="en-US" sz="5704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우선순위 역전이란?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30900" y="4013200"/>
            <a:ext cx="11811000" cy="581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303500" y="4013200"/>
            <a:ext cx="2451100" cy="1193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362700" y="9817100"/>
            <a:ext cx="13652500" cy="299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LOW thread, HIGH thread: </a:t>
            </a: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lock 공유</a:t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HIGH thread</a:t>
            </a: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: lock을 요청하더라도, LOW가 수행될 때 까지 대기</a:t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MEDIUM thread</a:t>
            </a: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: lock 공유 스레드 아님, cpu 선점이 일어남</a:t>
            </a:r>
          </a:p>
          <a:p>
            <a:pPr algn="l" lvl="0">
              <a:lnSpc>
                <a:spcPct val="124499"/>
              </a:lnSpc>
            </a:pPr>
            <a:r>
              <a:rPr lang="en-US" sz="533" b="false" i="false" u="none" strike="noStrike" spc="-1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533" b="false" i="false" u="none" strike="noStrike" spc="-1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→ 중요한 HIGH thread가 가장 늦게 실행되는 문제가 발생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p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riority Donation</a:t>
            </a: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으로 해결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0" y="3822700"/>
            <a:ext cx="12712700" cy="693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243300" y="4445000"/>
            <a:ext cx="2070100" cy="2844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207000" y="11252200"/>
            <a:ext cx="15151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LOW thread에 임시로 </a:t>
            </a: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HIGHT PRIORITY를 기부</a:t>
            </a: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→ MEDIUM thread 선점 차단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129000" y="10033000"/>
            <a:ext cx="1778000" cy="647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코드 구현 예시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08100" y="4610100"/>
            <a:ext cx="11074400" cy="561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35000" y="4635500"/>
            <a:ext cx="8216900" cy="5588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322300" y="36576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lock_release 함수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36703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lock_acquire 함수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0800" y="10985500"/>
            <a:ext cx="19837400" cy="137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→ 획득/릴리즈 함수에  </a:t>
            </a:r>
            <a:r>
              <a:rPr lang="en-US" sz="3733" b="tru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우선순위 기부</a:t>
            </a:r>
            <a:r>
              <a:rPr lang="en-US" sz="3733" b="true" i="false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then </a:t>
            </a:r>
            <a:r>
              <a:rPr lang="en-US" sz="3733" b="tru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우선순위 회수</a:t>
            </a:r>
            <a:r>
              <a:rPr lang="en-US" sz="3733" b="true" i="false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 로직을 작성해야 한다</a:t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→ current_thread함수와 lock객체의 hold를 통해 스레드 가져오기 then 우선순위 비교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124700" y="16383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회고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133600" y="3060700"/>
            <a:ext cx="19862800" cy="281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57500" y="3378200"/>
            <a:ext cx="5156200" cy="812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009900" y="3467100"/>
            <a:ext cx="4838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7700"/>
              </a:lnSpc>
            </a:pPr>
            <a:r>
              <a:rPr lang="en-US" sz="3466" b="false" i="false" u="none" strike="noStrike" spc="-1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이번 주 진행 방식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8200" y="3340100"/>
            <a:ext cx="13106400" cy="1282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466" b="false" i="false" u="none" strike="noStrike" spc="-10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초반 브랜치 전략과 컨벤션 문서를 정리하고,
같은 기능을 각자 구현한 뒤 더 좋은 코드를 팀의 베이스로 삼고자 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8200" y="4940300"/>
            <a:ext cx="13563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팀원마다 학습 속도와 방식이 달라 대화를 통해 문제를 해결하는 방식으로 변화됨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2032000" y="6223000"/>
            <a:ext cx="19862800" cy="264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43200" y="6540500"/>
            <a:ext cx="5156200" cy="812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895600" y="6642100"/>
            <a:ext cx="4838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7700"/>
              </a:lnSpc>
            </a:pPr>
            <a:r>
              <a:rPr lang="en-US" sz="3466" b="false" i="false" u="none" strike="noStrike" spc="-100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아쉬운 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56600" y="6807200"/>
            <a:ext cx="1271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구현 시점이 맞지 않아 코드 비교와 병합이 자연스럽게 이루어지지 못함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6600" y="7670800"/>
            <a:ext cx="135636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1A1A1A"/>
                </a:solidFill>
                <a:latin typeface="Pretendard Regular"/>
                <a:ea typeface="Pretendard Regular"/>
                <a:cs typeface="Pretendard Regular"/>
              </a:rPr>
              <a:t>각자의 구현 경험이 팀 안에서 충분히 공유되고 정리되어 축적되지는 못함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133600" y="9423400"/>
            <a:ext cx="19862800" cy="3454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81300" y="9817100"/>
            <a:ext cx="5156200" cy="812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946400" y="9918700"/>
            <a:ext cx="4838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57700"/>
              </a:lnSpc>
            </a:pPr>
            <a:r>
              <a:rPr lang="en-US" sz="3466" b="false" i="false" u="none" strike="noStrike" spc="-100">
                <a:solidFill>
                  <a:srgbClr val="04CC81"/>
                </a:solidFill>
                <a:latin typeface="S-Core Dream 5 Medium"/>
                <a:ea typeface="S-Core Dream 5 Medium"/>
                <a:cs typeface="S-Core Dream 5 Medium"/>
              </a:rPr>
              <a:t>차주 개선안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8200" y="10007600"/>
            <a:ext cx="12357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tru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매일 밤 10시 이전까지 개인 브랜치에 커밋하고, 서로의 코드에 리뷰 진행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8200" y="10909300"/>
            <a:ext cx="135636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466" b="tru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다음 날 아침에는 리뷰 내용을 바탕으로 코어 타임을 진행하고,
합칠 부분은 공통 베이스로 정리한 뒤 작업 진행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7400" y="6311900"/>
            <a:ext cx="7569200" cy="1079500"/>
          </a:xfrm>
          <a:prstGeom prst="rect">
            <a:avLst/>
          </a:prstGeom>
        </p:spPr>
        <p:txBody>
          <a:bodyPr anchor="ctr" rtlCol="false" lIns="0" tIns="155047" rIns="0" bIns="155047"/>
          <a:lstStyle/>
          <a:p>
            <a:pPr algn="ctr" lvl="0">
              <a:lnSpc>
                <a:spcPct val="83000"/>
              </a:lnSpc>
            </a:pPr>
            <a:r>
              <a:rPr lang="en-US" sz="6104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