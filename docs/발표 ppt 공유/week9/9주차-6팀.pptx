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Dancing Script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DancingScript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DancingScrip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ada9489af_6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ada9489af_6_6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ada9489af_7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ada9489af_7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da9489af_7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ada9489af_7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ada9489af_6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dada9489af_6_36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ada9489af_7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ada9489af_7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da9489af_7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ada9489af_7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ada9489af_7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ada9489af_7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ada9489af_7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ada9489af_7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ada9489af_7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ada9489af_7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ada9489af_7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ada9489af_7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ada9489af_7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dada9489af_7_85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ada9489af_2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dada9489af_2_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ada9489af_6_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dada9489af_6_94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ada9489af_6_1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ada9489af_6_181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ada9489af_6_2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dada9489af_6_222:notes"/>
          <p:cNvSpPr/>
          <p:nvPr>
            <p:ph idx="2" type="sldImg"/>
          </p:nvPr>
        </p:nvSpPr>
        <p:spPr>
          <a:xfrm>
            <a:off x="1140616" y="685800"/>
            <a:ext cx="45768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dada9489af_6_2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dada9489af_6_260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ada9489af_6_28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dada9489af_6_289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dada9489af_6_3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dada9489af_6_321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ada9489af_6_3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dada9489af_6_352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dada9489af_6_3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dada9489af_6_385:notes"/>
          <p:cNvSpPr/>
          <p:nvPr>
            <p:ph idx="2" type="sldImg"/>
          </p:nvPr>
        </p:nvSpPr>
        <p:spPr>
          <a:xfrm>
            <a:off x="1140616" y="685800"/>
            <a:ext cx="457676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4419600" y="4629150"/>
            <a:ext cx="213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7F5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69056"/>
            <a:ext cx="82296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00" lIns="34300" spcFirstLastPara="1" rIns="34300" wrap="square" tIns="343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4419600" y="4629150"/>
            <a:ext cx="2133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300" lIns="34300" spcFirstLastPara="1" rIns="34300" wrap="square" tIns="343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11.jpg"/><Relationship Id="rId5" Type="http://schemas.openxmlformats.org/officeDocument/2006/relationships/image" Target="../media/image3.png"/><Relationship Id="rId6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5"/>
          <p:cNvCxnSpPr/>
          <p:nvPr/>
        </p:nvCxnSpPr>
        <p:spPr>
          <a:xfrm>
            <a:off x="233414" y="925829"/>
            <a:ext cx="86775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" name="Google Shape;61;p15"/>
          <p:cNvSpPr/>
          <p:nvPr/>
        </p:nvSpPr>
        <p:spPr>
          <a:xfrm>
            <a:off x="192223" y="884681"/>
            <a:ext cx="82500" cy="822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8869775" y="884681"/>
            <a:ext cx="82500" cy="822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p15"/>
          <p:cNvCxnSpPr/>
          <p:nvPr/>
        </p:nvCxnSpPr>
        <p:spPr>
          <a:xfrm>
            <a:off x="3418845" y="2619756"/>
            <a:ext cx="947400" cy="0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4771279" y="2619756"/>
            <a:ext cx="981600" cy="0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15"/>
          <p:cNvSpPr/>
          <p:nvPr/>
        </p:nvSpPr>
        <p:spPr>
          <a:xfrm>
            <a:off x="4513836" y="2561463"/>
            <a:ext cx="116700" cy="1167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>
            <a:off x="302067" y="3854196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302067" y="3984498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302067" y="4114800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302067" y="4245101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302067" y="4375403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3437152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15"/>
          <p:cNvSpPr/>
          <p:nvPr/>
        </p:nvSpPr>
        <p:spPr>
          <a:xfrm>
            <a:off x="3389096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6064217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5"/>
          <p:cNvSpPr/>
          <p:nvPr/>
        </p:nvSpPr>
        <p:spPr>
          <a:xfrm>
            <a:off x="6016161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15"/>
          <p:cNvCxnSpPr/>
          <p:nvPr/>
        </p:nvCxnSpPr>
        <p:spPr>
          <a:xfrm>
            <a:off x="8759932" y="3854195"/>
            <a:ext cx="0" cy="52110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5"/>
          <p:cNvCxnSpPr/>
          <p:nvPr/>
        </p:nvCxnSpPr>
        <p:spPr>
          <a:xfrm>
            <a:off x="8828584" y="3854195"/>
            <a:ext cx="0" cy="52110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288325" y="493775"/>
            <a:ext cx="6786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lang="ko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PINTOS</a:t>
            </a:r>
            <a:endParaRPr/>
          </a:p>
        </p:txBody>
      </p:sp>
      <p:cxnSp>
        <p:nvCxnSpPr>
          <p:cNvPr id="78" name="Google Shape;78;p15"/>
          <p:cNvCxnSpPr/>
          <p:nvPr/>
        </p:nvCxnSpPr>
        <p:spPr>
          <a:xfrm>
            <a:off x="7483014" y="466343"/>
            <a:ext cx="0" cy="3018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5"/>
          <p:cNvSpPr txBox="1"/>
          <p:nvPr/>
        </p:nvSpPr>
        <p:spPr>
          <a:xfrm>
            <a:off x="7675239" y="500634"/>
            <a:ext cx="1290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80" name="Google Shape;80;p15"/>
          <p:cNvSpPr txBox="1"/>
          <p:nvPr/>
        </p:nvSpPr>
        <p:spPr>
          <a:xfrm>
            <a:off x="6850300" y="493775"/>
            <a:ext cx="4407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lang="ko" sz="700">
                <a:solidFill>
                  <a:srgbClr val="312A27"/>
                </a:solidFill>
              </a:rPr>
              <a:t>Operating System</a:t>
            </a:r>
            <a:endParaRPr sz="1100"/>
          </a:p>
        </p:txBody>
      </p:sp>
      <p:sp>
        <p:nvSpPr>
          <p:cNvPr id="81" name="Google Shape;81;p15"/>
          <p:cNvSpPr txBox="1"/>
          <p:nvPr/>
        </p:nvSpPr>
        <p:spPr>
          <a:xfrm>
            <a:off x="5362775" y="3531900"/>
            <a:ext cx="64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1200">
                <a:solidFill>
                  <a:srgbClr val="312A27"/>
                </a:solidFill>
              </a:rPr>
              <a:t>임가인</a:t>
            </a:r>
            <a:endParaRPr sz="1100"/>
          </a:p>
        </p:txBody>
      </p:sp>
      <p:sp>
        <p:nvSpPr>
          <p:cNvPr id="82" name="Google Shape;82;p15"/>
          <p:cNvSpPr txBox="1"/>
          <p:nvPr/>
        </p:nvSpPr>
        <p:spPr>
          <a:xfrm>
            <a:off x="3893642" y="3531900"/>
            <a:ext cx="64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1200">
                <a:solidFill>
                  <a:srgbClr val="312A27"/>
                </a:solidFill>
              </a:rPr>
              <a:t>유승이</a:t>
            </a:r>
            <a:endParaRPr sz="1100"/>
          </a:p>
        </p:txBody>
      </p:sp>
      <p:sp>
        <p:nvSpPr>
          <p:cNvPr id="83" name="Google Shape;83;p15"/>
          <p:cNvSpPr txBox="1"/>
          <p:nvPr/>
        </p:nvSpPr>
        <p:spPr>
          <a:xfrm>
            <a:off x="3159075" y="3531900"/>
            <a:ext cx="64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1200">
                <a:solidFill>
                  <a:srgbClr val="312A27"/>
                </a:solidFill>
              </a:rPr>
              <a:t>조현호</a:t>
            </a:r>
            <a:endParaRPr sz="1100"/>
          </a:p>
        </p:txBody>
      </p:sp>
      <p:sp>
        <p:nvSpPr>
          <p:cNvPr id="84" name="Google Shape;84;p15"/>
          <p:cNvSpPr txBox="1"/>
          <p:nvPr/>
        </p:nvSpPr>
        <p:spPr>
          <a:xfrm>
            <a:off x="4628208" y="3531900"/>
            <a:ext cx="643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1200">
                <a:solidFill>
                  <a:srgbClr val="312A27"/>
                </a:solidFill>
              </a:rPr>
              <a:t>최현진</a:t>
            </a:r>
            <a:endParaRPr sz="1100"/>
          </a:p>
        </p:txBody>
      </p:sp>
      <p:sp>
        <p:nvSpPr>
          <p:cNvPr id="85" name="Google Shape;85;p15"/>
          <p:cNvSpPr txBox="1"/>
          <p:nvPr/>
        </p:nvSpPr>
        <p:spPr>
          <a:xfrm>
            <a:off x="3944725" y="2678175"/>
            <a:ext cx="12549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300"/>
              <a:buFont typeface="Arial"/>
              <a:buNone/>
            </a:pPr>
            <a:r>
              <a:rPr lang="ko" sz="2000">
                <a:solidFill>
                  <a:srgbClr val="312A27"/>
                </a:solidFill>
              </a:rPr>
              <a:t>Team six</a:t>
            </a:r>
            <a:endParaRPr sz="2000"/>
          </a:p>
        </p:txBody>
      </p:sp>
      <p:sp>
        <p:nvSpPr>
          <p:cNvPr id="86" name="Google Shape;86;p15"/>
          <p:cNvSpPr txBox="1"/>
          <p:nvPr/>
        </p:nvSpPr>
        <p:spPr>
          <a:xfrm>
            <a:off x="4051476" y="1769375"/>
            <a:ext cx="10278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300"/>
              <a:buFont typeface="Arial"/>
              <a:buNone/>
            </a:pPr>
            <a:r>
              <a:rPr lang="ko" sz="4000">
                <a:solidFill>
                  <a:srgbClr val="312A27"/>
                </a:solidFill>
              </a:rPr>
              <a:t>O</a:t>
            </a:r>
            <a:r>
              <a:rPr lang="ko" sz="4000">
                <a:solidFill>
                  <a:srgbClr val="312A27"/>
                </a:solidFill>
              </a:rPr>
              <a:t>S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Google Shape;91;p16"/>
          <p:cNvCxnSpPr/>
          <p:nvPr/>
        </p:nvCxnSpPr>
        <p:spPr>
          <a:xfrm>
            <a:off x="233414" y="925829"/>
            <a:ext cx="8677553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" name="Google Shape;92;p16"/>
          <p:cNvSpPr/>
          <p:nvPr/>
        </p:nvSpPr>
        <p:spPr>
          <a:xfrm>
            <a:off x="192223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8869775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2505779" y="1769363"/>
            <a:ext cx="4153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300"/>
              <a:buFont typeface="Arial"/>
              <a:buNone/>
            </a:pPr>
            <a:r>
              <a:rPr b="0" i="0" lang="ko" sz="23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Operating System as OrcheStra</a:t>
            </a:r>
            <a:endParaRPr sz="1100"/>
          </a:p>
        </p:txBody>
      </p:sp>
      <p:cxnSp>
        <p:nvCxnSpPr>
          <p:cNvPr id="95" name="Google Shape;95;p16"/>
          <p:cNvCxnSpPr/>
          <p:nvPr/>
        </p:nvCxnSpPr>
        <p:spPr>
          <a:xfrm>
            <a:off x="3418845" y="2619756"/>
            <a:ext cx="947392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6"/>
          <p:cNvCxnSpPr/>
          <p:nvPr/>
        </p:nvCxnSpPr>
        <p:spPr>
          <a:xfrm>
            <a:off x="4771279" y="2619756"/>
            <a:ext cx="981717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16"/>
          <p:cNvSpPr/>
          <p:nvPr/>
        </p:nvSpPr>
        <p:spPr>
          <a:xfrm>
            <a:off x="4513836" y="2561463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397249" y="2944038"/>
            <a:ext cx="6390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Arial"/>
              <a:buNone/>
            </a:pPr>
            <a:r>
              <a:rPr lang="ko">
                <a:solidFill>
                  <a:srgbClr val="312A27"/>
                </a:solidFill>
              </a:rPr>
              <a:t>코드가 흐름이 되고, 흐름이 질서가 되는 순간</a:t>
            </a:r>
            <a:endParaRPr sz="1100"/>
          </a:p>
        </p:txBody>
      </p:sp>
      <p:cxnSp>
        <p:nvCxnSpPr>
          <p:cNvPr id="99" name="Google Shape;99;p16"/>
          <p:cNvCxnSpPr/>
          <p:nvPr/>
        </p:nvCxnSpPr>
        <p:spPr>
          <a:xfrm>
            <a:off x="302067" y="3854196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6"/>
          <p:cNvCxnSpPr/>
          <p:nvPr/>
        </p:nvCxnSpPr>
        <p:spPr>
          <a:xfrm>
            <a:off x="302067" y="3984498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16"/>
          <p:cNvCxnSpPr/>
          <p:nvPr/>
        </p:nvCxnSpPr>
        <p:spPr>
          <a:xfrm>
            <a:off x="302067" y="4114800"/>
            <a:ext cx="8526518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302067" y="4245101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302067" y="4375403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6"/>
          <p:cNvCxnSpPr/>
          <p:nvPr/>
        </p:nvCxnSpPr>
        <p:spPr>
          <a:xfrm>
            <a:off x="3437152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6"/>
          <p:cNvSpPr/>
          <p:nvPr/>
        </p:nvSpPr>
        <p:spPr>
          <a:xfrm>
            <a:off x="3389096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16"/>
          <p:cNvCxnSpPr/>
          <p:nvPr/>
        </p:nvCxnSpPr>
        <p:spPr>
          <a:xfrm>
            <a:off x="6064217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16"/>
          <p:cNvSpPr/>
          <p:nvPr/>
        </p:nvSpPr>
        <p:spPr>
          <a:xfrm>
            <a:off x="6016161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16"/>
          <p:cNvCxnSpPr/>
          <p:nvPr/>
        </p:nvCxnSpPr>
        <p:spPr>
          <a:xfrm>
            <a:off x="8759932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8828584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6"/>
          <p:cNvSpPr txBox="1"/>
          <p:nvPr/>
        </p:nvSpPr>
        <p:spPr>
          <a:xfrm>
            <a:off x="288336" y="493776"/>
            <a:ext cx="2437130" cy="260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cxnSp>
        <p:nvCxnSpPr>
          <p:cNvPr id="111" name="Google Shape;111;p16"/>
          <p:cNvCxnSpPr/>
          <p:nvPr/>
        </p:nvCxnSpPr>
        <p:spPr>
          <a:xfrm>
            <a:off x="7483014" y="466343"/>
            <a:ext cx="1" cy="301753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6"/>
          <p:cNvSpPr txBox="1"/>
          <p:nvPr/>
        </p:nvSpPr>
        <p:spPr>
          <a:xfrm>
            <a:off x="7675239" y="500634"/>
            <a:ext cx="129064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113" name="Google Shape;113;p16"/>
          <p:cNvSpPr txBox="1"/>
          <p:nvPr/>
        </p:nvSpPr>
        <p:spPr>
          <a:xfrm>
            <a:off x="6123714" y="493776"/>
            <a:ext cx="11670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Trace the state, and the thread starts to make sense.</a:t>
            </a:r>
            <a:endParaRPr sz="1100"/>
          </a:p>
        </p:txBody>
      </p:sp>
      <p:sp>
        <p:nvSpPr>
          <p:cNvPr id="114" name="Google Shape;114;p16"/>
          <p:cNvSpPr txBox="1"/>
          <p:nvPr/>
        </p:nvSpPr>
        <p:spPr>
          <a:xfrm>
            <a:off x="81008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THREAD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437152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TIMER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606421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SYNK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7" title="Artboard 2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8" title="tt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Google Shape;131;p19"/>
          <p:cNvCxnSpPr/>
          <p:nvPr/>
        </p:nvCxnSpPr>
        <p:spPr>
          <a:xfrm>
            <a:off x="233414" y="925829"/>
            <a:ext cx="8677553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19"/>
          <p:cNvSpPr/>
          <p:nvPr/>
        </p:nvSpPr>
        <p:spPr>
          <a:xfrm>
            <a:off x="192223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8869775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2505779" y="1769363"/>
            <a:ext cx="4153417" cy="534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700"/>
              <a:buFont typeface="Arial"/>
              <a:buNone/>
            </a:pPr>
            <a:r>
              <a:rPr lang="ko" sz="2700">
                <a:solidFill>
                  <a:srgbClr val="312A27"/>
                </a:solidFill>
              </a:rPr>
              <a:t>믿음</a:t>
            </a:r>
            <a:endParaRPr sz="1100"/>
          </a:p>
        </p:txBody>
      </p:sp>
      <p:cxnSp>
        <p:nvCxnSpPr>
          <p:cNvPr id="135" name="Google Shape;135;p19"/>
          <p:cNvCxnSpPr/>
          <p:nvPr/>
        </p:nvCxnSpPr>
        <p:spPr>
          <a:xfrm>
            <a:off x="3418845" y="2619756"/>
            <a:ext cx="947392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19"/>
          <p:cNvCxnSpPr/>
          <p:nvPr/>
        </p:nvCxnSpPr>
        <p:spPr>
          <a:xfrm>
            <a:off x="4771279" y="2619756"/>
            <a:ext cx="981717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9"/>
          <p:cNvSpPr/>
          <p:nvPr/>
        </p:nvSpPr>
        <p:spPr>
          <a:xfrm>
            <a:off x="4513836" y="2561463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1275674" y="2935213"/>
            <a:ext cx="6579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Arial"/>
              <a:buNone/>
            </a:pPr>
            <a:r>
              <a:rPr lang="ko">
                <a:solidFill>
                  <a:srgbClr val="312A27"/>
                </a:solidFill>
              </a:rPr>
              <a:t>함수 사이의 믿음, 실행을 이어가는 보이지 않는 약속</a:t>
            </a:r>
            <a:endParaRPr sz="1100"/>
          </a:p>
        </p:txBody>
      </p:sp>
      <p:cxnSp>
        <p:nvCxnSpPr>
          <p:cNvPr id="139" name="Google Shape;139;p19"/>
          <p:cNvCxnSpPr/>
          <p:nvPr/>
        </p:nvCxnSpPr>
        <p:spPr>
          <a:xfrm>
            <a:off x="302067" y="3854196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19"/>
          <p:cNvCxnSpPr/>
          <p:nvPr/>
        </p:nvCxnSpPr>
        <p:spPr>
          <a:xfrm>
            <a:off x="302067" y="3984498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302067" y="4114800"/>
            <a:ext cx="8526518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302067" y="4245101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302067" y="4375403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19"/>
          <p:cNvCxnSpPr/>
          <p:nvPr/>
        </p:nvCxnSpPr>
        <p:spPr>
          <a:xfrm>
            <a:off x="3437152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19"/>
          <p:cNvSpPr/>
          <p:nvPr/>
        </p:nvSpPr>
        <p:spPr>
          <a:xfrm>
            <a:off x="3389096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19"/>
          <p:cNvCxnSpPr/>
          <p:nvPr/>
        </p:nvCxnSpPr>
        <p:spPr>
          <a:xfrm>
            <a:off x="6064217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9"/>
          <p:cNvSpPr/>
          <p:nvPr/>
        </p:nvSpPr>
        <p:spPr>
          <a:xfrm>
            <a:off x="6016161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9"/>
          <p:cNvCxnSpPr/>
          <p:nvPr/>
        </p:nvCxnSpPr>
        <p:spPr>
          <a:xfrm>
            <a:off x="8759932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9"/>
          <p:cNvCxnSpPr/>
          <p:nvPr/>
        </p:nvCxnSpPr>
        <p:spPr>
          <a:xfrm>
            <a:off x="8828584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19"/>
          <p:cNvSpPr txBox="1"/>
          <p:nvPr/>
        </p:nvSpPr>
        <p:spPr>
          <a:xfrm>
            <a:off x="288336" y="493776"/>
            <a:ext cx="2437130" cy="260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cxnSp>
        <p:nvCxnSpPr>
          <p:cNvPr id="151" name="Google Shape;151;p19"/>
          <p:cNvCxnSpPr/>
          <p:nvPr/>
        </p:nvCxnSpPr>
        <p:spPr>
          <a:xfrm>
            <a:off x="7483014" y="466343"/>
            <a:ext cx="1" cy="301753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19"/>
          <p:cNvSpPr txBox="1"/>
          <p:nvPr/>
        </p:nvSpPr>
        <p:spPr>
          <a:xfrm>
            <a:off x="7675239" y="500634"/>
            <a:ext cx="129064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153" name="Google Shape;153;p19"/>
          <p:cNvSpPr txBox="1"/>
          <p:nvPr/>
        </p:nvSpPr>
        <p:spPr>
          <a:xfrm>
            <a:off x="6123714" y="493776"/>
            <a:ext cx="11670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Trace the state, and the thread starts to make sense.</a:t>
            </a:r>
            <a:endParaRPr sz="1100"/>
          </a:p>
        </p:txBody>
      </p:sp>
      <p:sp>
        <p:nvSpPr>
          <p:cNvPr id="154" name="Google Shape;154;p19"/>
          <p:cNvSpPr txBox="1"/>
          <p:nvPr/>
        </p:nvSpPr>
        <p:spPr>
          <a:xfrm>
            <a:off x="81008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LIST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3437152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INTERRUPT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606421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BLOCK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 title="Artboard 2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 title="Artboard 3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2" title="Artboard 4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3" title="Artboard 25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4" title="Artboard 26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5" title="Artboard 27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26"/>
          <p:cNvCxnSpPr/>
          <p:nvPr/>
        </p:nvCxnSpPr>
        <p:spPr>
          <a:xfrm>
            <a:off x="233414" y="925829"/>
            <a:ext cx="86775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26"/>
          <p:cNvSpPr/>
          <p:nvPr/>
        </p:nvSpPr>
        <p:spPr>
          <a:xfrm>
            <a:off x="192223" y="884681"/>
            <a:ext cx="82500" cy="822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8869775" y="884681"/>
            <a:ext cx="82500" cy="822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2505779" y="1769363"/>
            <a:ext cx="4153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300"/>
              <a:buFont typeface="Arial"/>
              <a:buNone/>
            </a:pPr>
            <a:r>
              <a:rPr b="0" i="0" lang="ko" sz="23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OrcheStra</a:t>
            </a:r>
            <a:endParaRPr sz="1100"/>
          </a:p>
        </p:txBody>
      </p:sp>
      <p:cxnSp>
        <p:nvCxnSpPr>
          <p:cNvPr id="195" name="Google Shape;195;p26"/>
          <p:cNvCxnSpPr/>
          <p:nvPr/>
        </p:nvCxnSpPr>
        <p:spPr>
          <a:xfrm>
            <a:off x="3418845" y="2619756"/>
            <a:ext cx="947400" cy="0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4771279" y="2619756"/>
            <a:ext cx="981600" cy="0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26"/>
          <p:cNvSpPr/>
          <p:nvPr/>
        </p:nvSpPr>
        <p:spPr>
          <a:xfrm>
            <a:off x="4513836" y="2561463"/>
            <a:ext cx="116700" cy="1167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1397249" y="2944038"/>
            <a:ext cx="63909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Arial"/>
              <a:buNone/>
            </a:pPr>
            <a:r>
              <a:rPr lang="ko">
                <a:solidFill>
                  <a:srgbClr val="312A27"/>
                </a:solidFill>
              </a:rPr>
              <a:t>4월의 교향곡 vol.2026</a:t>
            </a:r>
            <a:endParaRPr sz="1100"/>
          </a:p>
        </p:txBody>
      </p:sp>
      <p:cxnSp>
        <p:nvCxnSpPr>
          <p:cNvPr id="199" name="Google Shape;199;p26"/>
          <p:cNvCxnSpPr/>
          <p:nvPr/>
        </p:nvCxnSpPr>
        <p:spPr>
          <a:xfrm>
            <a:off x="302067" y="3854196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26"/>
          <p:cNvCxnSpPr/>
          <p:nvPr/>
        </p:nvCxnSpPr>
        <p:spPr>
          <a:xfrm>
            <a:off x="302067" y="3984498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26"/>
          <p:cNvCxnSpPr/>
          <p:nvPr/>
        </p:nvCxnSpPr>
        <p:spPr>
          <a:xfrm>
            <a:off x="302067" y="4114800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26"/>
          <p:cNvCxnSpPr/>
          <p:nvPr/>
        </p:nvCxnSpPr>
        <p:spPr>
          <a:xfrm>
            <a:off x="302067" y="4245101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26"/>
          <p:cNvCxnSpPr/>
          <p:nvPr/>
        </p:nvCxnSpPr>
        <p:spPr>
          <a:xfrm>
            <a:off x="302067" y="4375403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26"/>
          <p:cNvCxnSpPr/>
          <p:nvPr/>
        </p:nvCxnSpPr>
        <p:spPr>
          <a:xfrm>
            <a:off x="3437152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26"/>
          <p:cNvSpPr/>
          <p:nvPr/>
        </p:nvSpPr>
        <p:spPr>
          <a:xfrm>
            <a:off x="3389096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p26"/>
          <p:cNvCxnSpPr/>
          <p:nvPr/>
        </p:nvCxnSpPr>
        <p:spPr>
          <a:xfrm>
            <a:off x="6064217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26"/>
          <p:cNvSpPr/>
          <p:nvPr/>
        </p:nvSpPr>
        <p:spPr>
          <a:xfrm>
            <a:off x="6016161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26"/>
          <p:cNvCxnSpPr/>
          <p:nvPr/>
        </p:nvCxnSpPr>
        <p:spPr>
          <a:xfrm>
            <a:off x="8759932" y="3854195"/>
            <a:ext cx="0" cy="52110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26"/>
          <p:cNvCxnSpPr/>
          <p:nvPr/>
        </p:nvCxnSpPr>
        <p:spPr>
          <a:xfrm>
            <a:off x="8828584" y="3854195"/>
            <a:ext cx="0" cy="52110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26"/>
          <p:cNvSpPr txBox="1"/>
          <p:nvPr/>
        </p:nvSpPr>
        <p:spPr>
          <a:xfrm>
            <a:off x="288336" y="493776"/>
            <a:ext cx="2437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cxnSp>
        <p:nvCxnSpPr>
          <p:cNvPr id="211" name="Google Shape;211;p26"/>
          <p:cNvCxnSpPr/>
          <p:nvPr/>
        </p:nvCxnSpPr>
        <p:spPr>
          <a:xfrm>
            <a:off x="7483014" y="466343"/>
            <a:ext cx="0" cy="3018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26"/>
          <p:cNvSpPr txBox="1"/>
          <p:nvPr/>
        </p:nvSpPr>
        <p:spPr>
          <a:xfrm>
            <a:off x="7675239" y="500634"/>
            <a:ext cx="1290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213" name="Google Shape;213;p26"/>
          <p:cNvSpPr txBox="1"/>
          <p:nvPr/>
        </p:nvSpPr>
        <p:spPr>
          <a:xfrm>
            <a:off x="6123714" y="493776"/>
            <a:ext cx="1167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Trace the state, and the thread starts to make sense.</a:t>
            </a:r>
            <a:endParaRPr sz="1100"/>
          </a:p>
        </p:txBody>
      </p:sp>
      <p:sp>
        <p:nvSpPr>
          <p:cNvPr id="214" name="Google Shape;214;p26"/>
          <p:cNvSpPr txBox="1"/>
          <p:nvPr/>
        </p:nvSpPr>
        <p:spPr>
          <a:xfrm>
            <a:off x="81008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Synchronization</a:t>
            </a:r>
            <a:endParaRPr sz="2600">
              <a:solidFill>
                <a:srgbClr val="312A27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15" name="Google Shape;215;p26"/>
          <p:cNvSpPr txBox="1"/>
          <p:nvPr/>
        </p:nvSpPr>
        <p:spPr>
          <a:xfrm>
            <a:off x="3437152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Context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16" name="Google Shape;216;p26"/>
          <p:cNvSpPr txBox="1"/>
          <p:nvPr/>
        </p:nvSpPr>
        <p:spPr>
          <a:xfrm>
            <a:off x="606421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Scheduling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" name="Google Shape;221;p27"/>
          <p:cNvCxnSpPr/>
          <p:nvPr/>
        </p:nvCxnSpPr>
        <p:spPr>
          <a:xfrm>
            <a:off x="233414" y="925829"/>
            <a:ext cx="86775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27"/>
          <p:cNvSpPr/>
          <p:nvPr/>
        </p:nvSpPr>
        <p:spPr>
          <a:xfrm>
            <a:off x="192223" y="884681"/>
            <a:ext cx="82500" cy="822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8869775" y="884681"/>
            <a:ext cx="82500" cy="822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2505779" y="1769363"/>
            <a:ext cx="4153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700"/>
              <a:buFont typeface="Arial"/>
              <a:buNone/>
            </a:pPr>
            <a:r>
              <a:rPr lang="ko" sz="2700">
                <a:solidFill>
                  <a:srgbClr val="312A27"/>
                </a:solidFill>
              </a:rPr>
              <a:t>thread의 상태</a:t>
            </a:r>
            <a:endParaRPr sz="2700">
              <a:solidFill>
                <a:srgbClr val="312A27"/>
              </a:solidFill>
            </a:endParaRPr>
          </a:p>
        </p:txBody>
      </p:sp>
      <p:cxnSp>
        <p:nvCxnSpPr>
          <p:cNvPr id="225" name="Google Shape;225;p27"/>
          <p:cNvCxnSpPr/>
          <p:nvPr/>
        </p:nvCxnSpPr>
        <p:spPr>
          <a:xfrm>
            <a:off x="3418845" y="2619756"/>
            <a:ext cx="947400" cy="0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27"/>
          <p:cNvCxnSpPr/>
          <p:nvPr/>
        </p:nvCxnSpPr>
        <p:spPr>
          <a:xfrm>
            <a:off x="4771279" y="2619756"/>
            <a:ext cx="981600" cy="0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27"/>
          <p:cNvSpPr/>
          <p:nvPr/>
        </p:nvSpPr>
        <p:spPr>
          <a:xfrm>
            <a:off x="4513836" y="2561463"/>
            <a:ext cx="116700" cy="1167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p27"/>
          <p:cNvCxnSpPr/>
          <p:nvPr/>
        </p:nvCxnSpPr>
        <p:spPr>
          <a:xfrm>
            <a:off x="302067" y="3854196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27"/>
          <p:cNvCxnSpPr/>
          <p:nvPr/>
        </p:nvCxnSpPr>
        <p:spPr>
          <a:xfrm>
            <a:off x="302067" y="3984498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27"/>
          <p:cNvCxnSpPr/>
          <p:nvPr/>
        </p:nvCxnSpPr>
        <p:spPr>
          <a:xfrm>
            <a:off x="302067" y="4114800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27"/>
          <p:cNvCxnSpPr/>
          <p:nvPr/>
        </p:nvCxnSpPr>
        <p:spPr>
          <a:xfrm>
            <a:off x="302067" y="4245101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27"/>
          <p:cNvCxnSpPr/>
          <p:nvPr/>
        </p:nvCxnSpPr>
        <p:spPr>
          <a:xfrm>
            <a:off x="302067" y="4375403"/>
            <a:ext cx="8526600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27"/>
          <p:cNvCxnSpPr/>
          <p:nvPr/>
        </p:nvCxnSpPr>
        <p:spPr>
          <a:xfrm>
            <a:off x="3437152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4" name="Google Shape;234;p27"/>
          <p:cNvSpPr/>
          <p:nvPr/>
        </p:nvSpPr>
        <p:spPr>
          <a:xfrm>
            <a:off x="3389096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5" name="Google Shape;235;p27"/>
          <p:cNvCxnSpPr/>
          <p:nvPr/>
        </p:nvCxnSpPr>
        <p:spPr>
          <a:xfrm>
            <a:off x="6064217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27"/>
          <p:cNvSpPr/>
          <p:nvPr/>
        </p:nvSpPr>
        <p:spPr>
          <a:xfrm>
            <a:off x="6016161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p27"/>
          <p:cNvCxnSpPr/>
          <p:nvPr/>
        </p:nvCxnSpPr>
        <p:spPr>
          <a:xfrm>
            <a:off x="8759932" y="3854195"/>
            <a:ext cx="0" cy="52110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27"/>
          <p:cNvCxnSpPr/>
          <p:nvPr/>
        </p:nvCxnSpPr>
        <p:spPr>
          <a:xfrm>
            <a:off x="8828584" y="3854195"/>
            <a:ext cx="0" cy="52110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27"/>
          <p:cNvSpPr txBox="1"/>
          <p:nvPr/>
        </p:nvSpPr>
        <p:spPr>
          <a:xfrm>
            <a:off x="81008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READY 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3437152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BLOCKED 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606421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2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READY 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42" name="Google Shape;242;p27"/>
          <p:cNvSpPr txBox="1"/>
          <p:nvPr/>
        </p:nvSpPr>
        <p:spPr>
          <a:xfrm>
            <a:off x="288336" y="493776"/>
            <a:ext cx="2437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cxnSp>
        <p:nvCxnSpPr>
          <p:cNvPr id="243" name="Google Shape;243;p27"/>
          <p:cNvCxnSpPr/>
          <p:nvPr/>
        </p:nvCxnSpPr>
        <p:spPr>
          <a:xfrm>
            <a:off x="7483014" y="466343"/>
            <a:ext cx="0" cy="3018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7"/>
          <p:cNvSpPr txBox="1"/>
          <p:nvPr/>
        </p:nvSpPr>
        <p:spPr>
          <a:xfrm>
            <a:off x="7675239" y="500634"/>
            <a:ext cx="1290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245" name="Google Shape;245;p27"/>
          <p:cNvSpPr txBox="1"/>
          <p:nvPr/>
        </p:nvSpPr>
        <p:spPr>
          <a:xfrm>
            <a:off x="6123714" y="493776"/>
            <a:ext cx="1167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Trace the state, and the thread starts to make sense.</a:t>
            </a:r>
            <a:endParaRPr sz="1100"/>
          </a:p>
        </p:txBody>
      </p:sp>
      <p:sp>
        <p:nvSpPr>
          <p:cNvPr id="246" name="Google Shape;246;p27"/>
          <p:cNvSpPr txBox="1"/>
          <p:nvPr/>
        </p:nvSpPr>
        <p:spPr>
          <a:xfrm>
            <a:off x="1028000" y="2911200"/>
            <a:ext cx="182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40000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ct val="100000"/>
              <a:buFont typeface="Arial"/>
              <a:buNone/>
            </a:pPr>
            <a:r>
              <a:t/>
            </a:r>
            <a:endParaRPr>
              <a:solidFill>
                <a:srgbClr val="312A27"/>
              </a:solidFill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ct val="40000"/>
              <a:buFont typeface="Arial"/>
              <a:buNone/>
            </a:pPr>
            <a:r>
              <a:rPr lang="ko" sz="3500">
                <a:solidFill>
                  <a:srgbClr val="312A27"/>
                </a:solidFill>
              </a:rPr>
              <a:t>thread_yield() </a:t>
            </a:r>
            <a:endParaRPr sz="3500">
              <a:solidFill>
                <a:srgbClr val="312A27"/>
              </a:solidFill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ct val="40000"/>
              <a:buFont typeface="Arial"/>
              <a:buNone/>
            </a:pPr>
            <a:r>
              <a:rPr lang="ko" sz="3500">
                <a:solidFill>
                  <a:srgbClr val="312A27"/>
                </a:solidFill>
              </a:rPr>
              <a:t>연주자가 물러남</a:t>
            </a:r>
            <a:endParaRPr sz="3500">
              <a:solidFill>
                <a:srgbClr val="312A27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ct val="100000"/>
              <a:buFont typeface="Arial"/>
              <a:buNone/>
            </a:pPr>
            <a:r>
              <a:t/>
            </a:r>
            <a:endParaRPr>
              <a:solidFill>
                <a:srgbClr val="312A27"/>
              </a:solidFill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3775600" y="2911200"/>
            <a:ext cx="182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Arial"/>
              <a:buNone/>
            </a:pPr>
            <a:r>
              <a:rPr lang="ko">
                <a:solidFill>
                  <a:srgbClr val="312A27"/>
                </a:solidFill>
              </a:rPr>
              <a:t>sema_down()</a:t>
            </a:r>
            <a:endParaRPr>
              <a:solidFill>
                <a:srgbClr val="312A27"/>
              </a:solidFill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Arial"/>
              <a:buNone/>
            </a:pPr>
            <a:r>
              <a:rPr lang="ko">
                <a:solidFill>
                  <a:srgbClr val="312A27"/>
                </a:solidFill>
              </a:rPr>
              <a:t>연주 대기 중 </a:t>
            </a:r>
            <a:endParaRPr>
              <a:solidFill>
                <a:srgbClr val="312A27"/>
              </a:solidFill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6523200" y="2911200"/>
            <a:ext cx="1824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Arial"/>
              <a:buNone/>
            </a:pPr>
            <a:r>
              <a:rPr lang="ko">
                <a:solidFill>
                  <a:srgbClr val="312A27"/>
                </a:solidFill>
              </a:rPr>
              <a:t>sema_up()</a:t>
            </a:r>
            <a:endParaRPr>
              <a:solidFill>
                <a:srgbClr val="312A2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Arial"/>
              <a:buNone/>
            </a:pPr>
            <a:r>
              <a:rPr lang="ko">
                <a:solidFill>
                  <a:srgbClr val="312A27"/>
                </a:solidFill>
              </a:rPr>
              <a:t>연주 대기열로 복귀 </a:t>
            </a:r>
            <a:endParaRPr>
              <a:solidFill>
                <a:srgbClr val="312A2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3" name="Google Shape;253;p28"/>
          <p:cNvCxnSpPr/>
          <p:nvPr/>
        </p:nvCxnSpPr>
        <p:spPr>
          <a:xfrm>
            <a:off x="233414" y="925829"/>
            <a:ext cx="8677553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28"/>
          <p:cNvSpPr/>
          <p:nvPr/>
        </p:nvSpPr>
        <p:spPr>
          <a:xfrm>
            <a:off x="192223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8869775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2505779" y="1769363"/>
            <a:ext cx="4153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ct val="100000"/>
              <a:buFont typeface="Arial"/>
              <a:buNone/>
            </a:pPr>
            <a:r>
              <a:rPr lang="ko" sz="2700">
                <a:solidFill>
                  <a:srgbClr val="312A27"/>
                </a:solidFill>
              </a:rPr>
              <a:t>priority</a:t>
            </a:r>
            <a:endParaRPr sz="2700">
              <a:solidFill>
                <a:srgbClr val="312A27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ct val="100000"/>
              <a:buFont typeface="Arial"/>
              <a:buNone/>
            </a:pPr>
            <a:r>
              <a:rPr lang="ko" sz="2700">
                <a:solidFill>
                  <a:srgbClr val="312A27"/>
                </a:solidFill>
              </a:rPr>
              <a:t>연주의 우선권</a:t>
            </a:r>
            <a:endParaRPr sz="2700">
              <a:solidFill>
                <a:srgbClr val="312A27"/>
              </a:solidFill>
            </a:endParaRPr>
          </a:p>
        </p:txBody>
      </p:sp>
      <p:cxnSp>
        <p:nvCxnSpPr>
          <p:cNvPr id="257" name="Google Shape;257;p28"/>
          <p:cNvCxnSpPr/>
          <p:nvPr/>
        </p:nvCxnSpPr>
        <p:spPr>
          <a:xfrm>
            <a:off x="3418845" y="2619756"/>
            <a:ext cx="947392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8"/>
          <p:cNvCxnSpPr/>
          <p:nvPr/>
        </p:nvCxnSpPr>
        <p:spPr>
          <a:xfrm>
            <a:off x="4771279" y="2619756"/>
            <a:ext cx="981717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8"/>
          <p:cNvSpPr/>
          <p:nvPr/>
        </p:nvSpPr>
        <p:spPr>
          <a:xfrm>
            <a:off x="4513836" y="2561463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8"/>
          <p:cNvSpPr txBox="1"/>
          <p:nvPr/>
        </p:nvSpPr>
        <p:spPr>
          <a:xfrm>
            <a:off x="1613310" y="2914650"/>
            <a:ext cx="5938357" cy="493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Arial"/>
              <a:buNone/>
            </a:pPr>
            <a:r>
              <a:rPr lang="ko">
                <a:solidFill>
                  <a:srgbClr val="312A27"/>
                </a:solidFill>
              </a:rPr>
              <a:t>연주 흐름을 이끄는 thread</a:t>
            </a:r>
            <a:endParaRPr sz="1100"/>
          </a:p>
        </p:txBody>
      </p:sp>
      <p:cxnSp>
        <p:nvCxnSpPr>
          <p:cNvPr id="261" name="Google Shape;261;p28"/>
          <p:cNvCxnSpPr/>
          <p:nvPr/>
        </p:nvCxnSpPr>
        <p:spPr>
          <a:xfrm>
            <a:off x="302067" y="3854196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28"/>
          <p:cNvCxnSpPr/>
          <p:nvPr/>
        </p:nvCxnSpPr>
        <p:spPr>
          <a:xfrm>
            <a:off x="302067" y="3984498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3" name="Google Shape;263;p28"/>
          <p:cNvCxnSpPr/>
          <p:nvPr/>
        </p:nvCxnSpPr>
        <p:spPr>
          <a:xfrm>
            <a:off x="302067" y="4114800"/>
            <a:ext cx="8526518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4" name="Google Shape;264;p28"/>
          <p:cNvCxnSpPr/>
          <p:nvPr/>
        </p:nvCxnSpPr>
        <p:spPr>
          <a:xfrm>
            <a:off x="302067" y="4245101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28"/>
          <p:cNvCxnSpPr/>
          <p:nvPr/>
        </p:nvCxnSpPr>
        <p:spPr>
          <a:xfrm>
            <a:off x="302067" y="4375403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8"/>
          <p:cNvCxnSpPr/>
          <p:nvPr/>
        </p:nvCxnSpPr>
        <p:spPr>
          <a:xfrm>
            <a:off x="3437152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28"/>
          <p:cNvSpPr/>
          <p:nvPr/>
        </p:nvSpPr>
        <p:spPr>
          <a:xfrm>
            <a:off x="3389096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28"/>
          <p:cNvCxnSpPr/>
          <p:nvPr/>
        </p:nvCxnSpPr>
        <p:spPr>
          <a:xfrm>
            <a:off x="6064217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28"/>
          <p:cNvSpPr/>
          <p:nvPr/>
        </p:nvSpPr>
        <p:spPr>
          <a:xfrm>
            <a:off x="6016161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0" name="Google Shape;270;p28"/>
          <p:cNvCxnSpPr/>
          <p:nvPr/>
        </p:nvCxnSpPr>
        <p:spPr>
          <a:xfrm>
            <a:off x="8759932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1" name="Google Shape;271;p28"/>
          <p:cNvCxnSpPr/>
          <p:nvPr/>
        </p:nvCxnSpPr>
        <p:spPr>
          <a:xfrm>
            <a:off x="8828584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28"/>
          <p:cNvSpPr txBox="1"/>
          <p:nvPr/>
        </p:nvSpPr>
        <p:spPr>
          <a:xfrm>
            <a:off x="810087" y="4011930"/>
            <a:ext cx="2627065" cy="192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ready_list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3437152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3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list_insert_ordered 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6064217" y="4011930"/>
            <a:ext cx="26271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300"/>
              <a:buFont typeface="Arial"/>
              <a:buNone/>
            </a:pPr>
            <a:r>
              <a:rPr lang="ko" sz="2600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sema_up </a:t>
            </a:r>
            <a:endParaRPr sz="26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288336" y="493776"/>
            <a:ext cx="2437130" cy="260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cxnSp>
        <p:nvCxnSpPr>
          <p:cNvPr id="276" name="Google Shape;276;p28"/>
          <p:cNvCxnSpPr/>
          <p:nvPr/>
        </p:nvCxnSpPr>
        <p:spPr>
          <a:xfrm>
            <a:off x="7483014" y="466343"/>
            <a:ext cx="1" cy="301753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28"/>
          <p:cNvSpPr txBox="1"/>
          <p:nvPr/>
        </p:nvSpPr>
        <p:spPr>
          <a:xfrm>
            <a:off x="7675239" y="500634"/>
            <a:ext cx="129064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278" name="Google Shape;278;p28"/>
          <p:cNvSpPr txBox="1"/>
          <p:nvPr/>
        </p:nvSpPr>
        <p:spPr>
          <a:xfrm>
            <a:off x="6123714" y="493776"/>
            <a:ext cx="11670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Trace the state, and the thread starts to make sense.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" id="283" name="Google Shape;28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/>
          <p:cNvSpPr txBox="1"/>
          <p:nvPr/>
        </p:nvSpPr>
        <p:spPr>
          <a:xfrm>
            <a:off x="411909" y="381000"/>
            <a:ext cx="7620000" cy="42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7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완성된 교향곡에서 베이스를 찾는 과정이었다</a:t>
            </a:r>
            <a:endParaRPr b="1" sz="279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411889" y="765300"/>
            <a:ext cx="57150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400">
                <a:solidFill>
                  <a:srgbClr val="596273"/>
                </a:solidFill>
                <a:latin typeface="Arial"/>
                <a:ea typeface="Arial"/>
                <a:cs typeface="Arial"/>
                <a:sym typeface="Arial"/>
              </a:rPr>
              <a:t>말로 설명하기 어려운 지점: 두 tick의 역할 차이와 interrupt의 박자</a:t>
            </a:r>
            <a:endParaRPr b="0" sz="1400">
              <a:solidFill>
                <a:srgbClr val="5962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29"/>
          <p:cNvCxnSpPr/>
          <p:nvPr/>
        </p:nvCxnSpPr>
        <p:spPr>
          <a:xfrm>
            <a:off x="755167" y="1474470"/>
            <a:ext cx="7345800" cy="0"/>
          </a:xfrm>
          <a:prstGeom prst="straightConnector1">
            <a:avLst/>
          </a:prstGeom>
          <a:noFill/>
          <a:ln cap="flat" cmpd="sng" w="13950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7" name="Google Shape;287;p29"/>
          <p:cNvCxnSpPr/>
          <p:nvPr/>
        </p:nvCxnSpPr>
        <p:spPr>
          <a:xfrm>
            <a:off x="755167" y="1597913"/>
            <a:ext cx="7345800" cy="0"/>
          </a:xfrm>
          <a:prstGeom prst="straightConnector1">
            <a:avLst/>
          </a:prstGeom>
          <a:noFill/>
          <a:ln cap="flat" cmpd="sng" w="13950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8" name="Google Shape;288;p29"/>
          <p:cNvCxnSpPr/>
          <p:nvPr/>
        </p:nvCxnSpPr>
        <p:spPr>
          <a:xfrm>
            <a:off x="755167" y="1721358"/>
            <a:ext cx="7345800" cy="0"/>
          </a:xfrm>
          <a:prstGeom prst="straightConnector1">
            <a:avLst/>
          </a:prstGeom>
          <a:noFill/>
          <a:ln cap="flat" cmpd="sng" w="13950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89" name="Google Shape;289;p29"/>
          <p:cNvCxnSpPr/>
          <p:nvPr/>
        </p:nvCxnSpPr>
        <p:spPr>
          <a:xfrm>
            <a:off x="755167" y="1844801"/>
            <a:ext cx="7345800" cy="0"/>
          </a:xfrm>
          <a:prstGeom prst="straightConnector1">
            <a:avLst/>
          </a:prstGeom>
          <a:noFill/>
          <a:ln cap="flat" cmpd="sng" w="13950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0" name="Google Shape;290;p29"/>
          <p:cNvCxnSpPr/>
          <p:nvPr/>
        </p:nvCxnSpPr>
        <p:spPr>
          <a:xfrm>
            <a:off x="755167" y="1968245"/>
            <a:ext cx="7345800" cy="0"/>
          </a:xfrm>
          <a:prstGeom prst="straightConnector1">
            <a:avLst/>
          </a:prstGeom>
          <a:noFill/>
          <a:ln cap="flat" cmpd="sng" w="13950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91" name="Google Shape;291;p29"/>
          <p:cNvCxnSpPr/>
          <p:nvPr/>
        </p:nvCxnSpPr>
        <p:spPr>
          <a:xfrm>
            <a:off x="1681962" y="1289304"/>
            <a:ext cx="0" cy="17625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2" name="Google Shape;292;p29"/>
          <p:cNvSpPr txBox="1"/>
          <p:nvPr/>
        </p:nvSpPr>
        <p:spPr>
          <a:xfrm>
            <a:off x="1491463" y="3127248"/>
            <a:ext cx="381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tick</a:t>
            </a:r>
            <a:endParaRPr b="1" sz="8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29"/>
          <p:cNvCxnSpPr/>
          <p:nvPr/>
        </p:nvCxnSpPr>
        <p:spPr>
          <a:xfrm>
            <a:off x="2952016" y="1289304"/>
            <a:ext cx="0" cy="17625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4" name="Google Shape;294;p29"/>
          <p:cNvSpPr txBox="1"/>
          <p:nvPr/>
        </p:nvSpPr>
        <p:spPr>
          <a:xfrm>
            <a:off x="2761517" y="3127248"/>
            <a:ext cx="381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tick</a:t>
            </a:r>
            <a:endParaRPr b="1" sz="8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p29"/>
          <p:cNvCxnSpPr/>
          <p:nvPr/>
        </p:nvCxnSpPr>
        <p:spPr>
          <a:xfrm>
            <a:off x="4222068" y="1289304"/>
            <a:ext cx="0" cy="17625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6" name="Google Shape;296;p29"/>
          <p:cNvSpPr txBox="1"/>
          <p:nvPr/>
        </p:nvSpPr>
        <p:spPr>
          <a:xfrm>
            <a:off x="4031571" y="3127248"/>
            <a:ext cx="381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tick</a:t>
            </a:r>
            <a:endParaRPr b="1" sz="8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" name="Google Shape;297;p29"/>
          <p:cNvCxnSpPr/>
          <p:nvPr/>
        </p:nvCxnSpPr>
        <p:spPr>
          <a:xfrm>
            <a:off x="5492121" y="1289304"/>
            <a:ext cx="0" cy="17625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8" name="Google Shape;298;p29"/>
          <p:cNvSpPr txBox="1"/>
          <p:nvPr/>
        </p:nvSpPr>
        <p:spPr>
          <a:xfrm>
            <a:off x="5301625" y="3127248"/>
            <a:ext cx="381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tick</a:t>
            </a:r>
            <a:endParaRPr b="1" sz="8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29"/>
          <p:cNvCxnSpPr/>
          <p:nvPr/>
        </p:nvCxnSpPr>
        <p:spPr>
          <a:xfrm>
            <a:off x="6762173" y="1289304"/>
            <a:ext cx="0" cy="17625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0" name="Google Shape;300;p29"/>
          <p:cNvSpPr txBox="1"/>
          <p:nvPr/>
        </p:nvSpPr>
        <p:spPr>
          <a:xfrm>
            <a:off x="6571669" y="3127248"/>
            <a:ext cx="381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tick</a:t>
            </a:r>
            <a:endParaRPr b="1" sz="8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29"/>
          <p:cNvCxnSpPr/>
          <p:nvPr/>
        </p:nvCxnSpPr>
        <p:spPr>
          <a:xfrm>
            <a:off x="1084694" y="1337309"/>
            <a:ext cx="6329700" cy="1645800"/>
          </a:xfrm>
          <a:prstGeom prst="straightConnector1">
            <a:avLst/>
          </a:prstGeom>
          <a:noFill/>
          <a:ln cap="flat" cmpd="sng" w="40625">
            <a:solidFill>
              <a:srgbClr val="B4231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2" name="Google Shape;302;p29"/>
          <p:cNvSpPr txBox="1"/>
          <p:nvPr/>
        </p:nvSpPr>
        <p:spPr>
          <a:xfrm>
            <a:off x="6096000" y="3190875"/>
            <a:ext cx="14289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B42318"/>
                </a:solidFill>
                <a:latin typeface="Arial"/>
                <a:ea typeface="Arial"/>
                <a:cs typeface="Arial"/>
                <a:sym typeface="Arial"/>
              </a:rPr>
              <a:t>지휘봉 = interrupt</a:t>
            </a:r>
            <a:endParaRPr b="1" sz="1000">
              <a:solidFill>
                <a:srgbClr val="B423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2015750" y="2228852"/>
            <a:ext cx="933600" cy="390900"/>
          </a:xfrm>
          <a:prstGeom prst="roundRect">
            <a:avLst>
              <a:gd fmla="val 16667" name="adj"/>
            </a:avLst>
          </a:prstGeom>
          <a:solidFill>
            <a:srgbClr val="0F766E"/>
          </a:solidFill>
          <a:ln cap="flat" cmpd="sng" w="13950">
            <a:solidFill>
              <a:srgbClr val="0F766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9"/>
          <p:cNvSpPr txBox="1"/>
          <p:nvPr/>
        </p:nvSpPr>
        <p:spPr>
          <a:xfrm>
            <a:off x="2015749" y="2316604"/>
            <a:ext cx="9336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RUNNING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29"/>
          <p:cNvCxnSpPr/>
          <p:nvPr/>
        </p:nvCxnSpPr>
        <p:spPr>
          <a:xfrm>
            <a:off x="3006935" y="2324862"/>
            <a:ext cx="329400" cy="0"/>
          </a:xfrm>
          <a:prstGeom prst="straightConnector1">
            <a:avLst/>
          </a:prstGeom>
          <a:noFill/>
          <a:ln cap="flat" cmpd="sng" w="16500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6" name="Google Shape;306;p29"/>
          <p:cNvSpPr/>
          <p:nvPr/>
        </p:nvSpPr>
        <p:spPr>
          <a:xfrm>
            <a:off x="3283150" y="2228850"/>
            <a:ext cx="933600" cy="429300"/>
          </a:xfrm>
          <a:prstGeom prst="roundRect">
            <a:avLst>
              <a:gd fmla="val 16667" name="adj"/>
            </a:avLst>
          </a:prstGeom>
          <a:solidFill>
            <a:srgbClr val="B7791F"/>
          </a:solidFill>
          <a:ln cap="flat" cmpd="sng" w="13950">
            <a:solidFill>
              <a:srgbClr val="B7791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9"/>
          <p:cNvSpPr txBox="1"/>
          <p:nvPr/>
        </p:nvSpPr>
        <p:spPr>
          <a:xfrm>
            <a:off x="3394832" y="2316594"/>
            <a:ext cx="7689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29"/>
          <p:cNvCxnSpPr/>
          <p:nvPr/>
        </p:nvCxnSpPr>
        <p:spPr>
          <a:xfrm>
            <a:off x="4256393" y="2324862"/>
            <a:ext cx="329400" cy="0"/>
          </a:xfrm>
          <a:prstGeom prst="straightConnector1">
            <a:avLst/>
          </a:prstGeom>
          <a:noFill/>
          <a:ln cap="flat" cmpd="sng" w="16500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9" name="Google Shape;309;p29"/>
          <p:cNvSpPr/>
          <p:nvPr/>
        </p:nvSpPr>
        <p:spPr>
          <a:xfrm>
            <a:off x="4582526" y="2228852"/>
            <a:ext cx="933600" cy="390900"/>
          </a:xfrm>
          <a:prstGeom prst="roundRect">
            <a:avLst>
              <a:gd fmla="val 16667" name="adj"/>
            </a:avLst>
          </a:prstGeom>
          <a:solidFill>
            <a:srgbClr val="6B3F1D"/>
          </a:solidFill>
          <a:ln cap="flat" cmpd="sng" w="13950">
            <a:solidFill>
              <a:srgbClr val="6B3F1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4558526" y="2316600"/>
            <a:ext cx="9336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BLOCKED</a:t>
            </a:r>
            <a:endParaRPr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6672" y="3737609"/>
            <a:ext cx="2320500" cy="5349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1395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686515" y="3829050"/>
            <a:ext cx="2094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시스템 전체 시간 tick</a:t>
            </a:r>
            <a:endParaRPr b="1" sz="11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686515" y="4048125"/>
            <a:ext cx="2094000" cy="14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interrupt마다 증가하는 박자</a:t>
            </a:r>
            <a:endParaRPr b="0" sz="92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3322733" y="3737609"/>
            <a:ext cx="2320500" cy="5349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13950">
            <a:solidFill>
              <a:srgbClr val="8A817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9"/>
          <p:cNvSpPr txBox="1"/>
          <p:nvPr/>
        </p:nvSpPr>
        <p:spPr>
          <a:xfrm>
            <a:off x="3432572" y="3829050"/>
            <a:ext cx="2094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8A8173"/>
                </a:solidFill>
                <a:latin typeface="Arial"/>
                <a:ea typeface="Arial"/>
                <a:cs typeface="Arial"/>
                <a:sym typeface="Arial"/>
              </a:rPr>
              <a:t>CPU 사용량 tick</a:t>
            </a:r>
            <a:endParaRPr b="1" sz="1100">
              <a:solidFill>
                <a:srgbClr val="8A817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3432572" y="4048125"/>
            <a:ext cx="2094000" cy="14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특정 파트가 얼마나 연주했는지</a:t>
            </a:r>
            <a:endParaRPr b="0" sz="92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6068793" y="3737609"/>
            <a:ext cx="2320500" cy="5349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13950">
            <a:solidFill>
              <a:srgbClr val="6B3F1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6178639" y="3829050"/>
            <a:ext cx="2094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6B3F1D"/>
                </a:solidFill>
                <a:latin typeface="Arial"/>
                <a:ea typeface="Arial"/>
                <a:cs typeface="Arial"/>
                <a:sym typeface="Arial"/>
              </a:rPr>
              <a:t>상태 전이</a:t>
            </a:r>
            <a:endParaRPr b="1" sz="1100">
              <a:solidFill>
                <a:srgbClr val="6B3F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9"/>
          <p:cNvSpPr txBox="1"/>
          <p:nvPr/>
        </p:nvSpPr>
        <p:spPr>
          <a:xfrm>
            <a:off x="6178639" y="4048125"/>
            <a:ext cx="2094000" cy="14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92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박자 위에서 thread가 움직임</a:t>
            </a:r>
            <a:endParaRPr b="0" sz="925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425639" y="4905375"/>
            <a:ext cx="2857500" cy="10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700">
                <a:solidFill>
                  <a:srgbClr val="596273"/>
                </a:solidFill>
                <a:latin typeface="Arial"/>
                <a:ea typeface="Arial"/>
                <a:cs typeface="Arial"/>
                <a:sym typeface="Arial"/>
              </a:rPr>
              <a:t>Wikimedia Commons Public Domain score texture</a:t>
            </a:r>
            <a:endParaRPr b="0" sz="700">
              <a:solidFill>
                <a:srgbClr val="59627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1" id="325" name="Google Shape;3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0"/>
          <p:cNvSpPr txBox="1"/>
          <p:nvPr/>
        </p:nvSpPr>
        <p:spPr>
          <a:xfrm>
            <a:off x="411909" y="329184"/>
            <a:ext cx="357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100"/>
              <a:buFont typeface="Malgun Gothic"/>
              <a:buNone/>
            </a:pPr>
            <a:r>
              <a:rPr b="1" i="0" lang="ko" sz="2100" u="none" cap="none" strike="noStrike">
                <a:solidFill>
                  <a:srgbClr val="172033"/>
                </a:solidFill>
                <a:latin typeface="Malgun Gothic"/>
                <a:ea typeface="Malgun Gothic"/>
                <a:cs typeface="Malgun Gothic"/>
                <a:sym typeface="Malgun Gothic"/>
              </a:rPr>
              <a:t>베이스는 테스트 케이스였다</a:t>
            </a:r>
            <a:endParaRPr sz="1100"/>
          </a:p>
        </p:txBody>
      </p:sp>
      <p:sp>
        <p:nvSpPr>
          <p:cNvPr id="327" name="Google Shape;327;p30"/>
          <p:cNvSpPr txBox="1"/>
          <p:nvPr/>
        </p:nvSpPr>
        <p:spPr>
          <a:xfrm>
            <a:off x="425639" y="795527"/>
            <a:ext cx="3844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6273"/>
              </a:buClr>
              <a:buSzPts val="800"/>
              <a:buFont typeface="Malgun Gothic"/>
              <a:buNone/>
            </a:pPr>
            <a:r>
              <a:rPr lang="ko" sz="1300">
                <a:solidFill>
                  <a:srgbClr val="596273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어떤 리듬이 더욱 음악의 중심에있을까?</a:t>
            </a:r>
            <a:endParaRPr sz="1300"/>
          </a:p>
        </p:txBody>
      </p:sp>
      <p:cxnSp>
        <p:nvCxnSpPr>
          <p:cNvPr id="328" name="Google Shape;328;p30"/>
          <p:cNvCxnSpPr/>
          <p:nvPr/>
        </p:nvCxnSpPr>
        <p:spPr>
          <a:xfrm>
            <a:off x="583538" y="1495044"/>
            <a:ext cx="7998000" cy="0"/>
          </a:xfrm>
          <a:prstGeom prst="straightConnector1">
            <a:avLst/>
          </a:prstGeom>
          <a:noFill/>
          <a:ln cap="flat" cmpd="sng" w="13325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29" name="Google Shape;329;p30"/>
          <p:cNvCxnSpPr/>
          <p:nvPr/>
        </p:nvCxnSpPr>
        <p:spPr>
          <a:xfrm>
            <a:off x="583538" y="1618487"/>
            <a:ext cx="7998000" cy="0"/>
          </a:xfrm>
          <a:prstGeom prst="straightConnector1">
            <a:avLst/>
          </a:prstGeom>
          <a:noFill/>
          <a:ln cap="flat" cmpd="sng" w="13325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0" name="Google Shape;330;p30"/>
          <p:cNvCxnSpPr/>
          <p:nvPr/>
        </p:nvCxnSpPr>
        <p:spPr>
          <a:xfrm>
            <a:off x="583538" y="1741932"/>
            <a:ext cx="7998000" cy="0"/>
          </a:xfrm>
          <a:prstGeom prst="straightConnector1">
            <a:avLst/>
          </a:prstGeom>
          <a:noFill/>
          <a:ln cap="flat" cmpd="sng" w="13325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1" name="Google Shape;331;p30"/>
          <p:cNvCxnSpPr/>
          <p:nvPr/>
        </p:nvCxnSpPr>
        <p:spPr>
          <a:xfrm>
            <a:off x="583538" y="1865375"/>
            <a:ext cx="7998000" cy="0"/>
          </a:xfrm>
          <a:prstGeom prst="straightConnector1">
            <a:avLst/>
          </a:prstGeom>
          <a:noFill/>
          <a:ln cap="flat" cmpd="sng" w="13325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2" name="Google Shape;332;p30"/>
          <p:cNvCxnSpPr/>
          <p:nvPr/>
        </p:nvCxnSpPr>
        <p:spPr>
          <a:xfrm>
            <a:off x="583538" y="1988820"/>
            <a:ext cx="7998000" cy="0"/>
          </a:xfrm>
          <a:prstGeom prst="straightConnector1">
            <a:avLst/>
          </a:prstGeom>
          <a:noFill/>
          <a:ln cap="flat" cmpd="sng" w="13325">
            <a:solidFill>
              <a:srgbClr val="D7C7A8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333" name="Google Shape;333;p30"/>
          <p:cNvCxnSpPr/>
          <p:nvPr/>
        </p:nvCxnSpPr>
        <p:spPr>
          <a:xfrm>
            <a:off x="652189" y="3669030"/>
            <a:ext cx="7826400" cy="0"/>
          </a:xfrm>
          <a:prstGeom prst="straightConnector1">
            <a:avLst/>
          </a:prstGeom>
          <a:noFill/>
          <a:ln cap="flat" cmpd="sng" w="68575">
            <a:solidFill>
              <a:srgbClr val="6B3F1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4" name="Google Shape;334;p30"/>
          <p:cNvSpPr txBox="1"/>
          <p:nvPr/>
        </p:nvSpPr>
        <p:spPr>
          <a:xfrm>
            <a:off x="652189" y="3785616"/>
            <a:ext cx="686400" cy="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3F1D"/>
              </a:buClr>
              <a:buSzPts val="500"/>
              <a:buFont typeface="Malgun Gothic"/>
              <a:buNone/>
            </a:pPr>
            <a:r>
              <a:rPr b="1" i="0" lang="ko" sz="500" u="none" cap="none" strike="noStrike">
                <a:solidFill>
                  <a:srgbClr val="6B3F1D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bass line</a:t>
            </a:r>
            <a:endParaRPr sz="1100"/>
          </a:p>
        </p:txBody>
      </p:sp>
      <p:sp>
        <p:nvSpPr>
          <p:cNvPr id="335" name="Google Shape;335;p30"/>
          <p:cNvSpPr/>
          <p:nvPr/>
        </p:nvSpPr>
        <p:spPr>
          <a:xfrm>
            <a:off x="858144" y="2290571"/>
            <a:ext cx="171600" cy="1371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30"/>
          <p:cNvCxnSpPr/>
          <p:nvPr/>
        </p:nvCxnSpPr>
        <p:spPr>
          <a:xfrm rot="10800000">
            <a:off x="1016042" y="1892689"/>
            <a:ext cx="0" cy="411600"/>
          </a:xfrm>
          <a:prstGeom prst="straightConnector1">
            <a:avLst/>
          </a:prstGeom>
          <a:noFill/>
          <a:ln cap="flat" cmpd="sng" w="254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7" name="Google Shape;337;p30"/>
          <p:cNvSpPr txBox="1"/>
          <p:nvPr/>
        </p:nvSpPr>
        <p:spPr>
          <a:xfrm>
            <a:off x="158788" y="2386916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alarm-priority</a:t>
            </a:r>
            <a:endParaRPr b="1" sz="1500">
              <a:solidFill>
                <a:srgbClr val="2563E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90488" y="2700528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5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누가 먼저?</a:t>
            </a:r>
            <a:endParaRPr b="0" sz="15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30"/>
          <p:cNvCxnSpPr/>
          <p:nvPr/>
        </p:nvCxnSpPr>
        <p:spPr>
          <a:xfrm>
            <a:off x="961122" y="2427731"/>
            <a:ext cx="0" cy="1206900"/>
          </a:xfrm>
          <a:prstGeom prst="straightConnector1">
            <a:avLst/>
          </a:prstGeom>
          <a:noFill/>
          <a:ln cap="flat" cmpd="sng" w="12700">
            <a:solidFill>
              <a:srgbClr val="2563E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0" name="Google Shape;340;p30"/>
          <p:cNvSpPr/>
          <p:nvPr/>
        </p:nvSpPr>
        <p:spPr>
          <a:xfrm>
            <a:off x="2595027" y="2551175"/>
            <a:ext cx="171600" cy="1371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30"/>
          <p:cNvCxnSpPr/>
          <p:nvPr/>
        </p:nvCxnSpPr>
        <p:spPr>
          <a:xfrm rot="10800000">
            <a:off x="2752925" y="2153293"/>
            <a:ext cx="0" cy="411600"/>
          </a:xfrm>
          <a:prstGeom prst="straightConnector1">
            <a:avLst/>
          </a:prstGeom>
          <a:noFill/>
          <a:ln cap="flat" cmpd="sng" w="25400">
            <a:solidFill>
              <a:srgbClr val="0F766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2" name="Google Shape;342;p30"/>
          <p:cNvSpPr txBox="1"/>
          <p:nvPr/>
        </p:nvSpPr>
        <p:spPr>
          <a:xfrm>
            <a:off x="1843088" y="2675382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priority-preempt</a:t>
            </a:r>
            <a:endParaRPr b="1" sz="1500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0"/>
          <p:cNvSpPr txBox="1"/>
          <p:nvPr/>
        </p:nvSpPr>
        <p:spPr>
          <a:xfrm>
            <a:off x="1843088" y="2961132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5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더 높으면?</a:t>
            </a:r>
            <a:endParaRPr b="0" sz="15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0"/>
          <p:cNvCxnSpPr/>
          <p:nvPr/>
        </p:nvCxnSpPr>
        <p:spPr>
          <a:xfrm>
            <a:off x="2698004" y="2688335"/>
            <a:ext cx="0" cy="946500"/>
          </a:xfrm>
          <a:prstGeom prst="straightConnector1">
            <a:avLst/>
          </a:prstGeom>
          <a:noFill/>
          <a:ln cap="flat" cmpd="sng" w="12700">
            <a:solidFill>
              <a:srgbClr val="0F766E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5" name="Google Shape;345;p30"/>
          <p:cNvSpPr/>
          <p:nvPr/>
        </p:nvSpPr>
        <p:spPr>
          <a:xfrm>
            <a:off x="4379966" y="2811779"/>
            <a:ext cx="171600" cy="137100"/>
          </a:xfrm>
          <a:prstGeom prst="ellipse">
            <a:avLst/>
          </a:prstGeom>
          <a:solidFill>
            <a:srgbClr val="B7791F"/>
          </a:solidFill>
          <a:ln>
            <a:noFill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0"/>
          <p:cNvCxnSpPr/>
          <p:nvPr/>
        </p:nvCxnSpPr>
        <p:spPr>
          <a:xfrm rot="10800000">
            <a:off x="4537865" y="2413895"/>
            <a:ext cx="0" cy="411600"/>
          </a:xfrm>
          <a:prstGeom prst="straightConnector1">
            <a:avLst/>
          </a:prstGeom>
          <a:noFill/>
          <a:ln cap="flat" cmpd="sng" w="25400">
            <a:solidFill>
              <a:srgbClr val="B7791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7" name="Google Shape;347;p30"/>
          <p:cNvSpPr txBox="1"/>
          <p:nvPr/>
        </p:nvSpPr>
        <p:spPr>
          <a:xfrm>
            <a:off x="3725288" y="2957249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B7791F"/>
                </a:solidFill>
                <a:latin typeface="Arial"/>
                <a:ea typeface="Arial"/>
                <a:cs typeface="Arial"/>
                <a:sym typeface="Arial"/>
              </a:rPr>
              <a:t>sema / condvar</a:t>
            </a:r>
            <a:endParaRPr b="1" sz="1500">
              <a:solidFill>
                <a:srgbClr val="B779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3624263" y="3221736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5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누굴 깨움?</a:t>
            </a:r>
            <a:endParaRPr b="0" sz="15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9" name="Google Shape;349;p30"/>
          <p:cNvCxnSpPr/>
          <p:nvPr/>
        </p:nvCxnSpPr>
        <p:spPr>
          <a:xfrm>
            <a:off x="4482944" y="2948940"/>
            <a:ext cx="0" cy="685800"/>
          </a:xfrm>
          <a:prstGeom prst="straightConnector1">
            <a:avLst/>
          </a:prstGeom>
          <a:noFill/>
          <a:ln cap="flat" cmpd="sng" w="12700">
            <a:solidFill>
              <a:srgbClr val="B7791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0" name="Google Shape;350;p30"/>
          <p:cNvSpPr/>
          <p:nvPr/>
        </p:nvSpPr>
        <p:spPr>
          <a:xfrm>
            <a:off x="6151175" y="3072383"/>
            <a:ext cx="171600" cy="137100"/>
          </a:xfrm>
          <a:prstGeom prst="ellipse">
            <a:avLst/>
          </a:prstGeom>
          <a:solidFill>
            <a:srgbClr val="6B3F1D"/>
          </a:solidFill>
          <a:ln>
            <a:noFill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30"/>
          <p:cNvCxnSpPr/>
          <p:nvPr/>
        </p:nvCxnSpPr>
        <p:spPr>
          <a:xfrm rot="10800000">
            <a:off x="6309074" y="2674500"/>
            <a:ext cx="0" cy="411600"/>
          </a:xfrm>
          <a:prstGeom prst="straightConnector1">
            <a:avLst/>
          </a:prstGeom>
          <a:noFill/>
          <a:ln cap="flat" cmpd="sng" w="25400">
            <a:solidFill>
              <a:srgbClr val="6B3F1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2" name="Google Shape;352;p30"/>
          <p:cNvSpPr txBox="1"/>
          <p:nvPr/>
        </p:nvSpPr>
        <p:spPr>
          <a:xfrm>
            <a:off x="5395913" y="3196590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6B3F1D"/>
                </a:solidFill>
                <a:latin typeface="Arial"/>
                <a:ea typeface="Arial"/>
                <a:cs typeface="Arial"/>
                <a:sym typeface="Arial"/>
              </a:rPr>
              <a:t>donation</a:t>
            </a:r>
            <a:endParaRPr b="1" sz="1500">
              <a:solidFill>
                <a:srgbClr val="6B3F1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5230013" y="3438015"/>
            <a:ext cx="171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ko" sz="15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빌려주고 회수?</a:t>
            </a:r>
            <a:endParaRPr b="0" sz="1500">
              <a:solidFill>
                <a:srgbClr val="1720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30"/>
          <p:cNvCxnSpPr/>
          <p:nvPr/>
        </p:nvCxnSpPr>
        <p:spPr>
          <a:xfrm>
            <a:off x="6254152" y="3209543"/>
            <a:ext cx="0" cy="425100"/>
          </a:xfrm>
          <a:prstGeom prst="straightConnector1">
            <a:avLst/>
          </a:prstGeom>
          <a:noFill/>
          <a:ln cap="flat" cmpd="sng" w="12700">
            <a:solidFill>
              <a:srgbClr val="6B3F1D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5" name="Google Shape;355;p30"/>
          <p:cNvSpPr/>
          <p:nvPr/>
        </p:nvSpPr>
        <p:spPr>
          <a:xfrm>
            <a:off x="508020" y="4238243"/>
            <a:ext cx="7482900" cy="342900"/>
          </a:xfrm>
          <a:prstGeom prst="roundRect">
            <a:avLst>
              <a:gd fmla="val 16667" name="adj"/>
            </a:avLst>
          </a:prstGeom>
          <a:solidFill>
            <a:srgbClr val="FFF8EA"/>
          </a:solidFill>
          <a:ln cap="flat" cmpd="sng" w="13950">
            <a:solidFill>
              <a:srgbClr val="6B3F1D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300" lIns="34300" spcFirstLastPara="1" rIns="34300" wrap="square" tIns="3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514886" y="4745735"/>
            <a:ext cx="151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6273"/>
              </a:buClr>
              <a:buSzPts val="500"/>
              <a:buFont typeface="Malgun Gothic"/>
              <a:buNone/>
            </a:pPr>
            <a:r>
              <a:t/>
            </a:r>
            <a:endParaRPr sz="1100"/>
          </a:p>
        </p:txBody>
      </p:sp>
      <p:sp>
        <p:nvSpPr>
          <p:cNvPr id="357" name="Google Shape;357;p30"/>
          <p:cNvSpPr txBox="1"/>
          <p:nvPr/>
        </p:nvSpPr>
        <p:spPr>
          <a:xfrm>
            <a:off x="1676525" y="4334325"/>
            <a:ext cx="580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3F1D"/>
              </a:buClr>
              <a:buSzPts val="800"/>
              <a:buFont typeface="Malgun Gothic"/>
              <a:buNone/>
            </a:pPr>
            <a:r>
              <a:rPr b="1" i="0" lang="ko" u="none" cap="none" strike="noStrike">
                <a:solidFill>
                  <a:srgbClr val="6B3F1D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완성된 교향곡 속에서 흐름을 이해하기 위해 베이스를 찾아가는 과정</a:t>
            </a:r>
            <a:endParaRPr sz="1700"/>
          </a:p>
        </p:txBody>
      </p:sp>
      <p:sp>
        <p:nvSpPr>
          <p:cNvPr id="358" name="Google Shape;358;p30"/>
          <p:cNvSpPr txBox="1"/>
          <p:nvPr/>
        </p:nvSpPr>
        <p:spPr>
          <a:xfrm>
            <a:off x="425639" y="4937760"/>
            <a:ext cx="212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6273"/>
              </a:buClr>
              <a:buSzPts val="500"/>
              <a:buFont typeface="Malgun Gothic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/>
        </p:nvSpPr>
        <p:spPr>
          <a:xfrm>
            <a:off x="288336" y="493776"/>
            <a:ext cx="2437130" cy="260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cxnSp>
        <p:nvCxnSpPr>
          <p:cNvPr id="364" name="Google Shape;364;p31"/>
          <p:cNvCxnSpPr/>
          <p:nvPr/>
        </p:nvCxnSpPr>
        <p:spPr>
          <a:xfrm>
            <a:off x="7483014" y="466343"/>
            <a:ext cx="1" cy="301753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31"/>
          <p:cNvSpPr txBox="1"/>
          <p:nvPr/>
        </p:nvSpPr>
        <p:spPr>
          <a:xfrm>
            <a:off x="7675239" y="500634"/>
            <a:ext cx="129064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cxnSp>
        <p:nvCxnSpPr>
          <p:cNvPr id="366" name="Google Shape;366;p31"/>
          <p:cNvCxnSpPr/>
          <p:nvPr/>
        </p:nvCxnSpPr>
        <p:spPr>
          <a:xfrm>
            <a:off x="233414" y="925829"/>
            <a:ext cx="8677553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31"/>
          <p:cNvSpPr/>
          <p:nvPr/>
        </p:nvSpPr>
        <p:spPr>
          <a:xfrm>
            <a:off x="192223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8869775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1"/>
          <p:cNvSpPr txBox="1"/>
          <p:nvPr/>
        </p:nvSpPr>
        <p:spPr>
          <a:xfrm>
            <a:off x="2505779" y="1769363"/>
            <a:ext cx="4153417" cy="534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700"/>
              <a:buFont typeface="Arial"/>
              <a:buNone/>
            </a:pPr>
            <a:r>
              <a:rPr b="0" i="0" lang="ko" sz="2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1. 기본 연주</a:t>
            </a:r>
            <a:endParaRPr sz="1100"/>
          </a:p>
        </p:txBody>
      </p:sp>
      <p:cxnSp>
        <p:nvCxnSpPr>
          <p:cNvPr id="370" name="Google Shape;370;p31"/>
          <p:cNvCxnSpPr/>
          <p:nvPr/>
        </p:nvCxnSpPr>
        <p:spPr>
          <a:xfrm>
            <a:off x="3418845" y="2619756"/>
            <a:ext cx="947392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31"/>
          <p:cNvCxnSpPr/>
          <p:nvPr/>
        </p:nvCxnSpPr>
        <p:spPr>
          <a:xfrm>
            <a:off x="4771279" y="2619756"/>
            <a:ext cx="981717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31"/>
          <p:cNvSpPr/>
          <p:nvPr/>
        </p:nvSpPr>
        <p:spPr>
          <a:xfrm>
            <a:off x="4513836" y="2561463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31"/>
          <p:cNvCxnSpPr/>
          <p:nvPr/>
        </p:nvCxnSpPr>
        <p:spPr>
          <a:xfrm>
            <a:off x="302067" y="3854196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31"/>
          <p:cNvCxnSpPr/>
          <p:nvPr/>
        </p:nvCxnSpPr>
        <p:spPr>
          <a:xfrm>
            <a:off x="302067" y="3984498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31"/>
          <p:cNvCxnSpPr/>
          <p:nvPr/>
        </p:nvCxnSpPr>
        <p:spPr>
          <a:xfrm>
            <a:off x="302067" y="4114800"/>
            <a:ext cx="8526518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31"/>
          <p:cNvCxnSpPr/>
          <p:nvPr/>
        </p:nvCxnSpPr>
        <p:spPr>
          <a:xfrm>
            <a:off x="302067" y="4245101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31"/>
          <p:cNvCxnSpPr/>
          <p:nvPr/>
        </p:nvCxnSpPr>
        <p:spPr>
          <a:xfrm>
            <a:off x="302067" y="4375403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31"/>
          <p:cNvCxnSpPr/>
          <p:nvPr/>
        </p:nvCxnSpPr>
        <p:spPr>
          <a:xfrm>
            <a:off x="3370805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p31"/>
          <p:cNvSpPr/>
          <p:nvPr/>
        </p:nvSpPr>
        <p:spPr>
          <a:xfrm>
            <a:off x="3322748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0" name="Google Shape;380;p31"/>
          <p:cNvCxnSpPr/>
          <p:nvPr/>
        </p:nvCxnSpPr>
        <p:spPr>
          <a:xfrm>
            <a:off x="6164906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31"/>
          <p:cNvSpPr/>
          <p:nvPr/>
        </p:nvSpPr>
        <p:spPr>
          <a:xfrm>
            <a:off x="6116850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" name="Google Shape;382;p31"/>
          <p:cNvCxnSpPr/>
          <p:nvPr/>
        </p:nvCxnSpPr>
        <p:spPr>
          <a:xfrm>
            <a:off x="8759932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31"/>
          <p:cNvCxnSpPr/>
          <p:nvPr/>
        </p:nvCxnSpPr>
        <p:spPr>
          <a:xfrm>
            <a:off x="8828584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31"/>
          <p:cNvSpPr txBox="1"/>
          <p:nvPr/>
        </p:nvSpPr>
        <p:spPr>
          <a:xfrm>
            <a:off x="1034579" y="3854196"/>
            <a:ext cx="147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Running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85" name="Google Shape;385;p31"/>
          <p:cNvSpPr txBox="1"/>
          <p:nvPr/>
        </p:nvSpPr>
        <p:spPr>
          <a:xfrm>
            <a:off x="4032154" y="3854196"/>
            <a:ext cx="1471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Ready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86" name="Google Shape;386;p31"/>
          <p:cNvSpPr txBox="1"/>
          <p:nvPr/>
        </p:nvSpPr>
        <p:spPr>
          <a:xfrm>
            <a:off x="6783692" y="3847338"/>
            <a:ext cx="1471302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Running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8615589" y="3847338"/>
            <a:ext cx="12624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b="0" i="0" lang="ko" sz="26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</p:txBody>
      </p:sp>
      <p:sp>
        <p:nvSpPr>
          <p:cNvPr id="388" name="Google Shape;388;p31"/>
          <p:cNvSpPr txBox="1"/>
          <p:nvPr/>
        </p:nvSpPr>
        <p:spPr>
          <a:xfrm>
            <a:off x="6123714" y="493776"/>
            <a:ext cx="11670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Follow the thread, not just the function.</a:t>
            </a:r>
            <a:endParaRPr sz="1100"/>
          </a:p>
        </p:txBody>
      </p:sp>
      <p:sp>
        <p:nvSpPr>
          <p:cNvPr id="389" name="Google Shape;389;p31"/>
          <p:cNvSpPr txBox="1"/>
          <p:nvPr/>
        </p:nvSpPr>
        <p:spPr>
          <a:xfrm>
            <a:off x="2670600" y="2678050"/>
            <a:ext cx="3802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12A27"/>
                </a:solidFill>
              </a:rPr>
              <a:t>thread는 아직 실행할 수 있지만, CPU를 잠시 양보하거나 </a:t>
            </a:r>
            <a:endParaRPr sz="1000">
              <a:solidFill>
                <a:srgbClr val="312A2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12A27"/>
                </a:solidFill>
              </a:rPr>
              <a:t>우선순위로 인해 ready list로 돌아간다.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2"/>
          <p:cNvSpPr txBox="1"/>
          <p:nvPr/>
        </p:nvSpPr>
        <p:spPr>
          <a:xfrm>
            <a:off x="288336" y="493776"/>
            <a:ext cx="2437130" cy="260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sp>
        <p:nvSpPr>
          <p:cNvPr id="395" name="Google Shape;395;p32"/>
          <p:cNvSpPr txBox="1"/>
          <p:nvPr/>
        </p:nvSpPr>
        <p:spPr>
          <a:xfrm>
            <a:off x="6123714" y="493776"/>
            <a:ext cx="11670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Follow the thread, not just the function.</a:t>
            </a:r>
            <a:endParaRPr sz="1100"/>
          </a:p>
        </p:txBody>
      </p:sp>
      <p:cxnSp>
        <p:nvCxnSpPr>
          <p:cNvPr id="396" name="Google Shape;396;p32"/>
          <p:cNvCxnSpPr/>
          <p:nvPr/>
        </p:nvCxnSpPr>
        <p:spPr>
          <a:xfrm>
            <a:off x="7483014" y="466343"/>
            <a:ext cx="1" cy="301753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32"/>
          <p:cNvCxnSpPr/>
          <p:nvPr/>
        </p:nvCxnSpPr>
        <p:spPr>
          <a:xfrm>
            <a:off x="233414" y="925829"/>
            <a:ext cx="8677553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8" name="Google Shape;398;p32"/>
          <p:cNvSpPr/>
          <p:nvPr/>
        </p:nvSpPr>
        <p:spPr>
          <a:xfrm>
            <a:off x="192223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8869775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2"/>
          <p:cNvSpPr txBox="1"/>
          <p:nvPr/>
        </p:nvSpPr>
        <p:spPr>
          <a:xfrm>
            <a:off x="2505779" y="1769363"/>
            <a:ext cx="4153417" cy="534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700"/>
              <a:buFont typeface="Arial"/>
              <a:buNone/>
            </a:pPr>
            <a:r>
              <a:rPr b="0" i="0" lang="ko" sz="2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2. 변주</a:t>
            </a:r>
            <a:endParaRPr sz="1100"/>
          </a:p>
        </p:txBody>
      </p:sp>
      <p:cxnSp>
        <p:nvCxnSpPr>
          <p:cNvPr id="401" name="Google Shape;401;p32"/>
          <p:cNvCxnSpPr/>
          <p:nvPr/>
        </p:nvCxnSpPr>
        <p:spPr>
          <a:xfrm>
            <a:off x="3418845" y="2619756"/>
            <a:ext cx="947392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32"/>
          <p:cNvCxnSpPr/>
          <p:nvPr/>
        </p:nvCxnSpPr>
        <p:spPr>
          <a:xfrm>
            <a:off x="4771279" y="2619756"/>
            <a:ext cx="981717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32"/>
          <p:cNvSpPr/>
          <p:nvPr/>
        </p:nvSpPr>
        <p:spPr>
          <a:xfrm>
            <a:off x="4513836" y="2561463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4" name="Google Shape;404;p32"/>
          <p:cNvCxnSpPr/>
          <p:nvPr/>
        </p:nvCxnSpPr>
        <p:spPr>
          <a:xfrm>
            <a:off x="302067" y="3854196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32"/>
          <p:cNvCxnSpPr/>
          <p:nvPr/>
        </p:nvCxnSpPr>
        <p:spPr>
          <a:xfrm>
            <a:off x="302067" y="3984498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32"/>
          <p:cNvCxnSpPr/>
          <p:nvPr/>
        </p:nvCxnSpPr>
        <p:spPr>
          <a:xfrm>
            <a:off x="302067" y="4114800"/>
            <a:ext cx="8526518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32"/>
          <p:cNvCxnSpPr/>
          <p:nvPr/>
        </p:nvCxnSpPr>
        <p:spPr>
          <a:xfrm>
            <a:off x="302067" y="4245101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32"/>
          <p:cNvCxnSpPr/>
          <p:nvPr/>
        </p:nvCxnSpPr>
        <p:spPr>
          <a:xfrm>
            <a:off x="302067" y="4375403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32"/>
          <p:cNvCxnSpPr/>
          <p:nvPr/>
        </p:nvCxnSpPr>
        <p:spPr>
          <a:xfrm>
            <a:off x="2618135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32"/>
          <p:cNvSpPr/>
          <p:nvPr/>
        </p:nvSpPr>
        <p:spPr>
          <a:xfrm>
            <a:off x="2570080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32"/>
          <p:cNvCxnSpPr/>
          <p:nvPr/>
        </p:nvCxnSpPr>
        <p:spPr>
          <a:xfrm>
            <a:off x="4806405" y="3833621"/>
            <a:ext cx="0" cy="54870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2" name="Google Shape;412;p32"/>
          <p:cNvSpPr/>
          <p:nvPr/>
        </p:nvSpPr>
        <p:spPr>
          <a:xfrm>
            <a:off x="4758349" y="4059935"/>
            <a:ext cx="96000" cy="96000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32"/>
          <p:cNvCxnSpPr/>
          <p:nvPr/>
        </p:nvCxnSpPr>
        <p:spPr>
          <a:xfrm>
            <a:off x="6796500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32"/>
          <p:cNvSpPr/>
          <p:nvPr/>
        </p:nvSpPr>
        <p:spPr>
          <a:xfrm>
            <a:off x="6748444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5" name="Google Shape;415;p32"/>
          <p:cNvCxnSpPr/>
          <p:nvPr/>
        </p:nvCxnSpPr>
        <p:spPr>
          <a:xfrm>
            <a:off x="8759932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32"/>
          <p:cNvCxnSpPr/>
          <p:nvPr/>
        </p:nvCxnSpPr>
        <p:spPr>
          <a:xfrm>
            <a:off x="8828584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p32"/>
          <p:cNvSpPr txBox="1"/>
          <p:nvPr/>
        </p:nvSpPr>
        <p:spPr>
          <a:xfrm>
            <a:off x="3020518" y="3854195"/>
            <a:ext cx="14787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Blocked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18" name="Google Shape;418;p32"/>
          <p:cNvSpPr txBox="1"/>
          <p:nvPr/>
        </p:nvSpPr>
        <p:spPr>
          <a:xfrm>
            <a:off x="5113457" y="3854999"/>
            <a:ext cx="147130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Ready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19" name="Google Shape;419;p32"/>
          <p:cNvSpPr txBox="1"/>
          <p:nvPr/>
        </p:nvSpPr>
        <p:spPr>
          <a:xfrm>
            <a:off x="7065163" y="3854195"/>
            <a:ext cx="147130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Running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0" name="Google Shape;420;p32"/>
          <p:cNvSpPr txBox="1"/>
          <p:nvPr/>
        </p:nvSpPr>
        <p:spPr>
          <a:xfrm>
            <a:off x="890961" y="3847338"/>
            <a:ext cx="1471302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Running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21" name="Google Shape;421;p32"/>
          <p:cNvSpPr txBox="1"/>
          <p:nvPr/>
        </p:nvSpPr>
        <p:spPr>
          <a:xfrm>
            <a:off x="7675239" y="500634"/>
            <a:ext cx="129064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422" name="Google Shape;422;p32"/>
          <p:cNvSpPr txBox="1"/>
          <p:nvPr/>
        </p:nvSpPr>
        <p:spPr>
          <a:xfrm>
            <a:off x="8615589" y="3847338"/>
            <a:ext cx="12624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b="0" i="0" lang="ko" sz="26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</p:txBody>
      </p:sp>
      <p:sp>
        <p:nvSpPr>
          <p:cNvPr id="423" name="Google Shape;423;p32"/>
          <p:cNvSpPr txBox="1"/>
          <p:nvPr/>
        </p:nvSpPr>
        <p:spPr>
          <a:xfrm>
            <a:off x="2580300" y="2690348"/>
            <a:ext cx="3983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12A27"/>
                </a:solidFill>
              </a:rPr>
              <a:t>실행중인 </a:t>
            </a:r>
            <a:r>
              <a:rPr lang="ko" sz="1000">
                <a:solidFill>
                  <a:srgbClr val="312A27"/>
                </a:solidFill>
              </a:rPr>
              <a:t>thread</a:t>
            </a:r>
            <a:r>
              <a:rPr lang="ko" sz="1000">
                <a:solidFill>
                  <a:srgbClr val="312A27"/>
                </a:solidFill>
              </a:rPr>
              <a:t>는 blocked상태로 대기하고, </a:t>
            </a:r>
            <a:endParaRPr sz="1000">
              <a:solidFill>
                <a:srgbClr val="312A2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12A27"/>
                </a:solidFill>
              </a:rPr>
              <a:t>신호를 받으면 ready로, 대기시점에서 다시 실행된다.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3"/>
          <p:cNvSpPr txBox="1"/>
          <p:nvPr/>
        </p:nvSpPr>
        <p:spPr>
          <a:xfrm>
            <a:off x="288336" y="493776"/>
            <a:ext cx="2437130" cy="260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cxnSp>
        <p:nvCxnSpPr>
          <p:cNvPr id="429" name="Google Shape;429;p33"/>
          <p:cNvCxnSpPr/>
          <p:nvPr/>
        </p:nvCxnSpPr>
        <p:spPr>
          <a:xfrm>
            <a:off x="7483014" y="466343"/>
            <a:ext cx="1" cy="301753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33"/>
          <p:cNvCxnSpPr/>
          <p:nvPr/>
        </p:nvCxnSpPr>
        <p:spPr>
          <a:xfrm>
            <a:off x="233414" y="925829"/>
            <a:ext cx="8677553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1" name="Google Shape;431;p33"/>
          <p:cNvSpPr/>
          <p:nvPr/>
        </p:nvSpPr>
        <p:spPr>
          <a:xfrm>
            <a:off x="192223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8869775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3"/>
          <p:cNvSpPr txBox="1"/>
          <p:nvPr/>
        </p:nvSpPr>
        <p:spPr>
          <a:xfrm>
            <a:off x="2505779" y="1769363"/>
            <a:ext cx="4153417" cy="534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700"/>
              <a:buFont typeface="Arial"/>
              <a:buNone/>
            </a:pPr>
            <a:r>
              <a:rPr b="0" i="0" lang="ko" sz="2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3. yield</a:t>
            </a:r>
            <a:endParaRPr sz="1100"/>
          </a:p>
        </p:txBody>
      </p:sp>
      <p:cxnSp>
        <p:nvCxnSpPr>
          <p:cNvPr id="434" name="Google Shape;434;p33"/>
          <p:cNvCxnSpPr/>
          <p:nvPr/>
        </p:nvCxnSpPr>
        <p:spPr>
          <a:xfrm>
            <a:off x="3418845" y="2619756"/>
            <a:ext cx="947392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33"/>
          <p:cNvCxnSpPr/>
          <p:nvPr/>
        </p:nvCxnSpPr>
        <p:spPr>
          <a:xfrm>
            <a:off x="4771279" y="2619756"/>
            <a:ext cx="981717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33"/>
          <p:cNvSpPr/>
          <p:nvPr/>
        </p:nvSpPr>
        <p:spPr>
          <a:xfrm>
            <a:off x="4513836" y="2561463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7" name="Google Shape;437;p33"/>
          <p:cNvCxnSpPr/>
          <p:nvPr/>
        </p:nvCxnSpPr>
        <p:spPr>
          <a:xfrm>
            <a:off x="302067" y="3854196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33"/>
          <p:cNvCxnSpPr/>
          <p:nvPr/>
        </p:nvCxnSpPr>
        <p:spPr>
          <a:xfrm>
            <a:off x="302067" y="3984498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33"/>
          <p:cNvCxnSpPr/>
          <p:nvPr/>
        </p:nvCxnSpPr>
        <p:spPr>
          <a:xfrm>
            <a:off x="302067" y="4114800"/>
            <a:ext cx="8526518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33"/>
          <p:cNvCxnSpPr/>
          <p:nvPr/>
        </p:nvCxnSpPr>
        <p:spPr>
          <a:xfrm>
            <a:off x="302067" y="4245101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33"/>
          <p:cNvCxnSpPr/>
          <p:nvPr/>
        </p:nvCxnSpPr>
        <p:spPr>
          <a:xfrm>
            <a:off x="302067" y="4375403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2" name="Google Shape;442;p33"/>
          <p:cNvCxnSpPr/>
          <p:nvPr/>
        </p:nvCxnSpPr>
        <p:spPr>
          <a:xfrm>
            <a:off x="3127654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33"/>
          <p:cNvSpPr/>
          <p:nvPr/>
        </p:nvSpPr>
        <p:spPr>
          <a:xfrm>
            <a:off x="3079598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p33"/>
          <p:cNvCxnSpPr/>
          <p:nvPr/>
        </p:nvCxnSpPr>
        <p:spPr>
          <a:xfrm>
            <a:off x="6164906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5" name="Google Shape;445;p33"/>
          <p:cNvSpPr/>
          <p:nvPr/>
        </p:nvSpPr>
        <p:spPr>
          <a:xfrm>
            <a:off x="6116850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33"/>
          <p:cNvCxnSpPr/>
          <p:nvPr/>
        </p:nvCxnSpPr>
        <p:spPr>
          <a:xfrm>
            <a:off x="8759932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33"/>
          <p:cNvCxnSpPr/>
          <p:nvPr/>
        </p:nvCxnSpPr>
        <p:spPr>
          <a:xfrm>
            <a:off x="8828584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8" name="Google Shape;448;p33"/>
          <p:cNvSpPr txBox="1"/>
          <p:nvPr/>
        </p:nvSpPr>
        <p:spPr>
          <a:xfrm>
            <a:off x="7675239" y="500634"/>
            <a:ext cx="129064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449" name="Google Shape;449;p33"/>
          <p:cNvSpPr txBox="1"/>
          <p:nvPr/>
        </p:nvSpPr>
        <p:spPr>
          <a:xfrm>
            <a:off x="8615589" y="3847338"/>
            <a:ext cx="12624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b="0" i="0" lang="ko" sz="26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</p:txBody>
      </p:sp>
      <p:sp>
        <p:nvSpPr>
          <p:cNvPr id="450" name="Google Shape;450;p33"/>
          <p:cNvSpPr txBox="1"/>
          <p:nvPr/>
        </p:nvSpPr>
        <p:spPr>
          <a:xfrm>
            <a:off x="6123714" y="493776"/>
            <a:ext cx="11670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Trace the state, and the thread starts to make sense.</a:t>
            </a:r>
            <a:endParaRPr sz="1100"/>
          </a:p>
        </p:txBody>
      </p:sp>
      <p:sp>
        <p:nvSpPr>
          <p:cNvPr id="451" name="Google Shape;451;p33"/>
          <p:cNvSpPr txBox="1"/>
          <p:nvPr/>
        </p:nvSpPr>
        <p:spPr>
          <a:xfrm>
            <a:off x="1143153" y="3847338"/>
            <a:ext cx="1471302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Running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52" name="Google Shape;452;p33"/>
          <p:cNvSpPr txBox="1"/>
          <p:nvPr/>
        </p:nvSpPr>
        <p:spPr>
          <a:xfrm>
            <a:off x="6747363" y="3847338"/>
            <a:ext cx="1471302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Running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53" name="Google Shape;453;p33"/>
          <p:cNvSpPr txBox="1"/>
          <p:nvPr/>
        </p:nvSpPr>
        <p:spPr>
          <a:xfrm>
            <a:off x="7170216" y="3631311"/>
            <a:ext cx="64852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73FF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4F73FF"/>
                </a:solidFill>
                <a:latin typeface="Arial"/>
                <a:ea typeface="Arial"/>
                <a:cs typeface="Arial"/>
                <a:sym typeface="Arial"/>
              </a:rPr>
              <a:t>Next Thread</a:t>
            </a:r>
            <a:endParaRPr sz="1100"/>
          </a:p>
        </p:txBody>
      </p:sp>
      <p:sp>
        <p:nvSpPr>
          <p:cNvPr id="454" name="Google Shape;454;p33"/>
          <p:cNvSpPr txBox="1"/>
          <p:nvPr/>
        </p:nvSpPr>
        <p:spPr>
          <a:xfrm>
            <a:off x="3910629" y="3854196"/>
            <a:ext cx="1471302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Ready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55" name="Google Shape;455;p33"/>
          <p:cNvSpPr txBox="1"/>
          <p:nvPr/>
        </p:nvSpPr>
        <p:spPr>
          <a:xfrm>
            <a:off x="4366318" y="3631311"/>
            <a:ext cx="559924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73FF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4F73FF"/>
                </a:solidFill>
                <a:latin typeface="Arial"/>
                <a:ea typeface="Arial"/>
                <a:cs typeface="Arial"/>
                <a:sym typeface="Arial"/>
              </a:rPr>
              <a:t>Ready List</a:t>
            </a:r>
            <a:endParaRPr sz="1100"/>
          </a:p>
        </p:txBody>
      </p:sp>
      <p:sp>
        <p:nvSpPr>
          <p:cNvPr id="456" name="Google Shape;456;p33"/>
          <p:cNvSpPr txBox="1"/>
          <p:nvPr/>
        </p:nvSpPr>
        <p:spPr>
          <a:xfrm>
            <a:off x="2958800" y="2678050"/>
            <a:ext cx="322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12A27"/>
                </a:solidFill>
              </a:rPr>
              <a:t>실행 가능한 thread가 CPU를 양보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4"/>
          <p:cNvSpPr txBox="1"/>
          <p:nvPr/>
        </p:nvSpPr>
        <p:spPr>
          <a:xfrm>
            <a:off x="288336" y="493776"/>
            <a:ext cx="2437130" cy="260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THREAD CIRCLE</a:t>
            </a:r>
            <a:endParaRPr sz="1100"/>
          </a:p>
        </p:txBody>
      </p:sp>
      <p:cxnSp>
        <p:nvCxnSpPr>
          <p:cNvPr id="462" name="Google Shape;462;p34"/>
          <p:cNvCxnSpPr/>
          <p:nvPr/>
        </p:nvCxnSpPr>
        <p:spPr>
          <a:xfrm>
            <a:off x="7483014" y="466343"/>
            <a:ext cx="1" cy="301753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3" name="Google Shape;463;p34"/>
          <p:cNvCxnSpPr/>
          <p:nvPr/>
        </p:nvCxnSpPr>
        <p:spPr>
          <a:xfrm>
            <a:off x="233414" y="925829"/>
            <a:ext cx="8677553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4" name="Google Shape;464;p34"/>
          <p:cNvSpPr/>
          <p:nvPr/>
        </p:nvSpPr>
        <p:spPr>
          <a:xfrm>
            <a:off x="192223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8869775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4"/>
          <p:cNvSpPr txBox="1"/>
          <p:nvPr/>
        </p:nvSpPr>
        <p:spPr>
          <a:xfrm>
            <a:off x="2505779" y="1769363"/>
            <a:ext cx="4153417" cy="534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700"/>
              <a:buFont typeface="Arial"/>
              <a:buNone/>
            </a:pPr>
            <a:r>
              <a:rPr b="0" i="0" lang="ko" sz="2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4. Semaphore</a:t>
            </a:r>
            <a:endParaRPr sz="1100"/>
          </a:p>
        </p:txBody>
      </p:sp>
      <p:cxnSp>
        <p:nvCxnSpPr>
          <p:cNvPr id="467" name="Google Shape;467;p34"/>
          <p:cNvCxnSpPr/>
          <p:nvPr/>
        </p:nvCxnSpPr>
        <p:spPr>
          <a:xfrm>
            <a:off x="3418845" y="2619756"/>
            <a:ext cx="947392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34"/>
          <p:cNvCxnSpPr/>
          <p:nvPr/>
        </p:nvCxnSpPr>
        <p:spPr>
          <a:xfrm>
            <a:off x="4771279" y="2619756"/>
            <a:ext cx="981717" cy="1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34"/>
          <p:cNvSpPr/>
          <p:nvPr/>
        </p:nvSpPr>
        <p:spPr>
          <a:xfrm>
            <a:off x="4513836" y="2561463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4"/>
          <p:cNvSpPr txBox="1"/>
          <p:nvPr/>
        </p:nvSpPr>
        <p:spPr>
          <a:xfrm>
            <a:off x="7675239" y="500634"/>
            <a:ext cx="129064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471" name="Google Shape;471;p34"/>
          <p:cNvSpPr txBox="1"/>
          <p:nvPr/>
        </p:nvSpPr>
        <p:spPr>
          <a:xfrm>
            <a:off x="6123714" y="493776"/>
            <a:ext cx="11670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Trace the state, and the thread starts to make sense.</a:t>
            </a:r>
            <a:endParaRPr sz="1100"/>
          </a:p>
        </p:txBody>
      </p:sp>
      <p:cxnSp>
        <p:nvCxnSpPr>
          <p:cNvPr id="472" name="Google Shape;472;p34"/>
          <p:cNvCxnSpPr/>
          <p:nvPr/>
        </p:nvCxnSpPr>
        <p:spPr>
          <a:xfrm>
            <a:off x="302067" y="3854196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34"/>
          <p:cNvCxnSpPr/>
          <p:nvPr/>
        </p:nvCxnSpPr>
        <p:spPr>
          <a:xfrm>
            <a:off x="302067" y="3984498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34"/>
          <p:cNvCxnSpPr/>
          <p:nvPr/>
        </p:nvCxnSpPr>
        <p:spPr>
          <a:xfrm>
            <a:off x="302067" y="4114800"/>
            <a:ext cx="8526518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5" name="Google Shape;475;p34"/>
          <p:cNvCxnSpPr/>
          <p:nvPr/>
        </p:nvCxnSpPr>
        <p:spPr>
          <a:xfrm>
            <a:off x="302067" y="4245101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6" name="Google Shape;476;p34"/>
          <p:cNvCxnSpPr/>
          <p:nvPr/>
        </p:nvCxnSpPr>
        <p:spPr>
          <a:xfrm>
            <a:off x="302067" y="4375403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34"/>
          <p:cNvCxnSpPr/>
          <p:nvPr/>
        </p:nvCxnSpPr>
        <p:spPr>
          <a:xfrm>
            <a:off x="3006935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34"/>
          <p:cNvSpPr/>
          <p:nvPr/>
        </p:nvSpPr>
        <p:spPr>
          <a:xfrm>
            <a:off x="2958880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34"/>
          <p:cNvCxnSpPr/>
          <p:nvPr/>
        </p:nvCxnSpPr>
        <p:spPr>
          <a:xfrm>
            <a:off x="4901718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34"/>
          <p:cNvSpPr/>
          <p:nvPr/>
        </p:nvSpPr>
        <p:spPr>
          <a:xfrm>
            <a:off x="4853662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34"/>
          <p:cNvCxnSpPr/>
          <p:nvPr/>
        </p:nvCxnSpPr>
        <p:spPr>
          <a:xfrm>
            <a:off x="6796500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34"/>
          <p:cNvSpPr/>
          <p:nvPr/>
        </p:nvSpPr>
        <p:spPr>
          <a:xfrm>
            <a:off x="6748444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34"/>
          <p:cNvCxnSpPr/>
          <p:nvPr/>
        </p:nvCxnSpPr>
        <p:spPr>
          <a:xfrm>
            <a:off x="8759932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34"/>
          <p:cNvCxnSpPr/>
          <p:nvPr/>
        </p:nvCxnSpPr>
        <p:spPr>
          <a:xfrm>
            <a:off x="8828584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34"/>
          <p:cNvSpPr txBox="1"/>
          <p:nvPr/>
        </p:nvSpPr>
        <p:spPr>
          <a:xfrm>
            <a:off x="3190168" y="3854195"/>
            <a:ext cx="147859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Bl</a:t>
            </a:r>
            <a:r>
              <a:rPr lang="ko" sz="2600">
                <a:latin typeface="Dancing Script"/>
                <a:ea typeface="Dancing Script"/>
                <a:cs typeface="Dancing Script"/>
                <a:sym typeface="Dancing Script"/>
              </a:rPr>
              <a:t>o</a:t>
            </a:r>
            <a:r>
              <a:rPr i="0" lang="ko" sz="2600" u="none" cap="none" strike="noStrike">
                <a:solidFill>
                  <a:srgbClr val="000000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cked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86" name="Google Shape;486;p34"/>
          <p:cNvSpPr txBox="1"/>
          <p:nvPr/>
        </p:nvSpPr>
        <p:spPr>
          <a:xfrm>
            <a:off x="5113457" y="3854999"/>
            <a:ext cx="147130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Ready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87" name="Google Shape;487;p34"/>
          <p:cNvSpPr txBox="1"/>
          <p:nvPr/>
        </p:nvSpPr>
        <p:spPr>
          <a:xfrm>
            <a:off x="7065163" y="3854195"/>
            <a:ext cx="147130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Running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88" name="Google Shape;488;p34"/>
          <p:cNvSpPr txBox="1"/>
          <p:nvPr/>
        </p:nvSpPr>
        <p:spPr>
          <a:xfrm>
            <a:off x="890961" y="3847338"/>
            <a:ext cx="1471302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Running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8615589" y="3847338"/>
            <a:ext cx="12624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b="0" i="0" lang="ko" sz="26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</p:txBody>
      </p:sp>
      <p:sp>
        <p:nvSpPr>
          <p:cNvPr id="490" name="Google Shape;490;p34"/>
          <p:cNvSpPr txBox="1"/>
          <p:nvPr/>
        </p:nvSpPr>
        <p:spPr>
          <a:xfrm>
            <a:off x="7479626" y="3631311"/>
            <a:ext cx="592652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73FF"/>
              </a:buClr>
              <a:buSzPts val="900"/>
              <a:buFont typeface="Arial"/>
              <a:buNone/>
            </a:pPr>
            <a:r>
              <a:rPr b="0" i="0" lang="ko" sz="900" u="none" cap="none" strike="noStrike">
                <a:solidFill>
                  <a:srgbClr val="4F73FF"/>
                </a:solidFill>
                <a:latin typeface="Arial"/>
                <a:ea typeface="Arial"/>
                <a:cs typeface="Arial"/>
                <a:sym typeface="Arial"/>
              </a:rPr>
              <a:t>Scheduler</a:t>
            </a:r>
            <a:endParaRPr sz="1100"/>
          </a:p>
        </p:txBody>
      </p:sp>
      <p:sp>
        <p:nvSpPr>
          <p:cNvPr id="491" name="Google Shape;491;p34"/>
          <p:cNvSpPr txBox="1"/>
          <p:nvPr/>
        </p:nvSpPr>
        <p:spPr>
          <a:xfrm>
            <a:off x="2434794" y="2678050"/>
            <a:ext cx="4274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12A27"/>
                </a:solidFill>
              </a:rPr>
              <a:t>sema_down()은 조건이 맞지 않으면 thread를 BLOCKED로, </a:t>
            </a:r>
            <a:endParaRPr sz="1000">
              <a:solidFill>
                <a:srgbClr val="312A27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312A27"/>
                </a:solidFill>
              </a:rPr>
              <a:t>sema_up()은 대기 중이던 thread를 READY로 돌려보낸다. </a:t>
            </a:r>
            <a:endParaRPr sz="1000">
              <a:solidFill>
                <a:srgbClr val="312A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"/>
          <p:cNvSpPr txBox="1"/>
          <p:nvPr/>
        </p:nvSpPr>
        <p:spPr>
          <a:xfrm>
            <a:off x="288336" y="493776"/>
            <a:ext cx="2437130" cy="2606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1400"/>
              <a:buFont typeface="Times New Roman"/>
              <a:buNone/>
            </a:pPr>
            <a:r>
              <a:rPr b="0" i="0" lang="ko" sz="1400" u="none" cap="none" strike="noStrike">
                <a:solidFill>
                  <a:srgbClr val="312A2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SIX CIRCLE..</a:t>
            </a:r>
            <a:endParaRPr sz="1100"/>
          </a:p>
        </p:txBody>
      </p:sp>
      <p:cxnSp>
        <p:nvCxnSpPr>
          <p:cNvPr id="497" name="Google Shape;497;p35"/>
          <p:cNvCxnSpPr/>
          <p:nvPr/>
        </p:nvCxnSpPr>
        <p:spPr>
          <a:xfrm>
            <a:off x="7483014" y="466343"/>
            <a:ext cx="1" cy="301753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35"/>
          <p:cNvCxnSpPr/>
          <p:nvPr/>
        </p:nvCxnSpPr>
        <p:spPr>
          <a:xfrm>
            <a:off x="233414" y="925829"/>
            <a:ext cx="8677553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35"/>
          <p:cNvSpPr/>
          <p:nvPr/>
        </p:nvSpPr>
        <p:spPr>
          <a:xfrm>
            <a:off x="192223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5"/>
          <p:cNvSpPr/>
          <p:nvPr/>
        </p:nvSpPr>
        <p:spPr>
          <a:xfrm>
            <a:off x="8869775" y="884681"/>
            <a:ext cx="82383" cy="8229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G_8992.HEIC" id="501" name="Google Shape;501;p35"/>
          <p:cNvPicPr preferRelativeResize="0"/>
          <p:nvPr/>
        </p:nvPicPr>
        <p:blipFill rotWithShape="1">
          <a:blip r:embed="rId3">
            <a:alphaModFix amt="80041"/>
          </a:blip>
          <a:srcRect b="1063" l="0" r="0" t="1063"/>
          <a:stretch/>
        </p:blipFill>
        <p:spPr>
          <a:xfrm>
            <a:off x="3411648" y="1488318"/>
            <a:ext cx="2652471" cy="1945018"/>
          </a:xfrm>
          <a:prstGeom prst="rect">
            <a:avLst/>
          </a:prstGeom>
          <a:noFill/>
          <a:ln>
            <a:noFill/>
          </a:ln>
          <a:effectLst>
            <a:outerShdw blurRad="355600" rotWithShape="0">
              <a:srgbClr val="000000">
                <a:alpha val="20000"/>
              </a:srgbClr>
            </a:outerShdw>
          </a:effectLst>
        </p:spPr>
      </p:pic>
      <p:cxnSp>
        <p:nvCxnSpPr>
          <p:cNvPr id="502" name="Google Shape;502;p35"/>
          <p:cNvCxnSpPr/>
          <p:nvPr/>
        </p:nvCxnSpPr>
        <p:spPr>
          <a:xfrm>
            <a:off x="3732288" y="3232128"/>
            <a:ext cx="947400" cy="0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35"/>
          <p:cNvCxnSpPr/>
          <p:nvPr/>
        </p:nvCxnSpPr>
        <p:spPr>
          <a:xfrm>
            <a:off x="5084723" y="3232128"/>
            <a:ext cx="981600" cy="0"/>
          </a:xfrm>
          <a:prstGeom prst="straightConnector1">
            <a:avLst/>
          </a:prstGeom>
          <a:noFill/>
          <a:ln cap="flat" cmpd="sng" w="9525">
            <a:solidFill>
              <a:srgbClr val="D5CEC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35"/>
          <p:cNvSpPr/>
          <p:nvPr/>
        </p:nvSpPr>
        <p:spPr>
          <a:xfrm>
            <a:off x="4677850" y="1347125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35"/>
          <p:cNvSpPr txBox="1"/>
          <p:nvPr/>
        </p:nvSpPr>
        <p:spPr>
          <a:xfrm>
            <a:off x="7675239" y="500634"/>
            <a:ext cx="1290649" cy="288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Week9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b="0" i="0" lang="ko" sz="7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Teams six</a:t>
            </a:r>
            <a:endParaRPr sz="1100"/>
          </a:p>
        </p:txBody>
      </p:sp>
      <p:sp>
        <p:nvSpPr>
          <p:cNvPr id="506" name="Google Shape;506;p35"/>
          <p:cNvSpPr txBox="1"/>
          <p:nvPr/>
        </p:nvSpPr>
        <p:spPr>
          <a:xfrm>
            <a:off x="6123714" y="493776"/>
            <a:ext cx="11670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700"/>
              <a:buFont typeface="Arial"/>
              <a:buNone/>
            </a:pPr>
            <a:r>
              <a:rPr lang="ko" sz="700">
                <a:solidFill>
                  <a:srgbClr val="312A27"/>
                </a:solidFill>
              </a:rPr>
              <a:t>Tracing states from an orchestral perspective made threads clear.</a:t>
            </a:r>
            <a:endParaRPr sz="700">
              <a:solidFill>
                <a:srgbClr val="312A27"/>
              </a:solidFill>
            </a:endParaRPr>
          </a:p>
        </p:txBody>
      </p:sp>
      <p:cxnSp>
        <p:nvCxnSpPr>
          <p:cNvPr id="507" name="Google Shape;507;p35"/>
          <p:cNvCxnSpPr/>
          <p:nvPr/>
        </p:nvCxnSpPr>
        <p:spPr>
          <a:xfrm>
            <a:off x="302067" y="3854196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8" name="Google Shape;508;p35"/>
          <p:cNvCxnSpPr/>
          <p:nvPr/>
        </p:nvCxnSpPr>
        <p:spPr>
          <a:xfrm>
            <a:off x="302067" y="3984498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9" name="Google Shape;509;p35"/>
          <p:cNvCxnSpPr/>
          <p:nvPr/>
        </p:nvCxnSpPr>
        <p:spPr>
          <a:xfrm>
            <a:off x="302067" y="4114800"/>
            <a:ext cx="8526518" cy="0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0" name="Google Shape;510;p35"/>
          <p:cNvCxnSpPr/>
          <p:nvPr/>
        </p:nvCxnSpPr>
        <p:spPr>
          <a:xfrm>
            <a:off x="302067" y="4245101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1" name="Google Shape;511;p35"/>
          <p:cNvCxnSpPr/>
          <p:nvPr/>
        </p:nvCxnSpPr>
        <p:spPr>
          <a:xfrm>
            <a:off x="302067" y="4375403"/>
            <a:ext cx="8526518" cy="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2" name="Google Shape;512;p35"/>
          <p:cNvCxnSpPr/>
          <p:nvPr/>
        </p:nvCxnSpPr>
        <p:spPr>
          <a:xfrm>
            <a:off x="3330321" y="3840479"/>
            <a:ext cx="1" cy="548642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35"/>
          <p:cNvSpPr/>
          <p:nvPr/>
        </p:nvSpPr>
        <p:spPr>
          <a:xfrm>
            <a:off x="3282265" y="4066793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35"/>
          <p:cNvCxnSpPr/>
          <p:nvPr/>
        </p:nvCxnSpPr>
        <p:spPr>
          <a:xfrm>
            <a:off x="6160900" y="3833621"/>
            <a:ext cx="1" cy="548641"/>
          </a:xfrm>
          <a:prstGeom prst="straightConnector1">
            <a:avLst/>
          </a:prstGeom>
          <a:noFill/>
          <a:ln cap="flat" cmpd="sng" w="9525">
            <a:solidFill>
              <a:srgbClr val="5A51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35"/>
          <p:cNvSpPr/>
          <p:nvPr/>
        </p:nvSpPr>
        <p:spPr>
          <a:xfrm>
            <a:off x="6112844" y="4059935"/>
            <a:ext cx="96113" cy="96013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35"/>
          <p:cNvCxnSpPr/>
          <p:nvPr/>
        </p:nvCxnSpPr>
        <p:spPr>
          <a:xfrm>
            <a:off x="8759932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35"/>
          <p:cNvCxnSpPr/>
          <p:nvPr/>
        </p:nvCxnSpPr>
        <p:spPr>
          <a:xfrm>
            <a:off x="8828584" y="3854195"/>
            <a:ext cx="1" cy="521210"/>
          </a:xfrm>
          <a:prstGeom prst="straightConnector1">
            <a:avLst/>
          </a:prstGeom>
          <a:noFill/>
          <a:ln cap="flat" cmpd="sng" w="20300">
            <a:solidFill>
              <a:srgbClr val="312A2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8" name="Google Shape;518;p35"/>
          <p:cNvSpPr txBox="1"/>
          <p:nvPr/>
        </p:nvSpPr>
        <p:spPr>
          <a:xfrm>
            <a:off x="1188787" y="3854195"/>
            <a:ext cx="147130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Ready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519" name="Google Shape;519;p35"/>
          <p:cNvSpPr txBox="1"/>
          <p:nvPr/>
        </p:nvSpPr>
        <p:spPr>
          <a:xfrm>
            <a:off x="3891487" y="3847337"/>
            <a:ext cx="1471302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Thinking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520" name="Google Shape;520;p35"/>
          <p:cNvSpPr txBox="1"/>
          <p:nvPr/>
        </p:nvSpPr>
        <p:spPr>
          <a:xfrm>
            <a:off x="6747363" y="3840094"/>
            <a:ext cx="1471302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i="0" lang="ko" sz="2600" u="none" cap="none" strike="noStrike">
                <a:solidFill>
                  <a:srgbClr val="312A2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studying</a:t>
            </a:r>
            <a:endParaRPr sz="11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8615589" y="3847338"/>
            <a:ext cx="126243" cy="5212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2A27"/>
              </a:buClr>
              <a:buSzPts val="2600"/>
              <a:buFont typeface="Arial"/>
              <a:buNone/>
            </a:pPr>
            <a:r>
              <a:rPr b="0" i="0" lang="ko" sz="2600" u="none" cap="none" strike="noStrike">
                <a:solidFill>
                  <a:srgbClr val="312A27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</p:txBody>
      </p:sp>
      <p:pic>
        <p:nvPicPr>
          <p:cNvPr descr="IMG_8982.HEIC" id="522" name="Google Shape;522;p35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626495" y="1477011"/>
            <a:ext cx="2593181" cy="1944885"/>
          </a:xfrm>
          <a:prstGeom prst="rect">
            <a:avLst/>
          </a:prstGeom>
          <a:noFill/>
          <a:ln>
            <a:noFill/>
          </a:ln>
          <a:effectLst>
            <a:outerShdw blurRad="200025" rotWithShape="0">
              <a:srgbClr val="000000">
                <a:alpha val="20000"/>
              </a:srgbClr>
            </a:outerShdw>
          </a:effectLst>
        </p:spPr>
      </p:pic>
      <p:sp>
        <p:nvSpPr>
          <p:cNvPr id="523" name="Google Shape;523;p35"/>
          <p:cNvSpPr/>
          <p:nvPr/>
        </p:nvSpPr>
        <p:spPr>
          <a:xfrm>
            <a:off x="1866084" y="1347125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5"/>
          <p:cNvSpPr/>
          <p:nvPr/>
        </p:nvSpPr>
        <p:spPr>
          <a:xfrm>
            <a:off x="7424660" y="1340267"/>
            <a:ext cx="116708" cy="116587"/>
          </a:xfrm>
          <a:prstGeom prst="diamond">
            <a:avLst/>
          </a:prstGeom>
          <a:solidFill>
            <a:srgbClr val="312A27"/>
          </a:solidFill>
          <a:ln cap="flat" cmpd="sng" w="12700">
            <a:solidFill>
              <a:srgbClr val="312A27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300" lIns="34300" spcFirstLastPara="1" rIns="34300" wrap="square" tIns="34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붙여넣은 동영상.png" id="525" name="Google Shape;525;p35"/>
          <p:cNvPicPr preferRelativeResize="0"/>
          <p:nvPr/>
        </p:nvPicPr>
        <p:blipFill rotWithShape="1">
          <a:blip r:embed="rId5">
            <a:alphaModFix amt="80000"/>
          </a:blip>
          <a:srcRect b="0" l="0" r="0" t="0"/>
          <a:stretch/>
        </p:blipFill>
        <p:spPr>
          <a:xfrm>
            <a:off x="6256100" y="1499013"/>
            <a:ext cx="2253226" cy="1922875"/>
          </a:xfrm>
          <a:prstGeom prst="rect">
            <a:avLst/>
          </a:prstGeom>
          <a:noFill/>
          <a:ln cap="flat" cmpd="sng" w="12700">
            <a:solidFill>
              <a:srgbClr val="EDEDED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355600" rotWithShape="0">
              <a:srgbClr val="000000">
                <a:alpha val="20000"/>
              </a:srgbClr>
            </a:outerShdw>
          </a:effectLst>
        </p:spPr>
      </p:pic>
      <p:sp>
        <p:nvSpPr>
          <p:cNvPr id="526" name="Google Shape;526;p35"/>
          <p:cNvSpPr txBox="1"/>
          <p:nvPr/>
        </p:nvSpPr>
        <p:spPr>
          <a:xfrm>
            <a:off x="1538941" y="3630063"/>
            <a:ext cx="771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73FF"/>
              </a:buClr>
              <a:buSzPts val="900"/>
              <a:buFont typeface="Arial"/>
              <a:buNone/>
            </a:pPr>
            <a:r>
              <a:rPr lang="ko" sz="900">
                <a:solidFill>
                  <a:srgbClr val="4F73FF"/>
                </a:solidFill>
              </a:rPr>
              <a:t>Priority</a:t>
            </a:r>
            <a:endParaRPr sz="1100"/>
          </a:p>
        </p:txBody>
      </p:sp>
      <p:sp>
        <p:nvSpPr>
          <p:cNvPr id="527" name="Google Shape;527;p35"/>
          <p:cNvSpPr txBox="1"/>
          <p:nvPr/>
        </p:nvSpPr>
        <p:spPr>
          <a:xfrm>
            <a:off x="4350691" y="3630063"/>
            <a:ext cx="771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73FF"/>
              </a:buClr>
              <a:buSzPts val="900"/>
              <a:buFont typeface="Arial"/>
              <a:buNone/>
            </a:pPr>
            <a:r>
              <a:rPr lang="ko" sz="900">
                <a:solidFill>
                  <a:srgbClr val="4F73FF"/>
                </a:solidFill>
              </a:rPr>
              <a:t>OS</a:t>
            </a:r>
            <a:endParaRPr sz="1100"/>
          </a:p>
        </p:txBody>
      </p:sp>
      <p:sp>
        <p:nvSpPr>
          <p:cNvPr id="528" name="Google Shape;528;p35"/>
          <p:cNvSpPr txBox="1"/>
          <p:nvPr/>
        </p:nvSpPr>
        <p:spPr>
          <a:xfrm>
            <a:off x="7097516" y="3630063"/>
            <a:ext cx="771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73FF"/>
              </a:buClr>
              <a:buSzPts val="900"/>
              <a:buFont typeface="Arial"/>
              <a:buNone/>
            </a:pPr>
            <a:r>
              <a:rPr lang="ko" sz="900">
                <a:solidFill>
                  <a:srgbClr val="4F73FF"/>
                </a:solidFill>
              </a:rPr>
              <a:t>Code</a:t>
            </a:r>
            <a:endParaRPr sz="1100"/>
          </a:p>
        </p:txBody>
      </p:sp>
      <p:pic>
        <p:nvPicPr>
          <p:cNvPr id="529" name="Google Shape;529;p35" title="flow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75350" y="1615171"/>
            <a:ext cx="4321699" cy="1465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