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embeddedFontLst>
    <p:embeddedFont>
      <p:font typeface="Nanum Gothic" panose="020B0600000101010101" charset="-127"/>
      <p:regular r:id="rId29"/>
      <p:bold r:id="rId30"/>
    </p:embeddedFont>
    <p:embeddedFont>
      <p:font typeface="NanumGothicExtraBold" pitchFamily="2" charset="-127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660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aca2c51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aca2c51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aca2c517f_8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aca2c517f_8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aca2c517f_16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aca2c517f_16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aca2c517f_8_6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aca2c517f_8_6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aca2c517f_8_10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aca2c517f_8_10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aca2c517f_16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aca2c517f_16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af4225fb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af4225fb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aca2c517f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aca2c517f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aca2c517f_9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aca2c517f_9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aca2c517f_9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aca2c517f_9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aca2c517f_9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daca2c517f_9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aca2c517f_9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daca2c517f_9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aca2c517f_9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aca2c517f_9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aca2c517f_9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aca2c517f_9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aca2c517f_12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daca2c517f_12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aca2c517f_12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daca2c517f_12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aca2c517f_1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daca2c517f_12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aca2c517f_12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daca2c517f_12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aca2c517f_12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daca2c517f_12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aca2c517f_3_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daca2c517f_3_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daca2c517f_7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daca2c517f_7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aca2c517f_3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daca2c517f_3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aca2c517f_3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daca2c517f_3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daca2c517f_7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daca2c517f_7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daca2c517f_3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daca2c517f_3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NanumGothicExtraBold"/>
              <a:buNone/>
              <a:defRPr>
                <a:latin typeface="NanumGothicExtraBold"/>
                <a:ea typeface="NanumGothicExtraBold"/>
                <a:cs typeface="NanumGothicExtraBold"/>
                <a:sym typeface="NanumGothic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NanumGothicExtraBold"/>
              <a:buNone/>
              <a:defRPr>
                <a:latin typeface="NanumGothicExtraBold"/>
                <a:ea typeface="NanumGothicExtraBold"/>
                <a:cs typeface="NanumGothicExtraBold"/>
                <a:sym typeface="NanumGothic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NanumGothicExtraBold"/>
              <a:buNone/>
              <a:defRPr>
                <a:latin typeface="NanumGothicExtraBold"/>
                <a:ea typeface="NanumGothicExtraBold"/>
                <a:cs typeface="NanumGothicExtraBold"/>
                <a:sym typeface="NanumGothic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NanumGothicExtraBold"/>
              <a:buNone/>
              <a:defRPr>
                <a:latin typeface="NanumGothicExtraBold"/>
                <a:ea typeface="NanumGothicExtraBold"/>
                <a:cs typeface="NanumGothicExtraBold"/>
                <a:sym typeface="NanumGothic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NanumGothicExtraBold"/>
              <a:buNone/>
              <a:defRPr>
                <a:latin typeface="NanumGothicExtraBold"/>
                <a:ea typeface="NanumGothicExtraBold"/>
                <a:cs typeface="NanumGothicExtraBold"/>
                <a:sym typeface="NanumGothic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NanumGothicExtraBold"/>
              <a:buNone/>
              <a:defRPr>
                <a:latin typeface="NanumGothicExtraBold"/>
                <a:ea typeface="NanumGothicExtraBold"/>
                <a:cs typeface="NanumGothicExtraBold"/>
                <a:sym typeface="NanumGothic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NanumGothicExtraBold"/>
              <a:buNone/>
              <a:defRPr>
                <a:latin typeface="NanumGothicExtraBold"/>
                <a:ea typeface="NanumGothicExtraBold"/>
                <a:cs typeface="NanumGothicExtraBold"/>
                <a:sym typeface="NanumGothic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NanumGothicExtraBold"/>
              <a:buNone/>
              <a:defRPr>
                <a:latin typeface="NanumGothicExtraBold"/>
                <a:ea typeface="NanumGothicExtraBold"/>
                <a:cs typeface="NanumGothicExtraBold"/>
                <a:sym typeface="NanumGothic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NanumGothicExtraBold"/>
              <a:buNone/>
              <a:defRPr>
                <a:latin typeface="NanumGothicExtraBold"/>
                <a:ea typeface="NanumGothicExtraBold"/>
                <a:cs typeface="NanumGothicExtraBold"/>
                <a:sym typeface="NanumGothicExtraBold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Nanum Gothic"/>
              <a:buChar char="●"/>
              <a:defRPr>
                <a:latin typeface="Nanum Gothic"/>
                <a:ea typeface="Nanum Gothic"/>
                <a:cs typeface="Nanum Gothic"/>
                <a:sym typeface="Nanum Gothic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  <a:defRPr>
                <a:latin typeface="Nanum Gothic"/>
                <a:ea typeface="Nanum Gothic"/>
                <a:cs typeface="Nanum Gothic"/>
                <a:sym typeface="Nanum Gothic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■"/>
              <a:defRPr>
                <a:latin typeface="Nanum Gothic"/>
                <a:ea typeface="Nanum Gothic"/>
                <a:cs typeface="Nanum Gothic"/>
                <a:sym typeface="Nanum Gothic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●"/>
              <a:defRPr>
                <a:latin typeface="Nanum Gothic"/>
                <a:ea typeface="Nanum Gothic"/>
                <a:cs typeface="Nanum Gothic"/>
                <a:sym typeface="Nanum Gothic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  <a:defRPr>
                <a:latin typeface="Nanum Gothic"/>
                <a:ea typeface="Nanum Gothic"/>
                <a:cs typeface="Nanum Gothic"/>
                <a:sym typeface="Nanum Gothic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■"/>
              <a:defRPr>
                <a:latin typeface="Nanum Gothic"/>
                <a:ea typeface="Nanum Gothic"/>
                <a:cs typeface="Nanum Gothic"/>
                <a:sym typeface="Nanum Gothic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●"/>
              <a:defRPr>
                <a:latin typeface="Nanum Gothic"/>
                <a:ea typeface="Nanum Gothic"/>
                <a:cs typeface="Nanum Gothic"/>
                <a:sym typeface="Nanum Gothic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○"/>
              <a:defRPr>
                <a:latin typeface="Nanum Gothic"/>
                <a:ea typeface="Nanum Gothic"/>
                <a:cs typeface="Nanum Gothic"/>
                <a:sym typeface="Nanum Gothic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Nanum Gothic"/>
              <a:buChar char="■"/>
              <a:defRPr>
                <a:latin typeface="Nanum Gothic"/>
                <a:ea typeface="Nanum Gothic"/>
                <a:cs typeface="Nanum Gothic"/>
                <a:sym typeface="Nanum Gothic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anumGothicExtraBold"/>
              <a:buNone/>
              <a:defRPr sz="2800">
                <a:solidFill>
                  <a:schemeClr val="dk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anum Gothic"/>
              <a:buChar char="●"/>
              <a:defRPr sz="1800">
                <a:solidFill>
                  <a:schemeClr val="dk2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anum Gothic"/>
              <a:buChar char="○"/>
              <a:defRPr>
                <a:solidFill>
                  <a:schemeClr val="dk2"/>
                </a:solidFill>
                <a:latin typeface="Nanum Gothic"/>
                <a:ea typeface="Nanum Gothic"/>
                <a:cs typeface="Nanum Gothic"/>
                <a:sym typeface="Nanum Gothic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anum Gothic"/>
              <a:buChar char="■"/>
              <a:defRPr>
                <a:solidFill>
                  <a:schemeClr val="dk2"/>
                </a:solidFill>
                <a:latin typeface="Nanum Gothic"/>
                <a:ea typeface="Nanum Gothic"/>
                <a:cs typeface="Nanum Gothic"/>
                <a:sym typeface="Nanum Gothic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anum Gothic"/>
              <a:buChar char="●"/>
              <a:defRPr>
                <a:solidFill>
                  <a:schemeClr val="dk2"/>
                </a:solidFill>
                <a:latin typeface="Nanum Gothic"/>
                <a:ea typeface="Nanum Gothic"/>
                <a:cs typeface="Nanum Gothic"/>
                <a:sym typeface="Nanum Gothic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anum Gothic"/>
              <a:buChar char="○"/>
              <a:defRPr>
                <a:solidFill>
                  <a:schemeClr val="dk2"/>
                </a:solidFill>
                <a:latin typeface="Nanum Gothic"/>
                <a:ea typeface="Nanum Gothic"/>
                <a:cs typeface="Nanum Gothic"/>
                <a:sym typeface="Nanum Gothic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anum Gothic"/>
              <a:buChar char="■"/>
              <a:defRPr>
                <a:solidFill>
                  <a:schemeClr val="dk2"/>
                </a:solidFill>
                <a:latin typeface="Nanum Gothic"/>
                <a:ea typeface="Nanum Gothic"/>
                <a:cs typeface="Nanum Gothic"/>
                <a:sym typeface="Nanum Gothic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anum Gothic"/>
              <a:buChar char="●"/>
              <a:defRPr>
                <a:solidFill>
                  <a:schemeClr val="dk2"/>
                </a:solidFill>
                <a:latin typeface="Nanum Gothic"/>
                <a:ea typeface="Nanum Gothic"/>
                <a:cs typeface="Nanum Gothic"/>
                <a:sym typeface="Nanum Gothic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anum Gothic"/>
              <a:buChar char="○"/>
              <a:defRPr>
                <a:solidFill>
                  <a:schemeClr val="dk2"/>
                </a:solidFill>
                <a:latin typeface="Nanum Gothic"/>
                <a:ea typeface="Nanum Gothic"/>
                <a:cs typeface="Nanum Gothic"/>
                <a:sym typeface="Nanum Gothic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anum Gothic"/>
              <a:buChar char="■"/>
              <a:defRPr>
                <a:solidFill>
                  <a:schemeClr val="dk2"/>
                </a:solidFill>
                <a:latin typeface="Nanum Gothic"/>
                <a:ea typeface="Nanum Gothic"/>
                <a:cs typeface="Nanum Gothic"/>
                <a:sym typeface="Nanum Goth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latin typeface="Nanum Gothic"/>
                <a:ea typeface="Nanum Gothic"/>
                <a:cs typeface="Nanum Gothic"/>
                <a:sym typeface="Nanum Gothic"/>
              </a:rPr>
              <a:t>WEEK 9</a:t>
            </a:r>
            <a:endParaRPr b="1"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300" b="1">
                <a:latin typeface="Nanum Gothic"/>
                <a:ea typeface="Nanum Gothic"/>
                <a:cs typeface="Nanum Gothic"/>
                <a:sym typeface="Nanum Gothic"/>
              </a:rPr>
              <a:t>TEAM 03</a:t>
            </a:r>
            <a:endParaRPr sz="3300" b="1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66666"/>
                </a:solidFill>
                <a:latin typeface="Nanum Gothic"/>
                <a:ea typeface="Nanum Gothic"/>
                <a:cs typeface="Nanum Gothic"/>
                <a:sym typeface="Nanum Gothic"/>
              </a:rPr>
              <a:t>김다애, 정범진, 조범상, 주호석</a:t>
            </a:r>
            <a:endParaRPr sz="1800">
              <a:solidFill>
                <a:srgbClr val="666666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94108">
            <a:off x="6166320" y="401219"/>
            <a:ext cx="2935207" cy="3665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311700" y="15454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600">
                <a:latin typeface="NanumGothicExtraBold"/>
                <a:ea typeface="NanumGothicExtraBold"/>
                <a:cs typeface="NanumGothicExtraBold"/>
                <a:sym typeface="NanumGothicExtraBold"/>
              </a:rPr>
              <a:t>KDA - 김다애</a:t>
            </a:r>
            <a:endParaRPr sz="3600" b="1"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28575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진행률 리포트</a:t>
            </a:r>
            <a:endParaRPr sz="3200">
              <a:solidFill>
                <a:srgbClr val="1E293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grpSp>
        <p:nvGrpSpPr>
          <p:cNvPr id="67" name="Google Shape;67;p15"/>
          <p:cNvGrpSpPr/>
          <p:nvPr/>
        </p:nvGrpSpPr>
        <p:grpSpPr>
          <a:xfrm>
            <a:off x="381000" y="1047750"/>
            <a:ext cx="8382000" cy="1333500"/>
            <a:chOff x="381000" y="1047750"/>
            <a:chExt cx="8382000" cy="1333500"/>
          </a:xfrm>
        </p:grpSpPr>
        <p:sp>
          <p:nvSpPr>
            <p:cNvPr id="68" name="Google Shape;68;p15"/>
            <p:cNvSpPr/>
            <p:nvPr/>
          </p:nvSpPr>
          <p:spPr>
            <a:xfrm>
              <a:off x="381000" y="1047750"/>
              <a:ext cx="8382000" cy="13335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 txBox="1"/>
            <p:nvPr/>
          </p:nvSpPr>
          <p:spPr>
            <a:xfrm>
              <a:off x="571500" y="1190625"/>
              <a:ext cx="238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800" b="1">
                  <a:solidFill>
                    <a:srgbClr val="64748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전체 통과율</a:t>
              </a:r>
              <a:endParaRPr sz="1800" b="1">
                <a:solidFill>
                  <a:srgbClr val="64748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3600" b="1">
                  <a:solidFill>
                    <a:srgbClr val="3B82F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37%</a:t>
              </a:r>
              <a:endParaRPr sz="3600" b="1">
                <a:solidFill>
                  <a:srgbClr val="3B82F6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b="1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10 / 27 Tests</a:t>
              </a:r>
              <a:endParaRPr b="1">
                <a:solidFill>
                  <a:srgbClr val="94A3B8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3143250" y="1571625"/>
              <a:ext cx="5238900" cy="190500"/>
            </a:xfrm>
            <a:prstGeom prst="roundRect">
              <a:avLst>
                <a:gd name="adj" fmla="val 50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3143250" y="1571625"/>
              <a:ext cx="1940100" cy="1905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3143250" y="1857375"/>
              <a:ext cx="5238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rgbClr val="475569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상세: </a:t>
              </a:r>
              <a:r>
                <a:rPr lang="ko" sz="1200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alarm clock 6개 + priority 4개 통과</a:t>
              </a:r>
              <a:endParaRPr sz="1200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73" name="Google Shape;73;p15"/>
          <p:cNvGrpSpPr/>
          <p:nvPr/>
        </p:nvGrpSpPr>
        <p:grpSpPr>
          <a:xfrm>
            <a:off x="381000" y="2571750"/>
            <a:ext cx="8382000" cy="2190900"/>
            <a:chOff x="381000" y="2571750"/>
            <a:chExt cx="8382000" cy="2190900"/>
          </a:xfrm>
        </p:grpSpPr>
        <p:sp>
          <p:nvSpPr>
            <p:cNvPr id="74" name="Google Shape;74;p15"/>
            <p:cNvSpPr/>
            <p:nvPr/>
          </p:nvSpPr>
          <p:spPr>
            <a:xfrm>
              <a:off x="381000" y="2571750"/>
              <a:ext cx="26670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571500" y="2714625"/>
              <a:ext cx="2286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400" dirty="0">
                  <a:solidFill>
                    <a:srgbClr val="1E293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Alarm Clock</a:t>
              </a:r>
              <a:endParaRPr sz="2400" dirty="0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ko" sz="2400" dirty="0">
                  <a:solidFill>
                    <a:srgbClr val="10B981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100%</a:t>
              </a:r>
              <a:endParaRPr sz="2400" dirty="0">
                <a:solidFill>
                  <a:srgbClr val="10B98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64748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6 / 6 통과</a:t>
              </a:r>
              <a:r>
                <a:rPr lang="en-US" altLang="ko" dirty="0">
                  <a:solidFill>
                    <a:srgbClr val="64748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 </a:t>
              </a:r>
              <a:endParaRPr lang="ko" altLang="en-US" sz="1100" dirty="0">
                <a:solidFill>
                  <a:srgbClr val="64748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3238500" y="2571750"/>
              <a:ext cx="26670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3429000" y="2714625"/>
              <a:ext cx="2286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400" dirty="0">
                  <a:solidFill>
                    <a:srgbClr val="1E293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Priority</a:t>
              </a:r>
              <a:endParaRPr sz="2400" dirty="0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ko" sz="2400" dirty="0">
                  <a:solidFill>
                    <a:srgbClr val="F59E0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33%</a:t>
              </a:r>
              <a:endParaRPr sz="2400" dirty="0">
                <a:solidFill>
                  <a:srgbClr val="F59E0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64748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4 / 12 통과</a:t>
              </a:r>
              <a:endParaRPr lang="en-US" altLang="ko" dirty="0">
                <a:solidFill>
                  <a:srgbClr val="64748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ko" sz="1000" b="1" dirty="0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통과 목록:</a:t>
              </a:r>
              <a:endParaRPr sz="1000" b="1" dirty="0">
                <a:solidFill>
                  <a:srgbClr val="94A3B8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 b="1" dirty="0">
                  <a:solidFill>
                    <a:srgbClr val="64748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change, fifo, preempt, sema</a:t>
              </a:r>
              <a:endParaRPr sz="1000" b="1" dirty="0">
                <a:solidFill>
                  <a:srgbClr val="64748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6096000" y="2571750"/>
              <a:ext cx="26670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6286500" y="2714625"/>
              <a:ext cx="2286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400" dirty="0">
                  <a:solidFill>
                    <a:srgbClr val="1E293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MLFQS</a:t>
              </a:r>
              <a:endParaRPr sz="2400" dirty="0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ko" sz="2400" dirty="0">
                  <a:solidFill>
                    <a:srgbClr val="EF4444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0%</a:t>
              </a:r>
              <a:endParaRPr sz="2400" dirty="0">
                <a:solidFill>
                  <a:srgbClr val="EF4444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ko" dirty="0">
                  <a:solidFill>
                    <a:srgbClr val="64748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0 / 9 통과</a:t>
              </a:r>
              <a:endParaRPr lang="ko-KR" altLang="en-US" sz="1000" dirty="0">
                <a:solidFill>
                  <a:srgbClr val="94A3B8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A6E88939-230A-A871-E8B3-EA3B3DF39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651" y="3574890"/>
            <a:ext cx="707197" cy="37798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0FD64B3-301C-72D0-C40D-31C61DE73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432" y="3574889"/>
            <a:ext cx="463336" cy="37798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7B0DD35-CA87-257A-610E-8AC714705C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332" y="3574889"/>
            <a:ext cx="463336" cy="3779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28575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 b="0" i="0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9주차 협업 방식</a:t>
            </a:r>
            <a:endParaRPr sz="3200" b="0" i="0">
              <a:solidFill>
                <a:srgbClr val="1E293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grpSp>
        <p:nvGrpSpPr>
          <p:cNvPr id="85" name="Google Shape;85;p16"/>
          <p:cNvGrpSpPr/>
          <p:nvPr/>
        </p:nvGrpSpPr>
        <p:grpSpPr>
          <a:xfrm>
            <a:off x="304800" y="1240014"/>
            <a:ext cx="4191000" cy="1333500"/>
            <a:chOff x="304800" y="1143000"/>
            <a:chExt cx="4191000" cy="1333500"/>
          </a:xfrm>
        </p:grpSpPr>
        <p:sp>
          <p:nvSpPr>
            <p:cNvPr id="86" name="Google Shape;86;p16"/>
            <p:cNvSpPr/>
            <p:nvPr/>
          </p:nvSpPr>
          <p:spPr>
            <a:xfrm>
              <a:off x="304800" y="1143000"/>
              <a:ext cx="4191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6"/>
            <p:cNvSpPr txBox="1"/>
            <p:nvPr/>
          </p:nvSpPr>
          <p:spPr>
            <a:xfrm>
              <a:off x="495300" y="1285875"/>
              <a:ext cx="3810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400">
                  <a:solidFill>
                    <a:srgbClr val="3B82F6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01. 브랜치 전략</a:t>
              </a:r>
              <a:endParaRPr sz="2400">
                <a:solidFill>
                  <a:srgbClr val="3B82F6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8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Git 브랜치 전략 사용</a:t>
              </a:r>
              <a:endParaRPr sz="18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100" b="0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303호 내부 규칙에 따른 브랜치 관리</a:t>
              </a:r>
              <a:endParaRPr sz="1100" b="0">
                <a:solidFill>
                  <a:srgbClr val="94A3B8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88" name="Google Shape;88;p16"/>
          <p:cNvGrpSpPr/>
          <p:nvPr/>
        </p:nvGrpSpPr>
        <p:grpSpPr>
          <a:xfrm>
            <a:off x="4648200" y="1240014"/>
            <a:ext cx="4191000" cy="1333500"/>
            <a:chOff x="4648200" y="1143000"/>
            <a:chExt cx="4191000" cy="1333500"/>
          </a:xfrm>
        </p:grpSpPr>
        <p:sp>
          <p:nvSpPr>
            <p:cNvPr id="89" name="Google Shape;89;p16"/>
            <p:cNvSpPr/>
            <p:nvPr/>
          </p:nvSpPr>
          <p:spPr>
            <a:xfrm>
              <a:off x="4648200" y="1143000"/>
              <a:ext cx="4191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6"/>
            <p:cNvSpPr txBox="1"/>
            <p:nvPr/>
          </p:nvSpPr>
          <p:spPr>
            <a:xfrm>
              <a:off x="4838700" y="1285875"/>
              <a:ext cx="3810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400">
                  <a:solidFill>
                    <a:srgbClr val="10B981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02. 코드 통합</a:t>
              </a:r>
              <a:endParaRPr sz="2400">
                <a:solidFill>
                  <a:srgbClr val="10B98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8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PR → Merge로 코드 병합</a:t>
              </a:r>
              <a:endParaRPr sz="18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100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주기적인 </a:t>
              </a:r>
              <a:r>
                <a:rPr lang="ko" sz="1100" b="0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코드 리뷰</a:t>
              </a:r>
              <a:r>
                <a:rPr lang="ko" sz="1100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로 프로그래밍 및 디버깅 실력 향상</a:t>
              </a:r>
              <a:endParaRPr sz="1100" b="0">
                <a:solidFill>
                  <a:srgbClr val="94A3B8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91" name="Google Shape;91;p16"/>
          <p:cNvGrpSpPr/>
          <p:nvPr/>
        </p:nvGrpSpPr>
        <p:grpSpPr>
          <a:xfrm>
            <a:off x="304800" y="2764014"/>
            <a:ext cx="4191000" cy="1333500"/>
            <a:chOff x="304800" y="2667000"/>
            <a:chExt cx="4191000" cy="1333500"/>
          </a:xfrm>
        </p:grpSpPr>
        <p:sp>
          <p:nvSpPr>
            <p:cNvPr id="92" name="Google Shape;92;p16"/>
            <p:cNvSpPr/>
            <p:nvPr/>
          </p:nvSpPr>
          <p:spPr>
            <a:xfrm>
              <a:off x="304800" y="2667000"/>
              <a:ext cx="4191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6"/>
            <p:cNvSpPr txBox="1"/>
            <p:nvPr/>
          </p:nvSpPr>
          <p:spPr>
            <a:xfrm>
              <a:off x="495300" y="2809875"/>
              <a:ext cx="3810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400" b="0">
                  <a:solidFill>
                    <a:srgbClr val="F59E0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03.</a:t>
              </a:r>
              <a:r>
                <a:rPr lang="ko" sz="2200" b="0">
                  <a:solidFill>
                    <a:srgbClr val="F59E0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 </a:t>
              </a:r>
              <a:r>
                <a:rPr lang="ko" sz="2200">
                  <a:solidFill>
                    <a:srgbClr val="F59E0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상황에 따른 학습 방식 적용 </a:t>
              </a:r>
              <a:endParaRPr sz="2200" b="0">
                <a:solidFill>
                  <a:srgbClr val="F59E0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8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테스트 케이스 분업 &amp; 공동 도전</a:t>
              </a:r>
              <a:endParaRPr sz="18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100" b="0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개별 업무 분담</a:t>
              </a:r>
              <a:r>
                <a:rPr lang="ko" sz="1100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및</a:t>
              </a:r>
              <a:r>
                <a:rPr lang="ko" sz="1100" b="0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집단 지성 활용</a:t>
              </a:r>
              <a:endParaRPr sz="1100" b="0">
                <a:solidFill>
                  <a:srgbClr val="94A3B8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94" name="Google Shape;94;p16"/>
          <p:cNvGrpSpPr/>
          <p:nvPr/>
        </p:nvGrpSpPr>
        <p:grpSpPr>
          <a:xfrm>
            <a:off x="4648200" y="2764014"/>
            <a:ext cx="4191000" cy="1333500"/>
            <a:chOff x="4648200" y="2667000"/>
            <a:chExt cx="4191000" cy="1333500"/>
          </a:xfrm>
        </p:grpSpPr>
        <p:sp>
          <p:nvSpPr>
            <p:cNvPr id="95" name="Google Shape;95;p16"/>
            <p:cNvSpPr/>
            <p:nvPr/>
          </p:nvSpPr>
          <p:spPr>
            <a:xfrm>
              <a:off x="4648200" y="2667000"/>
              <a:ext cx="4191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6"/>
            <p:cNvSpPr txBox="1"/>
            <p:nvPr/>
          </p:nvSpPr>
          <p:spPr>
            <a:xfrm>
              <a:off x="4838700" y="2809875"/>
              <a:ext cx="3810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400" b="0">
                  <a:solidFill>
                    <a:srgbClr val="EF4444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04. </a:t>
              </a:r>
              <a:r>
                <a:rPr lang="ko" sz="2400">
                  <a:solidFill>
                    <a:srgbClr val="EF4444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유연한 협업 시간</a:t>
              </a:r>
              <a:endParaRPr sz="2400" b="0">
                <a:solidFill>
                  <a:srgbClr val="EF4444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8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No 코어타임</a:t>
              </a:r>
              <a:endParaRPr sz="18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100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언제든지 모여 토의할 수 있도록 </a:t>
              </a:r>
              <a:r>
                <a:rPr lang="ko" sz="1100" b="0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유연한 운영</a:t>
              </a:r>
              <a:endParaRPr sz="1100" b="0">
                <a:solidFill>
                  <a:srgbClr val="94A3B8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311696" y="28575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95250" rIns="95250" bIns="95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브랜치 전략</a:t>
            </a:r>
            <a:endParaRPr sz="3200">
              <a:solidFill>
                <a:srgbClr val="1E293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406946" y="952500"/>
            <a:ext cx="8330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64748B"/>
                </a:solidFill>
                <a:latin typeface="Nanum Gothic"/>
                <a:ea typeface="Nanum Gothic"/>
                <a:cs typeface="Nanum Gothic"/>
                <a:sym typeface="Nanum Gothic"/>
              </a:rPr>
              <a:t>303호 내부적으로 통일하기로 한 브랜치 전략 </a:t>
            </a:r>
            <a:r>
              <a:rPr lang="ko">
                <a:solidFill>
                  <a:srgbClr val="64748B"/>
                </a:solidFill>
                <a:latin typeface="Nanum Gothic"/>
                <a:ea typeface="Nanum Gothic"/>
                <a:cs typeface="Nanum Gothic"/>
                <a:sym typeface="Nanum Gothic"/>
              </a:rPr>
              <a:t>사용</a:t>
            </a:r>
            <a:endParaRPr sz="1400">
              <a:solidFill>
                <a:srgbClr val="64748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762000" y="1795902"/>
            <a:ext cx="0" cy="7191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" name="Google Shape;104;p17"/>
          <p:cNvCxnSpPr/>
          <p:nvPr/>
        </p:nvCxnSpPr>
        <p:spPr>
          <a:xfrm rot="10800000">
            <a:off x="952500" y="2324539"/>
            <a:ext cx="0" cy="3810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1143000" y="2505902"/>
            <a:ext cx="0" cy="12021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" name="Google Shape;106;p17"/>
          <p:cNvCxnSpPr/>
          <p:nvPr/>
        </p:nvCxnSpPr>
        <p:spPr>
          <a:xfrm rot="10800000">
            <a:off x="1285950" y="2986452"/>
            <a:ext cx="0" cy="2859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7" name="Google Shape;107;p17"/>
          <p:cNvCxnSpPr/>
          <p:nvPr/>
        </p:nvCxnSpPr>
        <p:spPr>
          <a:xfrm rot="10800000">
            <a:off x="1285950" y="3176952"/>
            <a:ext cx="0" cy="2859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8" name="Google Shape;108;p17"/>
          <p:cNvCxnSpPr/>
          <p:nvPr/>
        </p:nvCxnSpPr>
        <p:spPr>
          <a:xfrm rot="10800000">
            <a:off x="1285950" y="3367452"/>
            <a:ext cx="0" cy="2859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" name="Google Shape;109;p17"/>
          <p:cNvCxnSpPr/>
          <p:nvPr/>
        </p:nvCxnSpPr>
        <p:spPr>
          <a:xfrm rot="10800000">
            <a:off x="1285950" y="3557952"/>
            <a:ext cx="0" cy="28590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" name="Google Shape;110;p17"/>
          <p:cNvSpPr/>
          <p:nvPr/>
        </p:nvSpPr>
        <p:spPr>
          <a:xfrm>
            <a:off x="704850" y="1738752"/>
            <a:ext cx="114300" cy="1143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704850" y="2457889"/>
            <a:ext cx="114300" cy="1143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1104900" y="3091302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1104900" y="3281802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1104900" y="3472302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1104900" y="3662802"/>
            <a:ext cx="76200" cy="762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" name="Google Shape;116;p17"/>
          <p:cNvGrpSpPr/>
          <p:nvPr/>
        </p:nvGrpSpPr>
        <p:grpSpPr>
          <a:xfrm>
            <a:off x="406950" y="1775544"/>
            <a:ext cx="296325" cy="2342941"/>
            <a:chOff x="406950" y="1762125"/>
            <a:chExt cx="296325" cy="2171400"/>
          </a:xfrm>
        </p:grpSpPr>
        <p:sp>
          <p:nvSpPr>
            <p:cNvPr id="117" name="Google Shape;117;p17"/>
            <p:cNvSpPr/>
            <p:nvPr/>
          </p:nvSpPr>
          <p:spPr>
            <a:xfrm>
              <a:off x="406950" y="3819158"/>
              <a:ext cx="114300" cy="1143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8" name="Google Shape;118;p17"/>
            <p:cNvPicPr preferRelativeResize="0"/>
            <p:nvPr/>
          </p:nvPicPr>
          <p:blipFill rotWithShape="1">
            <a:blip r:embed="rId4">
              <a:alphaModFix/>
            </a:blip>
            <a:srcRect l="36596"/>
            <a:stretch/>
          </p:blipFill>
          <p:spPr>
            <a:xfrm flipH="1">
              <a:off x="455475" y="1762125"/>
              <a:ext cx="247800" cy="2171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9" name="Google Shape;119;p17"/>
          <p:cNvGrpSpPr/>
          <p:nvPr/>
        </p:nvGrpSpPr>
        <p:grpSpPr>
          <a:xfrm>
            <a:off x="1714500" y="1557777"/>
            <a:ext cx="6667500" cy="476400"/>
            <a:chOff x="1714500" y="1524000"/>
            <a:chExt cx="6667500" cy="476400"/>
          </a:xfrm>
        </p:grpSpPr>
        <p:sp>
          <p:nvSpPr>
            <p:cNvPr id="120" name="Google Shape;120;p17"/>
            <p:cNvSpPr/>
            <p:nvPr/>
          </p:nvSpPr>
          <p:spPr>
            <a:xfrm>
              <a:off x="1714500" y="1524000"/>
              <a:ext cx="6667500" cy="476400"/>
            </a:xfrm>
            <a:prstGeom prst="roundRect">
              <a:avLst>
                <a:gd name="adj" fmla="val 8000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1857375" y="1524000"/>
              <a:ext cx="6381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800">
                  <a:solidFill>
                    <a:srgbClr val="0F172A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main </a:t>
              </a:r>
              <a:r>
                <a:rPr lang="ko" sz="12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릴리즈 전용 브랜치, 항상 버그가 없는 상태를 유지</a:t>
              </a:r>
              <a:endParaRPr sz="1600" b="1">
                <a:solidFill>
                  <a:srgbClr val="0F172A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122" name="Google Shape;122;p17"/>
          <p:cNvGrpSpPr/>
          <p:nvPr/>
        </p:nvGrpSpPr>
        <p:grpSpPr>
          <a:xfrm>
            <a:off x="1714500" y="2229289"/>
            <a:ext cx="6667500" cy="571500"/>
            <a:chOff x="1714500" y="2190750"/>
            <a:chExt cx="6667500" cy="571500"/>
          </a:xfrm>
        </p:grpSpPr>
        <p:sp>
          <p:nvSpPr>
            <p:cNvPr id="123" name="Google Shape;123;p17"/>
            <p:cNvSpPr/>
            <p:nvPr/>
          </p:nvSpPr>
          <p:spPr>
            <a:xfrm>
              <a:off x="1714500" y="2190750"/>
              <a:ext cx="6667500" cy="571500"/>
            </a:xfrm>
            <a:prstGeom prst="roundRect">
              <a:avLst>
                <a:gd name="adj" fmla="val 6666"/>
              </a:avLst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1857375" y="2190750"/>
              <a:ext cx="6381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800">
                  <a:solidFill>
                    <a:srgbClr val="1D4ED8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dev </a:t>
              </a:r>
              <a:r>
                <a:rPr lang="ko" sz="1200" b="1">
                  <a:solidFill>
                    <a:srgbClr val="3B82F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통합 브랜치, 중간 저장소</a:t>
              </a:r>
              <a:endParaRPr sz="1600" b="1">
                <a:solidFill>
                  <a:srgbClr val="1D4ED8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 b="1">
                  <a:solidFill>
                    <a:srgbClr val="60A5F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(각 개인 브랜치에서 PR → dev에서 충돌 해결, Merge)</a:t>
              </a:r>
              <a:endParaRPr sz="1000" b="1">
                <a:solidFill>
                  <a:srgbClr val="60A5FA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125" name="Google Shape;125;p17"/>
          <p:cNvGrpSpPr/>
          <p:nvPr/>
        </p:nvGrpSpPr>
        <p:grpSpPr>
          <a:xfrm>
            <a:off x="1714500" y="2938902"/>
            <a:ext cx="6667500" cy="952500"/>
            <a:chOff x="1714500" y="2905125"/>
            <a:chExt cx="6667500" cy="952500"/>
          </a:xfrm>
        </p:grpSpPr>
        <p:sp>
          <p:nvSpPr>
            <p:cNvPr id="126" name="Google Shape;126;p17"/>
            <p:cNvSpPr/>
            <p:nvPr/>
          </p:nvSpPr>
          <p:spPr>
            <a:xfrm>
              <a:off x="1714500" y="2905125"/>
              <a:ext cx="6667500" cy="952500"/>
            </a:xfrm>
            <a:prstGeom prst="roundRect">
              <a:avLst>
                <a:gd name="adj" fmla="val 4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1857375" y="2905125"/>
              <a:ext cx="6381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1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• dev/KDA: 다애 개인 작업 브랜치</a:t>
              </a:r>
              <a:endParaRPr sz="11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1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• dev/iamnuked: 범진 개인 작업 브랜치</a:t>
              </a:r>
              <a:endParaRPr sz="11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1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• dev/nick: 범상 개인 작업 브랜치</a:t>
              </a:r>
              <a:endParaRPr sz="11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1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• dev/JUHOSEOK: 호석 개인 작업 브랜치</a:t>
              </a:r>
              <a:endParaRPr sz="11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128" name="Google Shape;128;p17"/>
          <p:cNvGrpSpPr/>
          <p:nvPr/>
        </p:nvGrpSpPr>
        <p:grpSpPr>
          <a:xfrm>
            <a:off x="311682" y="4158425"/>
            <a:ext cx="2310555" cy="476400"/>
            <a:chOff x="762119" y="4000500"/>
            <a:chExt cx="3023100" cy="476400"/>
          </a:xfrm>
        </p:grpSpPr>
        <p:sp>
          <p:nvSpPr>
            <p:cNvPr id="129" name="Google Shape;129;p17"/>
            <p:cNvSpPr/>
            <p:nvPr/>
          </p:nvSpPr>
          <p:spPr>
            <a:xfrm>
              <a:off x="762119" y="4000500"/>
              <a:ext cx="3023100" cy="476400"/>
            </a:xfrm>
            <a:prstGeom prst="roundRect">
              <a:avLst>
                <a:gd name="adj" fmla="val 8000"/>
              </a:avLst>
            </a:prstGeom>
            <a:solidFill>
              <a:srgbClr val="FEF2F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843722" y="4000500"/>
              <a:ext cx="2859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800">
                  <a:solidFill>
                    <a:srgbClr val="B91C1C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hotfix </a:t>
              </a:r>
              <a:r>
                <a:rPr lang="ko" sz="1200" b="1">
                  <a:solidFill>
                    <a:srgbClr val="EF4444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긴급 수정 브랜치</a:t>
              </a:r>
              <a:endParaRPr sz="1600" b="1">
                <a:solidFill>
                  <a:srgbClr val="B91C1C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311700" y="2320875"/>
            <a:ext cx="8520600" cy="2466300"/>
          </a:xfrm>
          <a:prstGeom prst="roundRect">
            <a:avLst>
              <a:gd name="adj" fmla="val 6666"/>
            </a:avLst>
          </a:prstGeom>
          <a:solidFill>
            <a:schemeClr val="dk2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502200" y="3153525"/>
            <a:ext cx="8139600" cy="80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EFF6FF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$ git branch dev</a:t>
            </a:r>
            <a:endParaRPr sz="2000">
              <a:solidFill>
                <a:srgbClr val="EFF6FF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ko" sz="2000" b="1">
                <a:solidFill>
                  <a:srgbClr val="FF8585"/>
                </a:solidFill>
                <a:latin typeface="Nanum Gothic"/>
                <a:ea typeface="Nanum Gothic"/>
                <a:cs typeface="Nanum Gothic"/>
                <a:sym typeface="Nanum Gothic"/>
              </a:rPr>
              <a:t>fatal: cannot lock ref 'refs/heads/dev': 'refs/heads/dev/name' exists</a:t>
            </a:r>
            <a:endParaRPr sz="2000" b="1">
              <a:solidFill>
                <a:srgbClr val="FF8585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>
                <a:solidFill>
                  <a:srgbClr val="FF8585"/>
                </a:solidFill>
                <a:latin typeface="Nanum Gothic"/>
                <a:ea typeface="Nanum Gothic"/>
                <a:cs typeface="Nanum Gothic"/>
                <a:sym typeface="Nanum Gothic"/>
              </a:rPr>
              <a:t>error: cannot create 'refs/heads/dev'</a:t>
            </a:r>
            <a:endParaRPr sz="2000" b="1">
              <a:solidFill>
                <a:srgbClr val="FF8585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137" name="Google Shape;137;p18"/>
          <p:cNvGrpSpPr/>
          <p:nvPr/>
        </p:nvGrpSpPr>
        <p:grpSpPr>
          <a:xfrm>
            <a:off x="311696" y="952500"/>
            <a:ext cx="8520600" cy="1143000"/>
            <a:chOff x="311696" y="952500"/>
            <a:chExt cx="8520600" cy="1143000"/>
          </a:xfrm>
        </p:grpSpPr>
        <p:sp>
          <p:nvSpPr>
            <p:cNvPr id="138" name="Google Shape;138;p18"/>
            <p:cNvSpPr/>
            <p:nvPr/>
          </p:nvSpPr>
          <p:spPr>
            <a:xfrm>
              <a:off x="311696" y="952500"/>
              <a:ext cx="8520600" cy="11430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139" name="Google Shape;139;p18"/>
            <p:cNvSpPr txBox="1"/>
            <p:nvPr/>
          </p:nvSpPr>
          <p:spPr>
            <a:xfrm>
              <a:off x="502196" y="1047750"/>
              <a:ext cx="8139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800">
                  <a:solidFill>
                    <a:srgbClr val="EF4444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[문제 상황]</a:t>
              </a:r>
              <a:endParaRPr sz="1800">
                <a:solidFill>
                  <a:srgbClr val="EF4444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spcBef>
                  <a:spcPts val="1000"/>
                </a:spcBef>
                <a:spcAft>
                  <a:spcPts val="300"/>
                </a:spcAft>
                <a:buNone/>
              </a:pPr>
              <a:r>
                <a:rPr lang="ko" sz="16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dev/{이름} 형식의 이름으로 브랜치를 만든 후, dev 브랜치를 만들지 못하는 상황 발생</a:t>
              </a:r>
              <a:endParaRPr sz="1600" b="1">
                <a:solidFill>
                  <a:srgbClr val="64748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sp>
        <p:nvSpPr>
          <p:cNvPr id="140" name="Google Shape;140;p18"/>
          <p:cNvSpPr txBox="1">
            <a:spLocks noGrp="1"/>
          </p:cNvSpPr>
          <p:nvPr>
            <p:ph type="title"/>
          </p:nvPr>
        </p:nvSpPr>
        <p:spPr>
          <a:xfrm>
            <a:off x="311700" y="28575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95250" rIns="95250" bIns="95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트러블 슈팅: 깃허브 브랜치 네이밍</a:t>
            </a:r>
            <a:endParaRPr sz="3200">
              <a:solidFill>
                <a:srgbClr val="1E293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19"/>
          <p:cNvGrpSpPr/>
          <p:nvPr/>
        </p:nvGrpSpPr>
        <p:grpSpPr>
          <a:xfrm>
            <a:off x="311696" y="952500"/>
            <a:ext cx="8520600" cy="1143000"/>
            <a:chOff x="311696" y="952500"/>
            <a:chExt cx="8520600" cy="1143000"/>
          </a:xfrm>
        </p:grpSpPr>
        <p:sp>
          <p:nvSpPr>
            <p:cNvPr id="146" name="Google Shape;146;p19"/>
            <p:cNvSpPr/>
            <p:nvPr/>
          </p:nvSpPr>
          <p:spPr>
            <a:xfrm>
              <a:off x="311696" y="952500"/>
              <a:ext cx="8520600" cy="11430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147" name="Google Shape;147;p19"/>
            <p:cNvSpPr txBox="1"/>
            <p:nvPr/>
          </p:nvSpPr>
          <p:spPr>
            <a:xfrm>
              <a:off x="502196" y="1047750"/>
              <a:ext cx="8139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800">
                  <a:solidFill>
                    <a:srgbClr val="EF4444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[문제 상황]</a:t>
              </a:r>
              <a:endParaRPr sz="1800">
                <a:solidFill>
                  <a:srgbClr val="EF4444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ko" sz="16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dev/{이름} 형식의 이름으로 브랜치를 만든 후, dev 브랜치를 만들지 못하는 상황 발생</a:t>
              </a:r>
              <a:endParaRPr sz="16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rgbClr val="64748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→ 시행착오 끝에 ‘/’를 사용해 계층 구조를 나타내는 형태로 생성이 불가능함을 확인</a:t>
              </a:r>
              <a:endParaRPr sz="16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sp>
        <p:nvSpPr>
          <p:cNvPr id="148" name="Google Shape;148;p19"/>
          <p:cNvSpPr txBox="1">
            <a:spLocks noGrp="1"/>
          </p:cNvSpPr>
          <p:nvPr>
            <p:ph type="title"/>
          </p:nvPr>
        </p:nvSpPr>
        <p:spPr>
          <a:xfrm>
            <a:off x="311700" y="28575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95250" rIns="95250" bIns="952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트러블 슈팅: 깃허브 브랜치 네이밍</a:t>
            </a:r>
            <a:endParaRPr sz="3200">
              <a:solidFill>
                <a:srgbClr val="1E293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grpSp>
        <p:nvGrpSpPr>
          <p:cNvPr id="149" name="Google Shape;149;p19"/>
          <p:cNvGrpSpPr/>
          <p:nvPr/>
        </p:nvGrpSpPr>
        <p:grpSpPr>
          <a:xfrm>
            <a:off x="311696" y="2393263"/>
            <a:ext cx="4143300" cy="2190900"/>
            <a:chOff x="311696" y="2286000"/>
            <a:chExt cx="4143300" cy="2190900"/>
          </a:xfrm>
        </p:grpSpPr>
        <p:sp>
          <p:nvSpPr>
            <p:cNvPr id="150" name="Google Shape;150;p19"/>
            <p:cNvSpPr/>
            <p:nvPr/>
          </p:nvSpPr>
          <p:spPr>
            <a:xfrm>
              <a:off x="311696" y="2286000"/>
              <a:ext cx="4143300" cy="2190900"/>
            </a:xfrm>
            <a:prstGeom prst="roundRect">
              <a:avLst>
                <a:gd name="adj" fmla="val 3478"/>
              </a:avLst>
            </a:prstGeom>
            <a:solidFill>
              <a:srgbClr val="EFF6FF"/>
            </a:solidFill>
            <a:ln w="9525" cap="flat" cmpd="sng">
              <a:solidFill>
                <a:srgbClr val="DBEA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</p:txBody>
        </p:sp>
        <p:sp>
          <p:nvSpPr>
            <p:cNvPr id="151" name="Google Shape;151;p19"/>
            <p:cNvSpPr txBox="1"/>
            <p:nvPr/>
          </p:nvSpPr>
          <p:spPr>
            <a:xfrm>
              <a:off x="502196" y="2428875"/>
              <a:ext cx="37623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800">
                  <a:solidFill>
                    <a:srgbClr val="1E40AF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왜 그럴까?</a:t>
              </a:r>
              <a:endParaRPr sz="1800">
                <a:solidFill>
                  <a:srgbClr val="1E40AF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ko" sz="1500" b="1">
                  <a:solidFill>
                    <a:srgbClr val="3B82F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Git 브랜치 이름은 내부적으로 '경로'처럼 작동</a:t>
              </a:r>
              <a:endParaRPr sz="1500" b="1">
                <a:solidFill>
                  <a:srgbClr val="3B82F6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-304800" algn="l" rtl="0">
                <a:lnSpc>
                  <a:spcPct val="15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1D4ED8"/>
                </a:buClr>
                <a:buSzPts val="1200"/>
                <a:buFont typeface="NanumGothicExtraBold"/>
                <a:buChar char="●"/>
              </a:pPr>
              <a:r>
                <a:rPr lang="ko" sz="1200">
                  <a:solidFill>
                    <a:srgbClr val="1D4ED8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refs/heads/dev (파일 형태)</a:t>
              </a:r>
              <a:endParaRPr sz="1200">
                <a:solidFill>
                  <a:srgbClr val="1D4ED8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457200" lvl="0" indent="-304800" algn="l" rtl="0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D4ED8"/>
                </a:buClr>
                <a:buSzPts val="1200"/>
                <a:buFont typeface="NanumGothicExtraBold"/>
                <a:buChar char="●"/>
              </a:pPr>
              <a:r>
                <a:rPr lang="ko" sz="1200">
                  <a:solidFill>
                    <a:srgbClr val="1D4ED8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refs/heads/dev/다애 (디렉토리 내 파일)</a:t>
              </a:r>
              <a:endParaRPr sz="12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ko" sz="10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dev라는 이름을 파일과 디렉토리로 동시에 사용할 수 없기 때문에 Git이 허용하지 않는다</a:t>
              </a:r>
              <a:endParaRPr sz="10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152" name="Google Shape;152;p19"/>
          <p:cNvGrpSpPr/>
          <p:nvPr/>
        </p:nvGrpSpPr>
        <p:grpSpPr>
          <a:xfrm>
            <a:off x="4688919" y="2393263"/>
            <a:ext cx="4143300" cy="2190900"/>
            <a:chOff x="4688919" y="2286000"/>
            <a:chExt cx="4143300" cy="2190900"/>
          </a:xfrm>
        </p:grpSpPr>
        <p:sp>
          <p:nvSpPr>
            <p:cNvPr id="153" name="Google Shape;153;p19"/>
            <p:cNvSpPr/>
            <p:nvPr/>
          </p:nvSpPr>
          <p:spPr>
            <a:xfrm>
              <a:off x="4688919" y="2286000"/>
              <a:ext cx="4143300" cy="2190900"/>
            </a:xfrm>
            <a:prstGeom prst="roundRect">
              <a:avLst>
                <a:gd name="adj" fmla="val 3478"/>
              </a:avLst>
            </a:prstGeom>
            <a:solidFill>
              <a:srgbClr val="F0FDF4"/>
            </a:solidFill>
            <a:ln w="9525" cap="flat" cmpd="sng">
              <a:solidFill>
                <a:srgbClr val="DCFCE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</p:txBody>
        </p:sp>
        <p:sp>
          <p:nvSpPr>
            <p:cNvPr id="154" name="Google Shape;154;p19"/>
            <p:cNvSpPr txBox="1"/>
            <p:nvPr/>
          </p:nvSpPr>
          <p:spPr>
            <a:xfrm>
              <a:off x="4879419" y="2428875"/>
              <a:ext cx="37623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800">
                  <a:solidFill>
                    <a:srgbClr val="166534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해결 방안</a:t>
              </a:r>
              <a:endParaRPr sz="1800">
                <a:solidFill>
                  <a:srgbClr val="166534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ko" sz="1500" b="1">
                  <a:solidFill>
                    <a:srgbClr val="16A34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네이밍 규칙 변경</a:t>
              </a:r>
              <a:endParaRPr sz="1500" b="1">
                <a:solidFill>
                  <a:srgbClr val="16A34A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16A34A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endParaRPr sz="1100">
                <a:solidFill>
                  <a:srgbClr val="475569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br>
                <a:rPr lang="ko" sz="11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</a:br>
              <a:r>
                <a:rPr lang="ko" sz="10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계층 구조가 아닌 평면적 네이밍 규칙 적용</a:t>
              </a:r>
              <a:endParaRPr sz="10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sp>
        <p:nvSpPr>
          <p:cNvPr id="155" name="Google Shape;155;p19"/>
          <p:cNvSpPr txBox="1"/>
          <p:nvPr/>
        </p:nvSpPr>
        <p:spPr>
          <a:xfrm>
            <a:off x="5174769" y="3357063"/>
            <a:ext cx="3171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900"/>
              </a:spcAft>
              <a:buNone/>
            </a:pPr>
            <a:r>
              <a:rPr lang="ko" sz="1600">
                <a:solidFill>
                  <a:srgbClr val="16A34A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dev 브랜치 </a:t>
            </a:r>
            <a:r>
              <a:rPr lang="ko" sz="1600">
                <a:solidFill>
                  <a:srgbClr val="166534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+</a:t>
            </a:r>
            <a:r>
              <a:rPr lang="ko" sz="1600">
                <a:solidFill>
                  <a:srgbClr val="86EFAC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 </a:t>
            </a:r>
            <a:r>
              <a:rPr lang="ko" sz="1600">
                <a:solidFill>
                  <a:srgbClr val="16A34A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dev-{이름} 브랜치</a:t>
            </a:r>
            <a:endParaRPr sz="1600"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>
            <a:spLocks noGrp="1"/>
          </p:cNvSpPr>
          <p:nvPr>
            <p:ph type="ctrTitle" idx="4294967295"/>
          </p:nvPr>
        </p:nvSpPr>
        <p:spPr>
          <a:xfrm>
            <a:off x="311700" y="15454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600">
                <a:latin typeface="NanumGothicExtraBold"/>
                <a:ea typeface="NanumGothicExtraBold"/>
                <a:cs typeface="NanumGothicExtraBold"/>
                <a:sym typeface="NanumGothicExtraBold"/>
              </a:rPr>
              <a:t>judy - 주호석</a:t>
            </a:r>
            <a:endParaRPr sz="3600"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21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66" name="Google Shape;166;p21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1"/>
            <p:cNvSpPr txBox="1"/>
            <p:nvPr/>
          </p:nvSpPr>
          <p:spPr>
            <a:xfrm>
              <a:off x="381000" y="190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400">
                  <a:solidFill>
                    <a:srgbClr val="0F172A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깃허브 전략 실패 분석</a:t>
              </a:r>
              <a:endParaRPr sz="2400">
                <a:solidFill>
                  <a:srgbClr val="0F172A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</p:txBody>
        </p:sp>
        <p:sp>
          <p:nvSpPr>
            <p:cNvPr id="168" name="Google Shape;168;p21"/>
            <p:cNvSpPr/>
            <p:nvPr/>
          </p:nvSpPr>
          <p:spPr>
            <a:xfrm>
              <a:off x="381000" y="619125"/>
              <a:ext cx="571500" cy="3810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9" name="Google Shape;169;p21"/>
          <p:cNvPicPr preferRelativeResize="0"/>
          <p:nvPr/>
        </p:nvPicPr>
        <p:blipFill rotWithShape="1">
          <a:blip r:embed="rId4">
            <a:alphaModFix/>
          </a:blip>
          <a:srcRect t="6814" b="6823"/>
          <a:stretch/>
        </p:blipFill>
        <p:spPr>
          <a:xfrm>
            <a:off x="4572000" y="1143000"/>
            <a:ext cx="4191000" cy="361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21"/>
          <p:cNvGrpSpPr/>
          <p:nvPr/>
        </p:nvGrpSpPr>
        <p:grpSpPr>
          <a:xfrm>
            <a:off x="381000" y="1143000"/>
            <a:ext cx="3810000" cy="3619500"/>
            <a:chOff x="381000" y="1143000"/>
            <a:chExt cx="3810000" cy="3619500"/>
          </a:xfrm>
        </p:grpSpPr>
        <p:sp>
          <p:nvSpPr>
            <p:cNvPr id="171" name="Google Shape;171;p21"/>
            <p:cNvSpPr/>
            <p:nvPr/>
          </p:nvSpPr>
          <p:spPr>
            <a:xfrm>
              <a:off x="381000" y="1143000"/>
              <a:ext cx="3810000" cy="3619500"/>
            </a:xfrm>
            <a:prstGeom prst="roundRect">
              <a:avLst>
                <a:gd name="adj" fmla="val 315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1"/>
            <p:cNvSpPr txBox="1"/>
            <p:nvPr/>
          </p:nvSpPr>
          <p:spPr>
            <a:xfrm>
              <a:off x="619125" y="1381125"/>
              <a:ext cx="33339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105" b="1" dirty="0">
                  <a:solidFill>
                    <a:srgbClr val="EF4444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초기 브랜치 전략 계획</a:t>
              </a:r>
              <a:endParaRPr sz="1105" b="1" dirty="0">
                <a:solidFill>
                  <a:srgbClr val="EF4444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ko" sz="1105" dirty="0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우리가 처음에 깃브랜치를 사용하려고 했던 구조:</a:t>
              </a:r>
              <a:endParaRPr sz="1105" dirty="0">
                <a:solidFill>
                  <a:srgbClr val="334155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ko" sz="1105" dirty="0">
                  <a:solidFill>
                    <a:srgbClr val="334155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main | dev | dev-1 | dev-2 | dev-3 | dev-4 | hotfix </a:t>
              </a:r>
              <a:endParaRPr sz="1105" dirty="0">
                <a:solidFill>
                  <a:srgbClr val="334155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ko" sz="1105" b="1" dirty="0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의도된 워크플로우:</a:t>
              </a:r>
              <a:endParaRPr sz="1105" b="1" dirty="0">
                <a:solidFill>
                  <a:srgbClr val="1E293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-298768" algn="l" rtl="0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105"/>
                <a:buFont typeface="Nanum Gothic"/>
                <a:buChar char="●"/>
              </a:pPr>
              <a:r>
                <a:rPr lang="ko" sz="1105" dirty="0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각 개발용 브랜치(dev 1~4)에서 개별 작업 진행</a:t>
              </a:r>
              <a:endParaRPr sz="1105" dirty="0">
                <a:solidFill>
                  <a:srgbClr val="334155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-298768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05"/>
                <a:buFont typeface="Nanum Gothic"/>
                <a:buChar char="●"/>
              </a:pPr>
              <a:r>
                <a:rPr lang="ko" sz="1105" dirty="0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작업 완료 후 각각의 Pull Request(PR) 생성 (총 4개)</a:t>
              </a:r>
              <a:endParaRPr sz="1105" dirty="0">
                <a:solidFill>
                  <a:srgbClr val="334155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-298768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05"/>
                <a:buFont typeface="Arial"/>
                <a:buChar char="●"/>
              </a:pPr>
              <a:r>
                <a:rPr lang="ko" sz="1105" dirty="0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코드 검토 완료 후 중앙 </a:t>
              </a:r>
              <a:r>
                <a:rPr lang="ko" sz="1105" dirty="0">
                  <a:solidFill>
                    <a:srgbClr val="10B98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dev</a:t>
              </a:r>
              <a:r>
                <a:rPr lang="ko" sz="1105" dirty="0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 브랜치로 병합(Merge)</a:t>
              </a:r>
              <a:endParaRPr sz="1105" dirty="0">
                <a:solidFill>
                  <a:srgbClr val="334155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-298768" algn="l" rtl="0">
                <a:spcBef>
                  <a:spcPts val="900"/>
                </a:spcBef>
                <a:spcAft>
                  <a:spcPts val="900"/>
                </a:spcAft>
                <a:buClr>
                  <a:srgbClr val="334155"/>
                </a:buClr>
                <a:buSzPts val="1105"/>
                <a:buFont typeface="Nanum Gothic"/>
                <a:buChar char="●"/>
              </a:pPr>
              <a:r>
                <a:rPr lang="ko" sz="1105" dirty="0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버그 발생시 hotfix 브랜치 생성후 해결후에 main에 pr, 삭제</a:t>
              </a:r>
              <a:endParaRPr sz="1105" dirty="0">
                <a:solidFill>
                  <a:srgbClr val="334155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22"/>
          <p:cNvGrpSpPr/>
          <p:nvPr/>
        </p:nvGrpSpPr>
        <p:grpSpPr>
          <a:xfrm>
            <a:off x="0" y="0"/>
            <a:ext cx="9144000" cy="952500"/>
            <a:chOff x="0" y="0"/>
            <a:chExt cx="9144000" cy="952500"/>
          </a:xfrm>
        </p:grpSpPr>
        <p:sp>
          <p:nvSpPr>
            <p:cNvPr id="178" name="Google Shape;178;p22"/>
            <p:cNvSpPr/>
            <p:nvPr/>
          </p:nvSpPr>
          <p:spPr>
            <a:xfrm>
              <a:off x="0" y="0"/>
              <a:ext cx="9144000" cy="952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2"/>
            <p:cNvSpPr txBox="1"/>
            <p:nvPr/>
          </p:nvSpPr>
          <p:spPr>
            <a:xfrm>
              <a:off x="381000" y="238125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960">
                  <a:solidFill>
                    <a:srgbClr val="1E293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깃허브 전략 실패 분석</a:t>
              </a:r>
              <a:endParaRPr sz="2960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</p:txBody>
        </p:sp>
        <p:sp>
          <p:nvSpPr>
            <p:cNvPr id="180" name="Google Shape;180;p22"/>
            <p:cNvSpPr/>
            <p:nvPr/>
          </p:nvSpPr>
          <p:spPr>
            <a:xfrm>
              <a:off x="381000" y="762000"/>
              <a:ext cx="571500" cy="3810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" name="Google Shape;181;p22"/>
          <p:cNvGrpSpPr/>
          <p:nvPr/>
        </p:nvGrpSpPr>
        <p:grpSpPr>
          <a:xfrm>
            <a:off x="381000" y="1238250"/>
            <a:ext cx="5334000" cy="3524400"/>
            <a:chOff x="381000" y="1238250"/>
            <a:chExt cx="5334000" cy="3524400"/>
          </a:xfrm>
        </p:grpSpPr>
        <p:sp>
          <p:nvSpPr>
            <p:cNvPr id="182" name="Google Shape;182;p22"/>
            <p:cNvSpPr/>
            <p:nvPr/>
          </p:nvSpPr>
          <p:spPr>
            <a:xfrm>
              <a:off x="381000" y="1238250"/>
              <a:ext cx="5334000" cy="352440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3" name="Google Shape;183;p22"/>
            <p:cNvPicPr preferRelativeResize="0"/>
            <p:nvPr/>
          </p:nvPicPr>
          <p:blipFill rotWithShape="1">
            <a:blip r:embed="rId4">
              <a:alphaModFix/>
            </a:blip>
            <a:srcRect t="3131" b="3122"/>
            <a:stretch/>
          </p:blipFill>
          <p:spPr>
            <a:xfrm>
              <a:off x="571500" y="1428750"/>
              <a:ext cx="4953000" cy="3143400"/>
            </a:xfrm>
            <a:prstGeom prst="roundRect">
              <a:avLst>
                <a:gd name="adj" fmla="val 3636"/>
              </a:avLst>
            </a:prstGeom>
            <a:noFill/>
            <a:ln>
              <a:noFill/>
            </a:ln>
          </p:spPr>
        </p:pic>
        <p:sp>
          <p:nvSpPr>
            <p:cNvPr id="184" name="Google Shape;184;p22"/>
            <p:cNvSpPr/>
            <p:nvPr/>
          </p:nvSpPr>
          <p:spPr>
            <a:xfrm>
              <a:off x="571500" y="1428750"/>
              <a:ext cx="4953000" cy="3143400"/>
            </a:xfrm>
            <a:prstGeom prst="roundRect">
              <a:avLst>
                <a:gd name="adj" fmla="val 3636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F1F5F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" name="Google Shape;185;p22"/>
          <p:cNvGrpSpPr/>
          <p:nvPr/>
        </p:nvGrpSpPr>
        <p:grpSpPr>
          <a:xfrm>
            <a:off x="5905500" y="1238250"/>
            <a:ext cx="2857500" cy="3524400"/>
            <a:chOff x="5905500" y="1238250"/>
            <a:chExt cx="2857500" cy="3524400"/>
          </a:xfrm>
        </p:grpSpPr>
        <p:sp>
          <p:nvSpPr>
            <p:cNvPr id="186" name="Google Shape;186;p22"/>
            <p:cNvSpPr/>
            <p:nvPr/>
          </p:nvSpPr>
          <p:spPr>
            <a:xfrm>
              <a:off x="5905500" y="1238250"/>
              <a:ext cx="2857500" cy="35244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2"/>
            <p:cNvSpPr txBox="1"/>
            <p:nvPr/>
          </p:nvSpPr>
          <p:spPr>
            <a:xfrm>
              <a:off x="6096000" y="1428750"/>
              <a:ext cx="24765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80" b="1">
                  <a:solidFill>
                    <a:srgbClr val="EF4444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문제 상황 발생</a:t>
              </a:r>
              <a:endParaRPr sz="1480" b="1">
                <a:solidFill>
                  <a:srgbClr val="EF4444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ko" sz="1295" b="1">
                  <a:solidFill>
                    <a:srgbClr val="EF4444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01</a:t>
              </a:r>
              <a:endParaRPr sz="1295" b="1"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ko" sz="1203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dev-A의 변경 내역을 dev-B가 직접 pull 받아옴</a:t>
              </a:r>
              <a:endParaRPr sz="1203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ko" sz="1295" b="1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02</a:t>
              </a:r>
              <a:endParaRPr sz="1295" b="1"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ko" sz="1203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이후 단계에서 히스토리 꼬임 발생 위험</a:t>
              </a:r>
              <a:endParaRPr sz="1203">
                <a:solidFill>
                  <a:srgbClr val="94A3B8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800"/>
                </a:spcBef>
                <a:spcAft>
                  <a:spcPts val="0"/>
                </a:spcAft>
                <a:buNone/>
              </a:pPr>
              <a:endParaRPr sz="925">
                <a:solidFill>
                  <a:srgbClr val="DC2626"/>
                </a:solidFill>
                <a:highlight>
                  <a:srgbClr val="FEF2F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3"/>
          <p:cNvGrpSpPr/>
          <p:nvPr/>
        </p:nvGrpSpPr>
        <p:grpSpPr>
          <a:xfrm>
            <a:off x="0" y="0"/>
            <a:ext cx="9144000" cy="952500"/>
            <a:chOff x="0" y="0"/>
            <a:chExt cx="9144000" cy="952500"/>
          </a:xfrm>
        </p:grpSpPr>
        <p:sp>
          <p:nvSpPr>
            <p:cNvPr id="193" name="Google Shape;193;p23"/>
            <p:cNvSpPr/>
            <p:nvPr/>
          </p:nvSpPr>
          <p:spPr>
            <a:xfrm>
              <a:off x="0" y="0"/>
              <a:ext cx="9144000" cy="952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3"/>
            <p:cNvSpPr txBox="1"/>
            <p:nvPr/>
          </p:nvSpPr>
          <p:spPr>
            <a:xfrm>
              <a:off x="381000" y="238125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3000">
                  <a:solidFill>
                    <a:srgbClr val="1E293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깃허브 전략 실패 분석</a:t>
              </a:r>
              <a:endParaRPr sz="3000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</p:txBody>
        </p:sp>
        <p:sp>
          <p:nvSpPr>
            <p:cNvPr id="195" name="Google Shape;195;p23"/>
            <p:cNvSpPr/>
            <p:nvPr/>
          </p:nvSpPr>
          <p:spPr>
            <a:xfrm>
              <a:off x="381000" y="762000"/>
              <a:ext cx="571500" cy="3810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" name="Google Shape;196;p23"/>
          <p:cNvGrpSpPr/>
          <p:nvPr/>
        </p:nvGrpSpPr>
        <p:grpSpPr>
          <a:xfrm>
            <a:off x="381000" y="1238250"/>
            <a:ext cx="5334000" cy="3524400"/>
            <a:chOff x="381000" y="1238250"/>
            <a:chExt cx="5334000" cy="3524400"/>
          </a:xfrm>
        </p:grpSpPr>
        <p:sp>
          <p:nvSpPr>
            <p:cNvPr id="197" name="Google Shape;197;p23"/>
            <p:cNvSpPr/>
            <p:nvPr/>
          </p:nvSpPr>
          <p:spPr>
            <a:xfrm>
              <a:off x="381000" y="1238250"/>
              <a:ext cx="5334000" cy="352440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8" name="Google Shape;198;p23"/>
            <p:cNvPicPr preferRelativeResize="0"/>
            <p:nvPr/>
          </p:nvPicPr>
          <p:blipFill rotWithShape="1">
            <a:blip r:embed="rId4">
              <a:alphaModFix/>
            </a:blip>
            <a:srcRect t="1886" b="1886"/>
            <a:stretch/>
          </p:blipFill>
          <p:spPr>
            <a:xfrm>
              <a:off x="571500" y="1428750"/>
              <a:ext cx="4953000" cy="3143400"/>
            </a:xfrm>
            <a:prstGeom prst="roundRect">
              <a:avLst>
                <a:gd name="adj" fmla="val 3636"/>
              </a:avLst>
            </a:prstGeom>
            <a:noFill/>
            <a:ln>
              <a:noFill/>
            </a:ln>
          </p:spPr>
        </p:pic>
      </p:grpSp>
      <p:grpSp>
        <p:nvGrpSpPr>
          <p:cNvPr id="199" name="Google Shape;199;p23"/>
          <p:cNvGrpSpPr/>
          <p:nvPr/>
        </p:nvGrpSpPr>
        <p:grpSpPr>
          <a:xfrm>
            <a:off x="5905500" y="1238250"/>
            <a:ext cx="2857500" cy="3524400"/>
            <a:chOff x="5905500" y="1238250"/>
            <a:chExt cx="2857500" cy="3524400"/>
          </a:xfrm>
        </p:grpSpPr>
        <p:sp>
          <p:nvSpPr>
            <p:cNvPr id="200" name="Google Shape;200;p23"/>
            <p:cNvSpPr/>
            <p:nvPr/>
          </p:nvSpPr>
          <p:spPr>
            <a:xfrm>
              <a:off x="5905500" y="1238250"/>
              <a:ext cx="2857500" cy="35244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3"/>
            <p:cNvSpPr txBox="1"/>
            <p:nvPr/>
          </p:nvSpPr>
          <p:spPr>
            <a:xfrm>
              <a:off x="6096000" y="1428750"/>
              <a:ext cx="24765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500" b="1">
                  <a:solidFill>
                    <a:srgbClr val="EF4444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단계별 상황 분석</a:t>
              </a:r>
              <a:endParaRPr sz="1500" b="1">
                <a:solidFill>
                  <a:srgbClr val="EF4444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ko" sz="1300" b="1">
                  <a:solidFill>
                    <a:srgbClr val="EF4444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02</a:t>
              </a:r>
              <a:endParaRPr sz="1300" b="1">
                <a:solidFill>
                  <a:srgbClr val="EF4444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dev-B가 dev 브랜치로 Pull Request를 생성함</a:t>
              </a:r>
              <a:endParaRPr sz="1200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endParaRPr sz="900" b="0">
                <a:solidFill>
                  <a:srgbClr val="DC2626"/>
                </a:solidFill>
                <a:highlight>
                  <a:srgbClr val="FEF2F2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>
                <a:solidFill>
                  <a:srgbClr val="1E293B"/>
                </a:solidFill>
              </a:rPr>
              <a:t>깃허브 전략 실패 분석</a:t>
            </a:r>
            <a:endParaRPr sz="3000">
              <a:solidFill>
                <a:srgbClr val="1E293B"/>
              </a:solidFill>
            </a:endParaRPr>
          </a:p>
        </p:txBody>
      </p:sp>
      <p:sp>
        <p:nvSpPr>
          <p:cNvPr id="208" name="Google Shape;208;p24"/>
          <p:cNvSpPr/>
          <p:nvPr/>
        </p:nvSpPr>
        <p:spPr>
          <a:xfrm>
            <a:off x="381000" y="7620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" name="Google Shape;209;p24"/>
          <p:cNvGrpSpPr/>
          <p:nvPr/>
        </p:nvGrpSpPr>
        <p:grpSpPr>
          <a:xfrm>
            <a:off x="381000" y="1238250"/>
            <a:ext cx="5334000" cy="3524400"/>
            <a:chOff x="381000" y="1238250"/>
            <a:chExt cx="5334000" cy="3524400"/>
          </a:xfrm>
        </p:grpSpPr>
        <p:sp>
          <p:nvSpPr>
            <p:cNvPr id="210" name="Google Shape;210;p24"/>
            <p:cNvSpPr/>
            <p:nvPr/>
          </p:nvSpPr>
          <p:spPr>
            <a:xfrm>
              <a:off x="381000" y="1238250"/>
              <a:ext cx="5334000" cy="352440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1" name="Google Shape;211;p24"/>
            <p:cNvPicPr preferRelativeResize="0"/>
            <p:nvPr/>
          </p:nvPicPr>
          <p:blipFill rotWithShape="1">
            <a:blip r:embed="rId4">
              <a:alphaModFix/>
            </a:blip>
            <a:srcRect t="3096" b="3096"/>
            <a:stretch/>
          </p:blipFill>
          <p:spPr>
            <a:xfrm>
              <a:off x="571500" y="1428750"/>
              <a:ext cx="4953000" cy="3143400"/>
            </a:xfrm>
            <a:prstGeom prst="roundRect">
              <a:avLst>
                <a:gd name="adj" fmla="val 3636"/>
              </a:avLst>
            </a:prstGeom>
            <a:noFill/>
            <a:ln>
              <a:noFill/>
            </a:ln>
          </p:spPr>
        </p:pic>
      </p:grpSp>
      <p:grpSp>
        <p:nvGrpSpPr>
          <p:cNvPr id="212" name="Google Shape;212;p24"/>
          <p:cNvGrpSpPr/>
          <p:nvPr/>
        </p:nvGrpSpPr>
        <p:grpSpPr>
          <a:xfrm>
            <a:off x="5905500" y="1238250"/>
            <a:ext cx="2857500" cy="3524400"/>
            <a:chOff x="5905500" y="1238250"/>
            <a:chExt cx="2857500" cy="3524400"/>
          </a:xfrm>
        </p:grpSpPr>
        <p:sp>
          <p:nvSpPr>
            <p:cNvPr id="213" name="Google Shape;213;p24"/>
            <p:cNvSpPr/>
            <p:nvPr/>
          </p:nvSpPr>
          <p:spPr>
            <a:xfrm>
              <a:off x="5905500" y="1238250"/>
              <a:ext cx="2857500" cy="35244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4"/>
            <p:cNvSpPr txBox="1"/>
            <p:nvPr/>
          </p:nvSpPr>
          <p:spPr>
            <a:xfrm>
              <a:off x="6096000" y="1428750"/>
              <a:ext cx="24765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500" b="1">
                  <a:solidFill>
                    <a:srgbClr val="EF4444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단계별 상황 분석</a:t>
              </a:r>
              <a:endParaRPr sz="1500" b="1">
                <a:solidFill>
                  <a:srgbClr val="EF4444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ko" sz="1300" b="1">
                  <a:solidFill>
                    <a:srgbClr val="EF4444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03</a:t>
              </a:r>
              <a:endParaRPr sz="1300" b="1">
                <a:solidFill>
                  <a:srgbClr val="EF4444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dev-B의 변경 내역을 dev-D가 직접 pull 받아옴</a:t>
              </a:r>
              <a:endParaRPr sz="1200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2500"/>
                </a:spcBef>
                <a:spcAft>
                  <a:spcPts val="0"/>
                </a:spcAft>
                <a:buNone/>
              </a:pPr>
              <a:r>
                <a:rPr lang="ko" sz="1000" b="1">
                  <a:solidFill>
                    <a:srgbClr val="B91C1C"/>
                  </a:solidFill>
                  <a:highlight>
                    <a:srgbClr val="FEF2F2"/>
                  </a:highlight>
                  <a:latin typeface="Nanum Gothic"/>
                  <a:ea typeface="Nanum Gothic"/>
                  <a:cs typeface="Nanum Gothic"/>
                  <a:sym typeface="Nanum Gothic"/>
                </a:rPr>
                <a:t>현재 상태:</a:t>
              </a:r>
              <a:endParaRPr sz="1000" b="1">
                <a:solidFill>
                  <a:srgbClr val="EF4444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ko" sz="950">
                  <a:solidFill>
                    <a:srgbClr val="DC2626"/>
                  </a:solidFill>
                  <a:highlight>
                    <a:srgbClr val="FEF2F2"/>
                  </a:highlight>
                  <a:latin typeface="Nanum Gothic"/>
                  <a:ea typeface="Nanum Gothic"/>
                  <a:cs typeface="Nanum Gothic"/>
                  <a:sym typeface="Nanum Gothic"/>
                </a:rPr>
                <a:t>dev-B의 작업물이 dev-D로 전이되는 과정에서 브랜치 간 격리가 완전히 무너지는 결정적인 오염 단계입니다.</a:t>
              </a:r>
              <a:endParaRPr sz="950">
                <a:solidFill>
                  <a:srgbClr val="DC2626"/>
                </a:solidFill>
                <a:highlight>
                  <a:srgbClr val="FEF2F2"/>
                </a:highlight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5"/>
          <p:cNvSpPr txBox="1">
            <a:spLocks noGrp="1"/>
          </p:cNvSpPr>
          <p:nvPr>
            <p:ph type="title"/>
          </p:nvPr>
        </p:nvSpPr>
        <p:spPr>
          <a:xfrm>
            <a:off x="381000" y="19050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깃허브 전략 실패 분석</a:t>
            </a:r>
            <a:endParaRPr sz="3000" b="1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381000" y="7620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25"/>
          <p:cNvGrpSpPr/>
          <p:nvPr/>
        </p:nvGrpSpPr>
        <p:grpSpPr>
          <a:xfrm>
            <a:off x="381000" y="1238250"/>
            <a:ext cx="5334000" cy="3524400"/>
            <a:chOff x="381000" y="1238250"/>
            <a:chExt cx="5334000" cy="3524400"/>
          </a:xfrm>
        </p:grpSpPr>
        <p:sp>
          <p:nvSpPr>
            <p:cNvPr id="223" name="Google Shape;223;p25"/>
            <p:cNvSpPr/>
            <p:nvPr/>
          </p:nvSpPr>
          <p:spPr>
            <a:xfrm>
              <a:off x="381000" y="1238250"/>
              <a:ext cx="5334000" cy="352440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4" name="Google Shape;224;p25"/>
            <p:cNvPicPr preferRelativeResize="0"/>
            <p:nvPr/>
          </p:nvPicPr>
          <p:blipFill rotWithShape="1">
            <a:blip r:embed="rId4">
              <a:alphaModFix/>
            </a:blip>
            <a:srcRect l="2517" r="2517" b="4352"/>
            <a:stretch/>
          </p:blipFill>
          <p:spPr>
            <a:xfrm>
              <a:off x="571500" y="1357313"/>
              <a:ext cx="4953000" cy="3143400"/>
            </a:xfrm>
            <a:prstGeom prst="roundRect">
              <a:avLst>
                <a:gd name="adj" fmla="val 3636"/>
              </a:avLst>
            </a:prstGeom>
            <a:noFill/>
            <a:ln>
              <a:noFill/>
            </a:ln>
          </p:spPr>
        </p:pic>
      </p:grpSp>
      <p:grpSp>
        <p:nvGrpSpPr>
          <p:cNvPr id="225" name="Google Shape;225;p25"/>
          <p:cNvGrpSpPr/>
          <p:nvPr/>
        </p:nvGrpSpPr>
        <p:grpSpPr>
          <a:xfrm>
            <a:off x="5905500" y="1238250"/>
            <a:ext cx="2857500" cy="3524400"/>
            <a:chOff x="5905500" y="1238250"/>
            <a:chExt cx="2857500" cy="3524400"/>
          </a:xfrm>
        </p:grpSpPr>
        <p:sp>
          <p:nvSpPr>
            <p:cNvPr id="226" name="Google Shape;226;p25"/>
            <p:cNvSpPr/>
            <p:nvPr/>
          </p:nvSpPr>
          <p:spPr>
            <a:xfrm>
              <a:off x="5905500" y="1238250"/>
              <a:ext cx="2857500" cy="352440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5"/>
            <p:cNvSpPr txBox="1"/>
            <p:nvPr/>
          </p:nvSpPr>
          <p:spPr>
            <a:xfrm>
              <a:off x="6096000" y="1428750"/>
              <a:ext cx="24765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500" b="1">
                  <a:solidFill>
                    <a:srgbClr val="EF4444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단계별 상황 분석</a:t>
              </a:r>
              <a:endParaRPr sz="1500" b="1">
                <a:solidFill>
                  <a:srgbClr val="EF4444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ko" sz="1300" b="1">
                  <a:solidFill>
                    <a:srgbClr val="EF4444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04</a:t>
              </a:r>
              <a:endParaRPr sz="1300" b="1">
                <a:solidFill>
                  <a:srgbClr val="EF4444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dev-D가 PR &amp; Merge를 완료함</a:t>
              </a:r>
              <a:endParaRPr sz="1200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2500"/>
                </a:spcBef>
                <a:spcAft>
                  <a:spcPts val="0"/>
                </a:spcAft>
                <a:buNone/>
              </a:pPr>
              <a:r>
                <a:rPr lang="ko" sz="1000" b="1">
                  <a:solidFill>
                    <a:srgbClr val="B91C1C"/>
                  </a:solidFill>
                  <a:highlight>
                    <a:srgbClr val="FEF2F2"/>
                  </a:highlight>
                  <a:latin typeface="Nanum Gothic"/>
                  <a:ea typeface="Nanum Gothic"/>
                  <a:cs typeface="Nanum Gothic"/>
                  <a:sym typeface="Nanum Gothic"/>
                </a:rPr>
                <a:t>현재 상태:</a:t>
              </a:r>
              <a:endParaRPr sz="1000" b="1">
                <a:solidFill>
                  <a:srgbClr val="B91C1C"/>
                </a:solidFill>
                <a:highlight>
                  <a:srgbClr val="FEF2F2"/>
                </a:highlight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ko" sz="950">
                  <a:solidFill>
                    <a:srgbClr val="DC2626"/>
                  </a:solidFill>
                  <a:highlight>
                    <a:srgbClr val="FEF2F2"/>
                  </a:highlight>
                  <a:latin typeface="Nanum Gothic"/>
                  <a:ea typeface="Nanum Gothic"/>
                  <a:cs typeface="Nanum Gothic"/>
                  <a:sym typeface="Nanum Gothic"/>
                </a:rPr>
                <a:t>오염된 커밋 내역(A, B의 작업물)이 최종적으로 메인 개발 브랜치에 병합되어 전체 프로젝트의 형상 관리가 훼손된 상태입니다.</a:t>
              </a:r>
              <a:endParaRPr sz="950">
                <a:solidFill>
                  <a:srgbClr val="DC2626"/>
                </a:solidFill>
                <a:highlight>
                  <a:srgbClr val="FEF2F2"/>
                </a:highlight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26"/>
          <p:cNvGrpSpPr/>
          <p:nvPr/>
        </p:nvGrpSpPr>
        <p:grpSpPr>
          <a:xfrm>
            <a:off x="381000" y="381000"/>
            <a:ext cx="8382000" cy="762000"/>
            <a:chOff x="381000" y="381000"/>
            <a:chExt cx="8382000" cy="762000"/>
          </a:xfrm>
        </p:grpSpPr>
        <p:sp>
          <p:nvSpPr>
            <p:cNvPr id="233" name="Google Shape;233;p26"/>
            <p:cNvSpPr/>
            <p:nvPr/>
          </p:nvSpPr>
          <p:spPr>
            <a:xfrm>
              <a:off x="381000" y="381000"/>
              <a:ext cx="83820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6"/>
            <p:cNvSpPr txBox="1"/>
            <p:nvPr/>
          </p:nvSpPr>
          <p:spPr>
            <a:xfrm>
              <a:off x="381000" y="38100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575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3200">
                  <a:solidFill>
                    <a:srgbClr val="1E293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깃허브 전략 실패</a:t>
              </a:r>
              <a:endParaRPr sz="3200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</p:txBody>
        </p:sp>
      </p:grpSp>
      <p:grpSp>
        <p:nvGrpSpPr>
          <p:cNvPr id="235" name="Google Shape;235;p26"/>
          <p:cNvGrpSpPr/>
          <p:nvPr/>
        </p:nvGrpSpPr>
        <p:grpSpPr>
          <a:xfrm>
            <a:off x="381000" y="1333510"/>
            <a:ext cx="4095900" cy="2382126"/>
            <a:chOff x="381000" y="1333500"/>
            <a:chExt cx="4095900" cy="3429000"/>
          </a:xfrm>
        </p:grpSpPr>
        <p:sp>
          <p:nvSpPr>
            <p:cNvPr id="236" name="Google Shape;236;p26"/>
            <p:cNvSpPr/>
            <p:nvPr/>
          </p:nvSpPr>
          <p:spPr>
            <a:xfrm>
              <a:off x="381000" y="1333500"/>
              <a:ext cx="4095900" cy="3429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381000" y="1333500"/>
              <a:ext cx="4095900" cy="476400"/>
            </a:xfrm>
            <a:prstGeom prst="roundRect">
              <a:avLst>
                <a:gd name="adj" fmla="val 24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6"/>
            <p:cNvSpPr txBox="1"/>
            <p:nvPr/>
          </p:nvSpPr>
          <p:spPr>
            <a:xfrm>
              <a:off x="381000" y="1333500"/>
              <a:ext cx="4095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6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발생한 문제</a:t>
              </a:r>
              <a:endParaRPr sz="16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239" name="Google Shape;239;p26"/>
            <p:cNvSpPr txBox="1"/>
            <p:nvPr/>
          </p:nvSpPr>
          <p:spPr>
            <a:xfrm>
              <a:off x="571500" y="2571750"/>
              <a:ext cx="3714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300" b="1">
                  <a:solidFill>
                    <a:srgbClr val="E11D4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1. pr 을 통한 코드리뷰가 제대로 이루어지지않음</a:t>
              </a:r>
              <a:endParaRPr sz="1300" b="1">
                <a:solidFill>
                  <a:srgbClr val="E11D48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endParaRPr sz="1300" b="1">
                <a:solidFill>
                  <a:srgbClr val="E11D48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ko" sz="1300" b="1">
                  <a:solidFill>
                    <a:srgbClr val="E11D4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2. 커밋기록 오염 </a:t>
              </a:r>
              <a:endParaRPr sz="1100" b="1">
                <a:solidFill>
                  <a:srgbClr val="64748B"/>
                </a:solidFill>
                <a:highlight>
                  <a:srgbClr val="F8FAFC"/>
                </a:highlight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endParaRPr sz="1300" b="1">
                <a:solidFill>
                  <a:srgbClr val="E11D48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75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300" b="1">
                <a:solidFill>
                  <a:srgbClr val="E11D48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240" name="Google Shape;240;p26"/>
          <p:cNvGrpSpPr/>
          <p:nvPr/>
        </p:nvGrpSpPr>
        <p:grpSpPr>
          <a:xfrm>
            <a:off x="4667250" y="1333500"/>
            <a:ext cx="4095900" cy="3429000"/>
            <a:chOff x="4667250" y="1333500"/>
            <a:chExt cx="4095900" cy="3429000"/>
          </a:xfrm>
        </p:grpSpPr>
        <p:sp>
          <p:nvSpPr>
            <p:cNvPr id="241" name="Google Shape;241;p26"/>
            <p:cNvSpPr/>
            <p:nvPr/>
          </p:nvSpPr>
          <p:spPr>
            <a:xfrm>
              <a:off x="4667250" y="1333500"/>
              <a:ext cx="4095900" cy="34290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4667250" y="1333500"/>
              <a:ext cx="4095900" cy="476400"/>
            </a:xfrm>
            <a:prstGeom prst="roundRect">
              <a:avLst>
                <a:gd name="adj" fmla="val 24000"/>
              </a:avLst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6"/>
            <p:cNvSpPr txBox="1"/>
            <p:nvPr/>
          </p:nvSpPr>
          <p:spPr>
            <a:xfrm>
              <a:off x="4667250" y="1333500"/>
              <a:ext cx="4095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600" b="1">
                  <a:solidFill>
                    <a:srgbClr val="2563E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대응 방안</a:t>
              </a:r>
              <a:endParaRPr sz="1600" b="1">
                <a:solidFill>
                  <a:srgbClr val="2563E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244" name="Google Shape;244;p26"/>
            <p:cNvSpPr txBox="1"/>
            <p:nvPr/>
          </p:nvSpPr>
          <p:spPr>
            <a:xfrm>
              <a:off x="4857750" y="2000250"/>
              <a:ext cx="37149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ko" sz="1400" b="1" dirty="0">
                <a:solidFill>
                  <a:srgbClr val="1E40AF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 b="1" dirty="0">
                  <a:solidFill>
                    <a:srgbClr val="1E40AF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Branch Protection Rule</a:t>
              </a:r>
              <a:endParaRPr sz="1400" b="1" dirty="0">
                <a:solidFill>
                  <a:srgbClr val="1E40AF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ko" sz="1200" dirty="0">
                  <a:solidFill>
                    <a:srgbClr val="64748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브랜치 보호 규칙 강화를 통한 직접 병합 및 오염 방지</a:t>
              </a:r>
              <a:endParaRPr sz="1200" dirty="0">
                <a:solidFill>
                  <a:srgbClr val="64748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ko" sz="1400" b="1" dirty="0">
                <a:solidFill>
                  <a:srgbClr val="166534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ko" sz="1400" b="1" dirty="0">
                <a:solidFill>
                  <a:srgbClr val="166534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 b="1" dirty="0">
                  <a:solidFill>
                    <a:srgbClr val="166534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GitHub Actions</a:t>
              </a:r>
              <a:endParaRPr sz="1400" b="1" dirty="0">
                <a:solidFill>
                  <a:srgbClr val="166534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ko" sz="1200" dirty="0">
                  <a:solidFill>
                    <a:srgbClr val="64748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CI 자동화를 통한 정합성 검증 및 빌드 체크</a:t>
              </a:r>
              <a:endParaRPr sz="1200" dirty="0">
                <a:solidFill>
                  <a:srgbClr val="64748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FFDCABBA-874B-2619-147F-A9BDBF83F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2000250"/>
            <a:ext cx="228645" cy="23537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17F7C9D-2D27-7F88-1F78-4B91D51C16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2855424"/>
            <a:ext cx="252182" cy="2353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7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250" name="Google Shape;250;p27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7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800">
                  <a:solidFill>
                    <a:srgbClr val="1E293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깃허브 전략 실패 및 대응</a:t>
              </a:r>
              <a:endParaRPr sz="2800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</p:txBody>
        </p:sp>
        <p:sp>
          <p:nvSpPr>
            <p:cNvPr id="252" name="Google Shape;252;p27"/>
            <p:cNvSpPr/>
            <p:nvPr/>
          </p:nvSpPr>
          <p:spPr>
            <a:xfrm>
              <a:off x="381000" y="619125"/>
              <a:ext cx="5715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" name="Google Shape;253;p27"/>
          <p:cNvGrpSpPr/>
          <p:nvPr/>
        </p:nvGrpSpPr>
        <p:grpSpPr>
          <a:xfrm>
            <a:off x="285750" y="1047750"/>
            <a:ext cx="4191000" cy="1714500"/>
            <a:chOff x="285750" y="1047750"/>
            <a:chExt cx="4191000" cy="1714500"/>
          </a:xfrm>
        </p:grpSpPr>
        <p:sp>
          <p:nvSpPr>
            <p:cNvPr id="254" name="Google Shape;254;p27"/>
            <p:cNvSpPr/>
            <p:nvPr/>
          </p:nvSpPr>
          <p:spPr>
            <a:xfrm>
              <a:off x="285750" y="1047750"/>
              <a:ext cx="41910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7"/>
            <p:cNvSpPr txBox="1"/>
            <p:nvPr/>
          </p:nvSpPr>
          <p:spPr>
            <a:xfrm>
              <a:off x="476250" y="1190625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 b="1">
                  <a:solidFill>
                    <a:srgbClr val="3B82F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01. CI 및 브랜치 보호 설정</a:t>
              </a:r>
              <a:endParaRPr sz="1400" b="1">
                <a:solidFill>
                  <a:srgbClr val="3B82F6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-298450" algn="l" rtl="0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Nanum Gothic"/>
                <a:buAutoNum type="arabicPeriod"/>
              </a:pPr>
              <a:r>
                <a:rPr lang="ko" sz="1100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GitHub Actions 파일 작성 (.github/workflows/ci.yml)</a:t>
              </a:r>
              <a:endParaRPr sz="1100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Nanum Gothic"/>
                <a:buAutoNum type="arabicPeriod"/>
              </a:pPr>
              <a:r>
                <a:rPr lang="ko" sz="1100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PR 생성 시 자동으로 build/test 실행 환경 구축</a:t>
              </a:r>
              <a:endParaRPr sz="1100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Nanum Gothic"/>
                <a:buAutoNum type="arabicPeriod"/>
              </a:pPr>
              <a:r>
                <a:rPr lang="ko" sz="1100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dev 브랜치에 대한 보호 규칙(Branch Protection) 적용</a:t>
              </a:r>
              <a:endParaRPr sz="1100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256" name="Google Shape;256;p27"/>
          <p:cNvGrpSpPr/>
          <p:nvPr/>
        </p:nvGrpSpPr>
        <p:grpSpPr>
          <a:xfrm>
            <a:off x="4667250" y="1047750"/>
            <a:ext cx="4191000" cy="1905000"/>
            <a:chOff x="4667250" y="1047750"/>
            <a:chExt cx="4191000" cy="1905000"/>
          </a:xfrm>
        </p:grpSpPr>
        <p:sp>
          <p:nvSpPr>
            <p:cNvPr id="257" name="Google Shape;257;p27"/>
            <p:cNvSpPr/>
            <p:nvPr/>
          </p:nvSpPr>
          <p:spPr>
            <a:xfrm>
              <a:off x="4667250" y="1047750"/>
              <a:ext cx="4191000" cy="190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7"/>
            <p:cNvSpPr txBox="1"/>
            <p:nvPr/>
          </p:nvSpPr>
          <p:spPr>
            <a:xfrm>
              <a:off x="4857750" y="1190625"/>
              <a:ext cx="38100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 b="1">
                  <a:solidFill>
                    <a:srgbClr val="10B98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02. 세부 보호 규칙</a:t>
              </a:r>
              <a:endParaRPr sz="1400" b="1">
                <a:solidFill>
                  <a:srgbClr val="10B98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-298450" algn="l" rtl="0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Nanum Gothic"/>
                <a:buChar char="●"/>
              </a:pPr>
              <a:r>
                <a:rPr lang="ko" sz="1100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병합 전 반드시 Pull Request 거치도록 설정</a:t>
              </a:r>
              <a:endParaRPr sz="1100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Nanum Gothic"/>
                <a:buChar char="●"/>
              </a:pPr>
              <a:r>
                <a:rPr lang="ko" sz="1100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최소 1명 이상의 승인(Approval) 필수</a:t>
              </a:r>
              <a:endParaRPr sz="1100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Nanum Gothic"/>
                <a:buChar char="●"/>
              </a:pPr>
              <a:r>
                <a:rPr lang="ko" sz="1100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상태 체크(Status Checks) 통과 필수</a:t>
              </a:r>
              <a:endParaRPr sz="1100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Nanum Gothic"/>
                <a:buChar char="●"/>
              </a:pPr>
              <a:r>
                <a:rPr lang="ko" sz="1100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CI workflow를 필수 체크 항목으로 등록</a:t>
              </a:r>
              <a:endParaRPr sz="1100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285750" y="3048000"/>
            <a:ext cx="8572500" cy="1809600"/>
            <a:chOff x="285750" y="3048000"/>
            <a:chExt cx="8572500" cy="1809600"/>
          </a:xfrm>
        </p:grpSpPr>
        <p:sp>
          <p:nvSpPr>
            <p:cNvPr id="260" name="Google Shape;260;p27"/>
            <p:cNvSpPr/>
            <p:nvPr/>
          </p:nvSpPr>
          <p:spPr>
            <a:xfrm>
              <a:off x="285750" y="3048000"/>
              <a:ext cx="8572500" cy="1809600"/>
            </a:xfrm>
            <a:prstGeom prst="roundRect">
              <a:avLst>
                <a:gd name="adj" fmla="val 6315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7"/>
            <p:cNvSpPr txBox="1"/>
            <p:nvPr/>
          </p:nvSpPr>
          <p:spPr>
            <a:xfrm>
              <a:off x="476250" y="3190875"/>
              <a:ext cx="819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500">
                  <a:solidFill>
                    <a:srgbClr val="1E293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최종 결과 및 검증 로직</a:t>
              </a:r>
              <a:endParaRPr sz="1500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</p:txBody>
        </p:sp>
        <p:grpSp>
          <p:nvGrpSpPr>
            <p:cNvPr id="262" name="Google Shape;262;p27"/>
            <p:cNvGrpSpPr/>
            <p:nvPr/>
          </p:nvGrpSpPr>
          <p:grpSpPr>
            <a:xfrm>
              <a:off x="476250" y="3619500"/>
              <a:ext cx="8191650" cy="1047900"/>
              <a:chOff x="0" y="0"/>
              <a:chExt cx="8191650" cy="1047900"/>
            </a:xfrm>
          </p:grpSpPr>
          <p:sp>
            <p:nvSpPr>
              <p:cNvPr id="263" name="Google Shape;263;p27"/>
              <p:cNvSpPr txBox="1"/>
              <p:nvPr/>
            </p:nvSpPr>
            <p:spPr>
              <a:xfrm>
                <a:off x="0" y="0"/>
                <a:ext cx="25719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5250" tIns="95250" rIns="95250" bIns="95250" anchor="ctr" anchorCtr="0">
                <a:noAutofit/>
              </a:bodyPr>
              <a:lstStyle/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endParaRPr lang="en-US" altLang="ko" sz="2400" dirty="0">
                  <a:solidFill>
                    <a:srgbClr val="EF4444"/>
                  </a:solidFill>
                  <a:highlight>
                    <a:srgbClr val="FEE2E2"/>
                  </a:highlight>
                  <a:latin typeface="Nanum Gothic" panose="020B0600000101010101" charset="-127"/>
                  <a:ea typeface="Nanum Gothic"/>
                  <a:cs typeface="Nanum Gothic"/>
                  <a:sym typeface="Material Icons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ko" sz="1100" b="1" dirty="0">
                    <a:solidFill>
                      <a:srgbClr val="B91C1C"/>
                    </a:solidFill>
                    <a:highlight>
                      <a:srgbClr val="FEE2E2"/>
                    </a:highlight>
                    <a:latin typeface="Nanum Gothic"/>
                    <a:ea typeface="Nanum Gothic"/>
                    <a:cs typeface="Nanum Gothic"/>
                    <a:sym typeface="Nanum Gothic"/>
                  </a:rPr>
                  <a:t>승인 없음</a:t>
                </a:r>
                <a:endParaRPr sz="1100" b="1" dirty="0">
                  <a:solidFill>
                    <a:srgbClr val="B91C1C"/>
                  </a:solidFill>
                  <a:highlight>
                    <a:srgbClr val="FEE2E2"/>
                  </a:highlight>
                  <a:latin typeface="Nanum Gothic"/>
                  <a:ea typeface="Nanum Gothic"/>
                  <a:cs typeface="Nanum Gothic"/>
                  <a:sym typeface="Nanum Gothic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000" dirty="0">
                    <a:solidFill>
                      <a:srgbClr val="DC2626"/>
                    </a:solidFill>
                    <a:highlight>
                      <a:srgbClr val="FEE2E2"/>
                    </a:highlight>
                    <a:latin typeface="Nanum Gothic"/>
                    <a:ea typeface="Nanum Gothic"/>
                    <a:cs typeface="Nanum Gothic"/>
                    <a:sym typeface="Nanum Gothic"/>
                  </a:rPr>
                  <a:t>Merge 불가</a:t>
                </a:r>
                <a:endParaRPr sz="1000" dirty="0">
                  <a:solidFill>
                    <a:srgbClr val="DC2626"/>
                  </a:solidFill>
                  <a:highlight>
                    <a:srgbClr val="FEE2E2"/>
                  </a:highlight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  <p:sp>
            <p:nvSpPr>
              <p:cNvPr id="264" name="Google Shape;264;p27"/>
              <p:cNvSpPr txBox="1"/>
              <p:nvPr/>
            </p:nvSpPr>
            <p:spPr>
              <a:xfrm>
                <a:off x="2809875" y="0"/>
                <a:ext cx="25719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5250" tIns="95250" rIns="95250" bIns="952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ko" sz="1100" b="1" dirty="0">
                  <a:solidFill>
                    <a:srgbClr val="B91C1C"/>
                  </a:solidFill>
                  <a:highlight>
                    <a:srgbClr val="FEE2E2"/>
                  </a:highlight>
                  <a:latin typeface="Nanum Gothic"/>
                  <a:ea typeface="Nanum Gothic"/>
                  <a:cs typeface="Nanum Gothic"/>
                  <a:sym typeface="Nanum Gothic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altLang="ko" sz="1100" b="1" dirty="0">
                  <a:solidFill>
                    <a:srgbClr val="B91C1C"/>
                  </a:solidFill>
                  <a:highlight>
                    <a:srgbClr val="FEE2E2"/>
                  </a:highlight>
                  <a:latin typeface="Nanum Gothic"/>
                  <a:ea typeface="Nanum Gothic"/>
                  <a:cs typeface="Nanum Gothic"/>
                  <a:sym typeface="Nanum Gothic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100" b="1" dirty="0">
                    <a:solidFill>
                      <a:srgbClr val="B91C1C"/>
                    </a:solidFill>
                    <a:highlight>
                      <a:srgbClr val="FEE2E2"/>
                    </a:highlight>
                    <a:latin typeface="Nanum Gothic"/>
                    <a:ea typeface="Nanum Gothic"/>
                    <a:cs typeface="Nanum Gothic"/>
                    <a:sym typeface="Nanum Gothic"/>
                  </a:rPr>
                  <a:t>Actions 실패</a:t>
                </a:r>
                <a:endParaRPr sz="1100" b="1" dirty="0">
                  <a:solidFill>
                    <a:srgbClr val="B91C1C"/>
                  </a:solidFill>
                  <a:highlight>
                    <a:srgbClr val="FEE2E2"/>
                  </a:highlight>
                  <a:latin typeface="Nanum Gothic"/>
                  <a:ea typeface="Nanum Gothic"/>
                  <a:cs typeface="Nanum Gothic"/>
                  <a:sym typeface="Nanum Gothic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000" dirty="0">
                    <a:solidFill>
                      <a:srgbClr val="DC2626"/>
                    </a:solidFill>
                    <a:highlight>
                      <a:srgbClr val="FEE2E2"/>
                    </a:highlight>
                    <a:latin typeface="Nanum Gothic"/>
                    <a:ea typeface="Nanum Gothic"/>
                    <a:cs typeface="Nanum Gothic"/>
                    <a:sym typeface="Nanum Gothic"/>
                  </a:rPr>
                  <a:t>Merge 불가</a:t>
                </a:r>
                <a:endParaRPr sz="1000" dirty="0">
                  <a:solidFill>
                    <a:srgbClr val="DC2626"/>
                  </a:solidFill>
                  <a:highlight>
                    <a:srgbClr val="FEE2E2"/>
                  </a:highlight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  <p:sp>
            <p:nvSpPr>
              <p:cNvPr id="265" name="Google Shape;265;p27"/>
              <p:cNvSpPr txBox="1"/>
              <p:nvPr/>
            </p:nvSpPr>
            <p:spPr>
              <a:xfrm>
                <a:off x="5619750" y="0"/>
                <a:ext cx="25719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5250" tIns="95250" rIns="95250" bIns="95250" anchor="ctr" anchorCtr="0">
                <a:noAutofit/>
              </a:bodyPr>
              <a:lstStyle/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endParaRPr lang="en-US" altLang="ko" sz="1100" b="1" dirty="0">
                  <a:solidFill>
                    <a:srgbClr val="166534"/>
                  </a:solidFill>
                  <a:highlight>
                    <a:srgbClr val="DCFCE7"/>
                  </a:highlight>
                  <a:latin typeface="Nanum Gothic"/>
                  <a:ea typeface="Nanum Gothic"/>
                  <a:cs typeface="Nanum Gothic"/>
                  <a:sym typeface="Nanum Gothic"/>
                </a:endParaRPr>
              </a:p>
              <a:p>
                <a:pPr marL="0" lvl="0" indent="0" algn="ctr" rtl="0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lang="ko" sz="1100" b="1" dirty="0">
                    <a:solidFill>
                      <a:srgbClr val="166534"/>
                    </a:solidFill>
                    <a:highlight>
                      <a:srgbClr val="DCFCE7"/>
                    </a:highlight>
                    <a:latin typeface="Nanum Gothic"/>
                    <a:ea typeface="Nanum Gothic"/>
                    <a:cs typeface="Nanum Gothic"/>
                    <a:sym typeface="Nanum Gothic"/>
                  </a:rPr>
                  <a:t>둘 다 통과</a:t>
                </a:r>
                <a:endParaRPr sz="1100" b="1" dirty="0">
                  <a:solidFill>
                    <a:srgbClr val="166534"/>
                  </a:solidFill>
                  <a:highlight>
                    <a:srgbClr val="DCFCE7"/>
                  </a:highlight>
                  <a:latin typeface="Nanum Gothic"/>
                  <a:ea typeface="Nanum Gothic"/>
                  <a:cs typeface="Nanum Gothic"/>
                  <a:sym typeface="Nanum Gothic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000" dirty="0">
                    <a:solidFill>
                      <a:srgbClr val="15803D"/>
                    </a:solidFill>
                    <a:highlight>
                      <a:srgbClr val="DCFCE7"/>
                    </a:highlight>
                    <a:latin typeface="Nanum Gothic"/>
                    <a:ea typeface="Nanum Gothic"/>
                    <a:cs typeface="Nanum Gothic"/>
                    <a:sym typeface="Nanum Gothic"/>
                  </a:rPr>
                  <a:t>Merge 가능</a:t>
                </a:r>
                <a:endParaRPr sz="1000" dirty="0">
                  <a:solidFill>
                    <a:srgbClr val="15803D"/>
                  </a:solidFill>
                  <a:highlight>
                    <a:srgbClr val="DCFCE7"/>
                  </a:highlight>
                  <a:latin typeface="Nanum Gothic"/>
                  <a:ea typeface="Nanum Gothic"/>
                  <a:cs typeface="Nanum Gothic"/>
                  <a:sym typeface="Nanum Gothic"/>
                </a:endParaRPr>
              </a:p>
            </p:txBody>
          </p:sp>
        </p:grp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45FDB98B-F2B9-6ABC-7640-4F8FE88D1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091" y="3857625"/>
            <a:ext cx="326217" cy="30319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B202DC7-57CC-81F8-BEF2-4E7D74AE5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0676" y="3857625"/>
            <a:ext cx="362648" cy="30805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D22D0C6-F3DC-1B0E-6E6E-73A3B2160A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643" y="3857625"/>
            <a:ext cx="249741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NanumGothicExtraBold"/>
                <a:ea typeface="NanumGothicExtraBold"/>
                <a:cs typeface="NanumGothicExtraBold"/>
                <a:sym typeface="NanumGothicExtraBold"/>
              </a:rPr>
              <a:t>NICK-조범상</a:t>
            </a:r>
            <a:endParaRPr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271" name="Google Shape;271;p2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구현 보다 먼저 맞춰야 할 기준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272" name="Google Shape;272;p28"/>
          <p:cNvSpPr txBox="1">
            <a:spLocks noGrp="1"/>
          </p:cNvSpPr>
          <p:nvPr>
            <p:ph type="subTitle" idx="1"/>
          </p:nvPr>
        </p:nvSpPr>
        <p:spPr>
          <a:xfrm>
            <a:off x="366125" y="3440575"/>
            <a:ext cx="8520600" cy="3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Nanum Gothic"/>
                <a:ea typeface="Nanum Gothic"/>
                <a:cs typeface="Nanum Gothic"/>
                <a:sym typeface="Nanum Gothic"/>
              </a:rPr>
              <a:t>PinOS Project 1 - 주간 발표</a:t>
            </a:r>
            <a:endParaRPr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29"/>
          <p:cNvGrpSpPr/>
          <p:nvPr/>
        </p:nvGrpSpPr>
        <p:grpSpPr>
          <a:xfrm>
            <a:off x="381000" y="1047750"/>
            <a:ext cx="8382000" cy="1333500"/>
            <a:chOff x="381000" y="1047750"/>
            <a:chExt cx="8382000" cy="1333500"/>
          </a:xfrm>
        </p:grpSpPr>
        <p:sp>
          <p:nvSpPr>
            <p:cNvPr id="278" name="Google Shape;278;p29"/>
            <p:cNvSpPr/>
            <p:nvPr/>
          </p:nvSpPr>
          <p:spPr>
            <a:xfrm>
              <a:off x="381000" y="1047750"/>
              <a:ext cx="8382000" cy="13335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9"/>
            <p:cNvSpPr txBox="1"/>
            <p:nvPr/>
          </p:nvSpPr>
          <p:spPr>
            <a:xfrm>
              <a:off x="571500" y="1190625"/>
              <a:ext cx="238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>
                  <a:solidFill>
                    <a:srgbClr val="64748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전체 통과율</a:t>
              </a:r>
              <a:endParaRPr sz="1400">
                <a:solidFill>
                  <a:srgbClr val="64748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3600">
                  <a:solidFill>
                    <a:srgbClr val="3B82F6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41%</a:t>
              </a:r>
              <a:endParaRPr sz="3600">
                <a:solidFill>
                  <a:srgbClr val="3B82F6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100">
                  <a:solidFill>
                    <a:srgbClr val="94A3B8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11 / 27 Tests</a:t>
              </a:r>
              <a:endParaRPr sz="1100">
                <a:solidFill>
                  <a:srgbClr val="94A3B8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</p:txBody>
        </p:sp>
        <p:sp>
          <p:nvSpPr>
            <p:cNvPr id="280" name="Google Shape;280;p29"/>
            <p:cNvSpPr/>
            <p:nvPr/>
          </p:nvSpPr>
          <p:spPr>
            <a:xfrm>
              <a:off x="3143250" y="1571625"/>
              <a:ext cx="5238900" cy="190500"/>
            </a:xfrm>
            <a:prstGeom prst="roundRect">
              <a:avLst>
                <a:gd name="adj" fmla="val 50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9"/>
            <p:cNvSpPr/>
            <p:nvPr/>
          </p:nvSpPr>
          <p:spPr>
            <a:xfrm>
              <a:off x="3143250" y="1571625"/>
              <a:ext cx="1940100" cy="1905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9"/>
            <p:cNvSpPr txBox="1"/>
            <p:nvPr/>
          </p:nvSpPr>
          <p:spPr>
            <a:xfrm>
              <a:off x="3143250" y="1857375"/>
              <a:ext cx="5238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2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상세: Alarm Clock 6개 / Priority Scheduling 5개 통과 </a:t>
              </a:r>
              <a:endParaRPr sz="12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sp>
        <p:nvSpPr>
          <p:cNvPr id="283" name="Google Shape;283;p29"/>
          <p:cNvSpPr txBox="1">
            <a:spLocks noGrp="1"/>
          </p:cNvSpPr>
          <p:nvPr>
            <p:ph type="title"/>
          </p:nvPr>
        </p:nvSpPr>
        <p:spPr>
          <a:xfrm>
            <a:off x="311700" y="28575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>
                <a:solidFill>
                  <a:srgbClr val="1E293B"/>
                </a:solidFill>
              </a:rPr>
              <a:t>나의 진행률</a:t>
            </a:r>
            <a:endParaRPr sz="3200">
              <a:solidFill>
                <a:srgbClr val="1E293B"/>
              </a:solidFill>
            </a:endParaRPr>
          </a:p>
        </p:txBody>
      </p:sp>
      <p:grpSp>
        <p:nvGrpSpPr>
          <p:cNvPr id="284" name="Google Shape;284;p29"/>
          <p:cNvGrpSpPr/>
          <p:nvPr/>
        </p:nvGrpSpPr>
        <p:grpSpPr>
          <a:xfrm>
            <a:off x="380997" y="2571750"/>
            <a:ext cx="8603856" cy="2190900"/>
            <a:chOff x="381000" y="2571750"/>
            <a:chExt cx="5524500" cy="2190900"/>
          </a:xfrm>
        </p:grpSpPr>
        <p:sp>
          <p:nvSpPr>
            <p:cNvPr id="285" name="Google Shape;285;p29"/>
            <p:cNvSpPr/>
            <p:nvPr/>
          </p:nvSpPr>
          <p:spPr>
            <a:xfrm>
              <a:off x="381000" y="2571750"/>
              <a:ext cx="26670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9"/>
            <p:cNvSpPr/>
            <p:nvPr/>
          </p:nvSpPr>
          <p:spPr>
            <a:xfrm>
              <a:off x="3238500" y="2571750"/>
              <a:ext cx="26670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9"/>
            <p:cNvSpPr txBox="1"/>
            <p:nvPr/>
          </p:nvSpPr>
          <p:spPr>
            <a:xfrm>
              <a:off x="571500" y="2714625"/>
              <a:ext cx="2286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800">
                  <a:solidFill>
                    <a:srgbClr val="1E293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Alarm Clock</a:t>
              </a:r>
              <a:endParaRPr sz="1800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457200" lvl="0" indent="-342900" algn="l" rtl="0">
                <a:spcBef>
                  <a:spcPts val="1125"/>
                </a:spcBef>
                <a:spcAft>
                  <a:spcPts val="0"/>
                </a:spcAft>
                <a:buClr>
                  <a:srgbClr val="64748B"/>
                </a:buClr>
                <a:buSzPts val="1800"/>
                <a:buFont typeface="NanumGothicExtraBold"/>
                <a:buChar char="●"/>
              </a:pPr>
              <a:r>
                <a:rPr lang="ko" sz="1800">
                  <a:solidFill>
                    <a:srgbClr val="10B981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alarm-zero/negative</a:t>
              </a:r>
              <a:endParaRPr sz="1800">
                <a:solidFill>
                  <a:srgbClr val="10B98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45720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800"/>
                <a:buFont typeface="NanumGothicExtraBold"/>
                <a:buChar char="●"/>
              </a:pPr>
              <a:r>
                <a:rPr lang="ko" sz="1800">
                  <a:solidFill>
                    <a:srgbClr val="10B981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alarm-sigle</a:t>
              </a:r>
              <a:endParaRPr sz="1800">
                <a:solidFill>
                  <a:srgbClr val="10B98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45720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800"/>
                <a:buFont typeface="NanumGothicExtraBold"/>
                <a:buChar char="●"/>
              </a:pPr>
              <a:r>
                <a:rPr lang="ko" sz="1800">
                  <a:solidFill>
                    <a:srgbClr val="10B981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alarm-mutiple …</a:t>
              </a:r>
              <a:endParaRPr sz="1800">
                <a:solidFill>
                  <a:srgbClr val="10B98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45720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endParaRPr sz="1800">
                <a:solidFill>
                  <a:srgbClr val="10B98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800">
                <a:solidFill>
                  <a:srgbClr val="64748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</p:txBody>
        </p:sp>
        <p:sp>
          <p:nvSpPr>
            <p:cNvPr id="288" name="Google Shape;288;p29"/>
            <p:cNvSpPr txBox="1"/>
            <p:nvPr/>
          </p:nvSpPr>
          <p:spPr>
            <a:xfrm>
              <a:off x="3429000" y="2714625"/>
              <a:ext cx="2286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800">
                  <a:solidFill>
                    <a:srgbClr val="1E293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Priority</a:t>
              </a:r>
              <a:endParaRPr sz="1800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457200" lvl="0" indent="-342900" algn="l" rtl="0">
                <a:spcBef>
                  <a:spcPts val="1125"/>
                </a:spcBef>
                <a:spcAft>
                  <a:spcPts val="0"/>
                </a:spcAft>
                <a:buClr>
                  <a:srgbClr val="152550"/>
                </a:buClr>
                <a:buSzPts val="1800"/>
                <a:buFont typeface="NanumGothicExtraBold"/>
                <a:buChar char="●"/>
              </a:pPr>
              <a:r>
                <a:rPr lang="ko" sz="1800">
                  <a:solidFill>
                    <a:srgbClr val="152550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priority-fifo</a:t>
              </a:r>
              <a:endParaRPr sz="1800">
                <a:solidFill>
                  <a:srgbClr val="152550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45720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152550"/>
                </a:buClr>
                <a:buSzPts val="1800"/>
                <a:buFont typeface="NanumGothicExtraBold"/>
                <a:buChar char="●"/>
              </a:pPr>
              <a:r>
                <a:rPr lang="ko" sz="1800">
                  <a:solidFill>
                    <a:srgbClr val="152550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priority-change</a:t>
              </a:r>
              <a:endParaRPr sz="1800">
                <a:solidFill>
                  <a:srgbClr val="152550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45720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152550"/>
                </a:buClr>
                <a:buSzPts val="1800"/>
                <a:buFont typeface="NanumGothicExtraBold"/>
                <a:buChar char="●"/>
              </a:pPr>
              <a:r>
                <a:rPr lang="ko" sz="1800">
                  <a:solidFill>
                    <a:srgbClr val="152550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priority-preempt</a:t>
              </a:r>
              <a:endParaRPr sz="1800">
                <a:solidFill>
                  <a:srgbClr val="152550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45720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152550"/>
                </a:buClr>
                <a:buSzPts val="1800"/>
                <a:buFont typeface="NanumGothicExtraBold"/>
                <a:buChar char="●"/>
              </a:pPr>
              <a:r>
                <a:rPr lang="ko" sz="1800">
                  <a:solidFill>
                    <a:srgbClr val="152550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priority-sema</a:t>
              </a:r>
              <a:endParaRPr sz="1800">
                <a:solidFill>
                  <a:srgbClr val="152550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45720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rgbClr val="152550"/>
                </a:buClr>
                <a:buSzPts val="1800"/>
                <a:buFont typeface="NanumGothicExtraBold"/>
                <a:buChar char="●"/>
              </a:pPr>
              <a:r>
                <a:rPr lang="ko" sz="1800">
                  <a:solidFill>
                    <a:srgbClr val="152550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priority-one</a:t>
              </a:r>
              <a:endParaRPr sz="1800">
                <a:solidFill>
                  <a:srgbClr val="152550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endParaRPr sz="800">
                <a:solidFill>
                  <a:srgbClr val="64748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/>
          <p:cNvGrpSpPr/>
          <p:nvPr/>
        </p:nvGrpSpPr>
        <p:grpSpPr>
          <a:xfrm>
            <a:off x="381000" y="858428"/>
            <a:ext cx="8603857" cy="3904184"/>
            <a:chOff x="381000" y="2571750"/>
            <a:chExt cx="5524500" cy="2190900"/>
          </a:xfrm>
        </p:grpSpPr>
        <p:sp>
          <p:nvSpPr>
            <p:cNvPr id="294" name="Google Shape;294;p30"/>
            <p:cNvSpPr/>
            <p:nvPr/>
          </p:nvSpPr>
          <p:spPr>
            <a:xfrm>
              <a:off x="381000" y="2571754"/>
              <a:ext cx="2667000" cy="6741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3238500" y="2571750"/>
              <a:ext cx="26670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0"/>
            <p:cNvSpPr txBox="1"/>
            <p:nvPr/>
          </p:nvSpPr>
          <p:spPr>
            <a:xfrm>
              <a:off x="698620" y="2725654"/>
              <a:ext cx="2286000" cy="3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b="1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팀원 간 학습 방식 차이</a:t>
              </a:r>
              <a:endParaRPr b="1">
                <a:solidFill>
                  <a:srgbClr val="1E293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ko" b="1">
                  <a:solidFill>
                    <a:schemeClr val="dk2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구현 먼저 우선 vs 개념 흐름 먼저</a:t>
              </a:r>
              <a:endParaRPr b="1">
                <a:solidFill>
                  <a:schemeClr val="dk2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endParaRPr b="1">
                <a:solidFill>
                  <a:srgbClr val="10B98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b="1">
                <a:solidFill>
                  <a:srgbClr val="64748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297" name="Google Shape;297;p30"/>
            <p:cNvSpPr txBox="1"/>
            <p:nvPr/>
          </p:nvSpPr>
          <p:spPr>
            <a:xfrm>
              <a:off x="3429000" y="2714625"/>
              <a:ext cx="2286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b="1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접근 방식의 차이로 인한 결과 </a:t>
              </a:r>
              <a:endParaRPr b="1">
                <a:solidFill>
                  <a:srgbClr val="10B98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endParaRPr b="1">
                <a:solidFill>
                  <a:srgbClr val="64748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sp>
        <p:nvSpPr>
          <p:cNvPr id="298" name="Google Shape;298;p30"/>
          <p:cNvSpPr txBox="1">
            <a:spLocks noGrp="1"/>
          </p:cNvSpPr>
          <p:nvPr>
            <p:ph type="title"/>
          </p:nvPr>
        </p:nvSpPr>
        <p:spPr>
          <a:xfrm>
            <a:off x="311700" y="28575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>
                <a:solidFill>
                  <a:srgbClr val="1E293B"/>
                </a:solidFill>
              </a:rPr>
              <a:t>초기 협업 문제</a:t>
            </a:r>
            <a:endParaRPr sz="3200">
              <a:solidFill>
                <a:srgbClr val="1E293B"/>
              </a:solidFill>
            </a:endParaRPr>
          </a:p>
        </p:txBody>
      </p:sp>
      <p:sp>
        <p:nvSpPr>
          <p:cNvPr id="299" name="Google Shape;299;p30"/>
          <p:cNvSpPr/>
          <p:nvPr/>
        </p:nvSpPr>
        <p:spPr>
          <a:xfrm>
            <a:off x="381000" y="2209886"/>
            <a:ext cx="4153586" cy="1201246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0" name="Google Shape;300;p30"/>
          <p:cNvGrpSpPr/>
          <p:nvPr/>
        </p:nvGrpSpPr>
        <p:grpSpPr>
          <a:xfrm>
            <a:off x="381000" y="3561361"/>
            <a:ext cx="4153586" cy="1201246"/>
            <a:chOff x="381000" y="2571754"/>
            <a:chExt cx="2667000" cy="674100"/>
          </a:xfrm>
        </p:grpSpPr>
        <p:sp>
          <p:nvSpPr>
            <p:cNvPr id="301" name="Google Shape;301;p30"/>
            <p:cNvSpPr/>
            <p:nvPr/>
          </p:nvSpPr>
          <p:spPr>
            <a:xfrm>
              <a:off x="381000" y="2571754"/>
              <a:ext cx="2667000" cy="6741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0"/>
            <p:cNvSpPr txBox="1"/>
            <p:nvPr/>
          </p:nvSpPr>
          <p:spPr>
            <a:xfrm>
              <a:off x="681011" y="2725654"/>
              <a:ext cx="2286000" cy="36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b="1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리뷰 및 브랜치 동기화 부족</a:t>
              </a:r>
              <a:endParaRPr b="1">
                <a:solidFill>
                  <a:srgbClr val="1E293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ko" b="1">
                  <a:solidFill>
                    <a:schemeClr val="dk2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팀 활동보다 개인 공부에 가까운 흐름</a:t>
              </a:r>
              <a:endParaRPr b="1">
                <a:solidFill>
                  <a:schemeClr val="dk2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endParaRPr b="1">
                <a:solidFill>
                  <a:srgbClr val="10B98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b="1">
                <a:solidFill>
                  <a:srgbClr val="64748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sp>
        <p:nvSpPr>
          <p:cNvPr id="303" name="Google Shape;303;p30"/>
          <p:cNvSpPr txBox="1"/>
          <p:nvPr/>
        </p:nvSpPr>
        <p:spPr>
          <a:xfrm>
            <a:off x="803425" y="2484097"/>
            <a:ext cx="3560100" cy="8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solidFill>
                  <a:srgbClr val="1E293B"/>
                </a:solidFill>
                <a:latin typeface="Nanum Gothic"/>
                <a:ea typeface="Nanum Gothic"/>
                <a:cs typeface="Nanum Gothic"/>
                <a:sym typeface="Nanum Gothic"/>
              </a:rPr>
              <a:t>문제점</a:t>
            </a:r>
            <a:endParaRPr b="1">
              <a:solidFill>
                <a:srgbClr val="1E293B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30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chemeClr val="dk2"/>
                </a:solidFill>
                <a:latin typeface="Nanum Gothic"/>
                <a:ea typeface="Nanum Gothic"/>
                <a:cs typeface="Nanum Gothic"/>
                <a:sym typeface="Nanum Gothic"/>
              </a:rPr>
              <a:t>- 진행 위치의 차이 </a:t>
            </a:r>
            <a:endParaRPr sz="1000" b="1">
              <a:solidFill>
                <a:schemeClr val="dk2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30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chemeClr val="dk2"/>
                </a:solidFill>
                <a:latin typeface="Nanum Gothic"/>
                <a:ea typeface="Nanum Gothic"/>
                <a:cs typeface="Nanum Gothic"/>
                <a:sym typeface="Nanum Gothic"/>
              </a:rPr>
              <a:t>- 개념 깊의 차이 </a:t>
            </a:r>
            <a:endParaRPr sz="1000" b="1">
              <a:solidFill>
                <a:schemeClr val="dk2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lnSpc>
                <a:spcPct val="30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chemeClr val="dk2"/>
                </a:solidFill>
                <a:latin typeface="Nanum Gothic"/>
                <a:ea typeface="Nanum Gothic"/>
                <a:cs typeface="Nanum Gothic"/>
                <a:sym typeface="Nanum Gothic"/>
              </a:rPr>
              <a:t>- 관점의 차이</a:t>
            </a:r>
            <a:endParaRPr sz="1000" b="1">
              <a:solidFill>
                <a:schemeClr val="dk2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457200" lvl="0" indent="0" algn="l" rtl="0">
              <a:spcBef>
                <a:spcPts val="1125"/>
              </a:spcBef>
              <a:spcAft>
                <a:spcPts val="0"/>
              </a:spcAft>
              <a:buNone/>
            </a:pPr>
            <a:endParaRPr b="1">
              <a:solidFill>
                <a:srgbClr val="10B98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rgbClr val="64748B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304" name="Google Shape;304;p30"/>
          <p:cNvSpPr/>
          <p:nvPr/>
        </p:nvSpPr>
        <p:spPr>
          <a:xfrm>
            <a:off x="5607800" y="1869125"/>
            <a:ext cx="170700" cy="163500"/>
          </a:xfrm>
          <a:prstGeom prst="ellipse">
            <a:avLst/>
          </a:prstGeom>
          <a:solidFill>
            <a:srgbClr val="86EFAC"/>
          </a:solidFill>
          <a:ln w="9525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30"/>
          <p:cNvSpPr/>
          <p:nvPr/>
        </p:nvSpPr>
        <p:spPr>
          <a:xfrm>
            <a:off x="5607800" y="2571750"/>
            <a:ext cx="170700" cy="163500"/>
          </a:xfrm>
          <a:prstGeom prst="ellipse">
            <a:avLst/>
          </a:prstGeom>
          <a:solidFill>
            <a:srgbClr val="86EFAC"/>
          </a:solidFill>
          <a:ln w="9525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0"/>
          <p:cNvSpPr/>
          <p:nvPr/>
        </p:nvSpPr>
        <p:spPr>
          <a:xfrm>
            <a:off x="8264825" y="1869125"/>
            <a:ext cx="170700" cy="1635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30"/>
          <p:cNvSpPr/>
          <p:nvPr/>
        </p:nvSpPr>
        <p:spPr>
          <a:xfrm>
            <a:off x="8264825" y="2571750"/>
            <a:ext cx="170700" cy="1635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30"/>
          <p:cNvSpPr/>
          <p:nvPr/>
        </p:nvSpPr>
        <p:spPr>
          <a:xfrm>
            <a:off x="6963250" y="3081900"/>
            <a:ext cx="170700" cy="163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0"/>
          <p:cNvSpPr/>
          <p:nvPr/>
        </p:nvSpPr>
        <p:spPr>
          <a:xfrm>
            <a:off x="6963250" y="3846050"/>
            <a:ext cx="170700" cy="163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0" name="Google Shape;310;p30"/>
          <p:cNvCxnSpPr>
            <a:stCxn id="304" idx="4"/>
            <a:endCxn id="305" idx="0"/>
          </p:cNvCxnSpPr>
          <p:nvPr/>
        </p:nvCxnSpPr>
        <p:spPr>
          <a:xfrm>
            <a:off x="5693150" y="2032625"/>
            <a:ext cx="0" cy="53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1" name="Google Shape;311;p30"/>
          <p:cNvCxnSpPr>
            <a:stCxn id="305" idx="6"/>
            <a:endCxn id="308" idx="2"/>
          </p:cNvCxnSpPr>
          <p:nvPr/>
        </p:nvCxnSpPr>
        <p:spPr>
          <a:xfrm>
            <a:off x="5778500" y="2653500"/>
            <a:ext cx="1184700" cy="510300"/>
          </a:xfrm>
          <a:prstGeom prst="curvedConnector3">
            <a:avLst>
              <a:gd name="adj1" fmla="val 5000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2" name="Google Shape;312;p30"/>
          <p:cNvCxnSpPr>
            <a:endCxn id="308" idx="6"/>
          </p:cNvCxnSpPr>
          <p:nvPr/>
        </p:nvCxnSpPr>
        <p:spPr>
          <a:xfrm flipH="1">
            <a:off x="7133950" y="2658750"/>
            <a:ext cx="1146600" cy="5049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" name="Google Shape;313;p30"/>
          <p:cNvCxnSpPr>
            <a:stCxn id="306" idx="4"/>
            <a:endCxn id="307" idx="0"/>
          </p:cNvCxnSpPr>
          <p:nvPr/>
        </p:nvCxnSpPr>
        <p:spPr>
          <a:xfrm>
            <a:off x="8350175" y="2032625"/>
            <a:ext cx="0" cy="53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" name="Google Shape;314;p30"/>
          <p:cNvCxnSpPr>
            <a:stCxn id="308" idx="4"/>
            <a:endCxn id="309" idx="0"/>
          </p:cNvCxnSpPr>
          <p:nvPr/>
        </p:nvCxnSpPr>
        <p:spPr>
          <a:xfrm>
            <a:off x="7048600" y="3245400"/>
            <a:ext cx="0" cy="600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5" name="Google Shape;315;p30"/>
          <p:cNvSpPr txBox="1"/>
          <p:nvPr/>
        </p:nvSpPr>
        <p:spPr>
          <a:xfrm>
            <a:off x="5260275" y="1630500"/>
            <a:ext cx="1146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125"/>
              </a:spcAft>
              <a:buNone/>
            </a:pPr>
            <a:r>
              <a:rPr lang="ko" sz="1100" b="1">
                <a:solidFill>
                  <a:srgbClr val="86EFAC"/>
                </a:solidFill>
                <a:latin typeface="Nanum Gothic"/>
                <a:ea typeface="Nanum Gothic"/>
                <a:cs typeface="Nanum Gothic"/>
                <a:sym typeface="Nanum Gothic"/>
              </a:rPr>
              <a:t>구현 중심 branch </a:t>
            </a:r>
            <a:endParaRPr sz="1100" b="1">
              <a:solidFill>
                <a:srgbClr val="86EFAC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316" name="Google Shape;316;p30"/>
          <p:cNvSpPr txBox="1"/>
          <p:nvPr/>
        </p:nvSpPr>
        <p:spPr>
          <a:xfrm>
            <a:off x="7757825" y="1630500"/>
            <a:ext cx="11847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125"/>
              </a:spcAft>
              <a:buNone/>
            </a:pPr>
            <a:r>
              <a:rPr lang="ko" sz="1100" b="1">
                <a:solidFill>
                  <a:schemeClr val="accent1"/>
                </a:solidFill>
                <a:latin typeface="Nanum Gothic"/>
                <a:ea typeface="Nanum Gothic"/>
                <a:cs typeface="Nanum Gothic"/>
                <a:sym typeface="Nanum Gothic"/>
              </a:rPr>
              <a:t>코드 중심 branch</a:t>
            </a:r>
            <a:endParaRPr sz="1100" b="1">
              <a:solidFill>
                <a:schemeClr val="accent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317" name="Google Shape;317;p30"/>
          <p:cNvSpPr txBox="1"/>
          <p:nvPr/>
        </p:nvSpPr>
        <p:spPr>
          <a:xfrm>
            <a:off x="6760150" y="4077375"/>
            <a:ext cx="846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125"/>
              </a:spcAft>
              <a:buNone/>
            </a:pPr>
            <a:r>
              <a:rPr lang="ko" sz="11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alarm-zero</a:t>
            </a:r>
            <a:endParaRPr sz="11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318" name="Google Shape;318;p30"/>
          <p:cNvSpPr/>
          <p:nvPr/>
        </p:nvSpPr>
        <p:spPr>
          <a:xfrm>
            <a:off x="6200350" y="1204700"/>
            <a:ext cx="2136324" cy="425816"/>
          </a:xfrm>
          <a:custGeom>
            <a:avLst/>
            <a:gdLst/>
            <a:ahLst/>
            <a:cxnLst/>
            <a:rect l="l" t="t" r="r" b="b"/>
            <a:pathLst>
              <a:path w="91560" h="19748" extrusionOk="0">
                <a:moveTo>
                  <a:pt x="0" y="19748"/>
                </a:moveTo>
                <a:lnTo>
                  <a:pt x="91560" y="0"/>
                </a:lnTo>
                <a:lnTo>
                  <a:pt x="87969" y="17235"/>
                </a:lnTo>
              </a:path>
            </a:pathLst>
          </a:cu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sp>
      <p:sp>
        <p:nvSpPr>
          <p:cNvPr id="319" name="Google Shape;319;p30"/>
          <p:cNvSpPr txBox="1"/>
          <p:nvPr/>
        </p:nvSpPr>
        <p:spPr>
          <a:xfrm>
            <a:off x="8190000" y="1035500"/>
            <a:ext cx="6423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125"/>
              </a:spcAft>
              <a:buNone/>
            </a:pPr>
            <a:r>
              <a:rPr lang="ko" sz="1100" b="1">
                <a:solidFill>
                  <a:srgbClr val="E11D48"/>
                </a:solidFill>
                <a:latin typeface="Nanum Gothic"/>
                <a:ea typeface="Nanum Gothic"/>
                <a:cs typeface="Nanum Gothic"/>
                <a:sym typeface="Nanum Gothic"/>
              </a:rPr>
              <a:t>불일치</a:t>
            </a:r>
            <a:endParaRPr sz="1100" b="1">
              <a:solidFill>
                <a:srgbClr val="E11D48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320" name="Google Shape;320;p30" title="free-icon-team-37602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625" y="1106175"/>
            <a:ext cx="238975" cy="2389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21" name="Google Shape;32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92624" y="3808313"/>
            <a:ext cx="238975" cy="23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763" y="2491388"/>
            <a:ext cx="170700" cy="17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31"/>
          <p:cNvGrpSpPr/>
          <p:nvPr/>
        </p:nvGrpSpPr>
        <p:grpSpPr>
          <a:xfrm>
            <a:off x="772887" y="868136"/>
            <a:ext cx="8015135" cy="1201246"/>
            <a:chOff x="381000" y="2571754"/>
            <a:chExt cx="2667000" cy="674100"/>
          </a:xfrm>
        </p:grpSpPr>
        <p:sp>
          <p:nvSpPr>
            <p:cNvPr id="328" name="Google Shape;328;p31"/>
            <p:cNvSpPr/>
            <p:nvPr/>
          </p:nvSpPr>
          <p:spPr>
            <a:xfrm>
              <a:off x="381000" y="2571754"/>
              <a:ext cx="2667000" cy="6741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</p:txBody>
        </p:sp>
        <p:sp>
          <p:nvSpPr>
            <p:cNvPr id="329" name="Google Shape;329;p31"/>
            <p:cNvSpPr txBox="1"/>
            <p:nvPr/>
          </p:nvSpPr>
          <p:spPr>
            <a:xfrm>
              <a:off x="536962" y="2612075"/>
              <a:ext cx="2414700" cy="4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>
                  <a:solidFill>
                    <a:srgbClr val="1E293B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문제 상황</a:t>
              </a:r>
              <a:endParaRPr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lnSpc>
                  <a:spcPct val="80000"/>
                </a:lnSpc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2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프로그램은 실행되지만 make check에서 fail발생. </a:t>
              </a:r>
              <a:endParaRPr sz="1200">
                <a:solidFill>
                  <a:schemeClr val="dk2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lnSpc>
                  <a:spcPct val="80000"/>
                </a:lnSpc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2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일부 경로는 list_insert_ordered(priority 기준) 사용 </a:t>
              </a:r>
              <a:endParaRPr sz="1200">
                <a:solidFill>
                  <a:schemeClr val="dk2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lnSpc>
                  <a:spcPct val="80000"/>
                </a:lnSpc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chemeClr val="dk2"/>
                  </a:solidFill>
                  <a:latin typeface="NanumGothicExtraBold"/>
                  <a:ea typeface="NanumGothicExtraBold"/>
                  <a:cs typeface="NanumGothicExtraBold"/>
                  <a:sym typeface="NanumGothicExtraBold"/>
                </a:rPr>
                <a:t>다른 경로에서는 list_push_back(리스트 뒤 삽입)이 남아  ready_list 정렬의 불일치 발생  </a:t>
              </a:r>
              <a:endParaRPr sz="1200">
                <a:solidFill>
                  <a:schemeClr val="dk2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457200" lvl="0" indent="0" algn="l" rtl="0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None/>
              </a:pPr>
              <a:endParaRPr>
                <a:solidFill>
                  <a:srgbClr val="10B98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1125"/>
                </a:spcBef>
                <a:spcAft>
                  <a:spcPts val="1125"/>
                </a:spcAft>
                <a:buNone/>
              </a:pPr>
              <a:endParaRPr>
                <a:solidFill>
                  <a:srgbClr val="64748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endParaRPr>
            </a:p>
          </p:txBody>
        </p:sp>
      </p:grpSp>
      <p:sp>
        <p:nvSpPr>
          <p:cNvPr id="330" name="Google Shape;330;p31"/>
          <p:cNvSpPr txBox="1">
            <a:spLocks noGrp="1"/>
          </p:cNvSpPr>
          <p:nvPr>
            <p:ph type="title"/>
          </p:nvPr>
        </p:nvSpPr>
        <p:spPr>
          <a:xfrm>
            <a:off x="703600" y="29555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>
                <a:solidFill>
                  <a:srgbClr val="1E293B"/>
                </a:solidFill>
              </a:rPr>
              <a:t>중기 협업의 문제</a:t>
            </a:r>
            <a:endParaRPr sz="3200">
              <a:solidFill>
                <a:srgbClr val="1E293B"/>
              </a:solidFill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782500" y="2333400"/>
            <a:ext cx="8015100" cy="25929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1"/>
          <p:cNvSpPr txBox="1"/>
          <p:nvPr/>
        </p:nvSpPr>
        <p:spPr>
          <a:xfrm>
            <a:off x="1209400" y="2333363"/>
            <a:ext cx="7600800" cy="4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rgbClr val="1E293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해결: ready_list 진입 경로 모두 점검 </a:t>
            </a:r>
            <a:endParaRPr>
              <a:solidFill>
                <a:srgbClr val="64748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333" name="Google Shape;333;p31"/>
          <p:cNvSpPr/>
          <p:nvPr/>
        </p:nvSpPr>
        <p:spPr>
          <a:xfrm>
            <a:off x="1209407" y="2955057"/>
            <a:ext cx="1700400" cy="4368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31"/>
          <p:cNvSpPr/>
          <p:nvPr/>
        </p:nvSpPr>
        <p:spPr>
          <a:xfrm>
            <a:off x="1209407" y="3536807"/>
            <a:ext cx="1700400" cy="4368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1"/>
          <p:cNvSpPr/>
          <p:nvPr/>
        </p:nvSpPr>
        <p:spPr>
          <a:xfrm>
            <a:off x="1209407" y="4118557"/>
            <a:ext cx="1700400" cy="4368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1"/>
          <p:cNvSpPr/>
          <p:nvPr/>
        </p:nvSpPr>
        <p:spPr>
          <a:xfrm>
            <a:off x="3418047" y="2955032"/>
            <a:ext cx="2307900" cy="1600200"/>
          </a:xfrm>
          <a:prstGeom prst="roundRect">
            <a:avLst>
              <a:gd name="adj" fmla="val 5217"/>
            </a:avLst>
          </a:prstGeom>
          <a:solidFill>
            <a:srgbClr val="152550"/>
          </a:solidFill>
          <a:ln w="9525" cap="flat" cmpd="sng">
            <a:solidFill>
              <a:srgbClr val="1525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1"/>
          <p:cNvSpPr/>
          <p:nvPr/>
        </p:nvSpPr>
        <p:spPr>
          <a:xfrm>
            <a:off x="6147250" y="3536725"/>
            <a:ext cx="2523300" cy="4368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31"/>
          <p:cNvSpPr txBox="1"/>
          <p:nvPr/>
        </p:nvSpPr>
        <p:spPr>
          <a:xfrm>
            <a:off x="1303000" y="3074050"/>
            <a:ext cx="1513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125"/>
              </a:spcAft>
              <a:buNone/>
            </a:pPr>
            <a:r>
              <a:rPr lang="ko">
                <a:solidFill>
                  <a:srgbClr val="64748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thread_unblock()</a:t>
            </a:r>
            <a:endParaRPr>
              <a:solidFill>
                <a:srgbClr val="64748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1303000" y="3645700"/>
            <a:ext cx="1513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125"/>
              </a:spcAft>
              <a:buNone/>
            </a:pPr>
            <a:r>
              <a:rPr lang="ko">
                <a:solidFill>
                  <a:srgbClr val="64748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thread_yield()</a:t>
            </a:r>
            <a:endParaRPr>
              <a:solidFill>
                <a:srgbClr val="64748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340" name="Google Shape;340;p31"/>
          <p:cNvSpPr txBox="1"/>
          <p:nvPr/>
        </p:nvSpPr>
        <p:spPr>
          <a:xfrm>
            <a:off x="1303000" y="4217350"/>
            <a:ext cx="1513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125"/>
              </a:spcAft>
              <a:buNone/>
            </a:pPr>
            <a:r>
              <a:rPr lang="ko">
                <a:solidFill>
                  <a:srgbClr val="64748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thread_create()</a:t>
            </a:r>
            <a:endParaRPr>
              <a:solidFill>
                <a:srgbClr val="64748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cxnSp>
        <p:nvCxnSpPr>
          <p:cNvPr id="341" name="Google Shape;341;p31"/>
          <p:cNvCxnSpPr>
            <a:stCxn id="338" idx="3"/>
            <a:endCxn id="340" idx="3"/>
          </p:cNvCxnSpPr>
          <p:nvPr/>
        </p:nvCxnSpPr>
        <p:spPr>
          <a:xfrm>
            <a:off x="2816200" y="3183550"/>
            <a:ext cx="600" cy="1143300"/>
          </a:xfrm>
          <a:prstGeom prst="bentConnector3">
            <a:avLst>
              <a:gd name="adj1" fmla="val 4989583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2" name="Google Shape;342;p31"/>
          <p:cNvCxnSpPr>
            <a:stCxn id="339" idx="3"/>
            <a:endCxn id="336" idx="1"/>
          </p:cNvCxnSpPr>
          <p:nvPr/>
        </p:nvCxnSpPr>
        <p:spPr>
          <a:xfrm>
            <a:off x="2816200" y="3755200"/>
            <a:ext cx="60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3" name="Google Shape;343;p31"/>
          <p:cNvSpPr txBox="1"/>
          <p:nvPr/>
        </p:nvSpPr>
        <p:spPr>
          <a:xfrm>
            <a:off x="3815400" y="3050288"/>
            <a:ext cx="15132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125"/>
              </a:spcAft>
              <a:buNone/>
            </a:pPr>
            <a:r>
              <a:rPr lang="ko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ready list</a:t>
            </a:r>
            <a:endParaRPr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344" name="Google Shape;344;p31"/>
          <p:cNvSpPr txBox="1"/>
          <p:nvPr/>
        </p:nvSpPr>
        <p:spPr>
          <a:xfrm>
            <a:off x="3694212" y="3509525"/>
            <a:ext cx="1874400" cy="9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Priority 높은 thread 먼저</a:t>
            </a:r>
            <a:endParaRPr sz="10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동일한 priority order는 FIFO유지</a:t>
            </a:r>
            <a:endParaRPr sz="10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ko" sz="1000">
                <a:solidFill>
                  <a:schemeClr val="lt1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list_insert_ordered 통일</a:t>
            </a:r>
            <a:endParaRPr sz="10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cxnSp>
        <p:nvCxnSpPr>
          <p:cNvPr id="345" name="Google Shape;345;p31"/>
          <p:cNvCxnSpPr>
            <a:stCxn id="336" idx="3"/>
          </p:cNvCxnSpPr>
          <p:nvPr/>
        </p:nvCxnSpPr>
        <p:spPr>
          <a:xfrm>
            <a:off x="5725947" y="3755132"/>
            <a:ext cx="421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6" name="Google Shape;346;p31"/>
          <p:cNvSpPr txBox="1"/>
          <p:nvPr/>
        </p:nvSpPr>
        <p:spPr>
          <a:xfrm>
            <a:off x="6304675" y="3645625"/>
            <a:ext cx="23079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125"/>
              </a:spcAft>
              <a:buNone/>
            </a:pPr>
            <a:r>
              <a:rPr lang="ko">
                <a:solidFill>
                  <a:srgbClr val="64748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next_thread_to_run()</a:t>
            </a:r>
            <a:endParaRPr>
              <a:solidFill>
                <a:srgbClr val="64748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pic>
        <p:nvPicPr>
          <p:cNvPr id="347" name="Google Shape;3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550" y="931275"/>
            <a:ext cx="219000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912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3"/>
          <p:cNvSpPr txBox="1">
            <a:spLocks noGrp="1"/>
          </p:cNvSpPr>
          <p:nvPr>
            <p:ph type="ctrTitle" idx="4294967295"/>
          </p:nvPr>
        </p:nvSpPr>
        <p:spPr>
          <a:xfrm>
            <a:off x="311700" y="15454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3600">
                <a:latin typeface="NanumGothicExtraBold"/>
                <a:ea typeface="NanumGothicExtraBold"/>
                <a:cs typeface="NanumGothicExtraBold"/>
                <a:sym typeface="NanumGothicExtraBold"/>
              </a:rPr>
              <a:t>SONNY-정범진</a:t>
            </a:r>
            <a:endParaRPr sz="3600"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4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363" name="Google Shape;363;p34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364" name="Google Shape;364;p34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400" b="1">
                  <a:solidFill>
                    <a:srgbClr val="FFFFFF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코어타임 방식</a:t>
              </a:r>
              <a:endParaRPr sz="2400" b="1">
                <a:solidFill>
                  <a:srgbClr val="FFFFFF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 b="1" i="1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"강제된 코어타임은 버리고, 몰입과 공유의 효율을 극대화합니다."</a:t>
              </a:r>
              <a:endParaRPr sz="1400" b="1" i="1">
                <a:solidFill>
                  <a:srgbClr val="94A3B8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365" name="Google Shape;365;p34"/>
          <p:cNvGrpSpPr/>
          <p:nvPr/>
        </p:nvGrpSpPr>
        <p:grpSpPr>
          <a:xfrm>
            <a:off x="381000" y="1047750"/>
            <a:ext cx="2667000" cy="3619500"/>
            <a:chOff x="381000" y="1047750"/>
            <a:chExt cx="2667000" cy="3619500"/>
          </a:xfrm>
        </p:grpSpPr>
        <p:sp>
          <p:nvSpPr>
            <p:cNvPr id="366" name="Google Shape;366;p34"/>
            <p:cNvSpPr/>
            <p:nvPr/>
          </p:nvSpPr>
          <p:spPr>
            <a:xfrm>
              <a:off x="381000" y="1047750"/>
              <a:ext cx="2667000" cy="3619500"/>
            </a:xfrm>
            <a:prstGeom prst="roundRect">
              <a:avLst>
                <a:gd name="adj" fmla="val 428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367" name="Google Shape;367;p34"/>
            <p:cNvSpPr txBox="1"/>
            <p:nvPr/>
          </p:nvSpPr>
          <p:spPr>
            <a:xfrm>
              <a:off x="381000" y="1047750"/>
              <a:ext cx="2667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8600" tIns="228600" rIns="228600" bIns="2286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3200" b="1">
                  <a:solidFill>
                    <a:srgbClr val="3B82F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schedule</a:t>
              </a:r>
              <a:endParaRPr sz="3200" b="1">
                <a:solidFill>
                  <a:srgbClr val="3B82F6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ko" sz="1600" b="1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No Core-Time</a:t>
              </a:r>
              <a:endParaRPr sz="1600" b="1">
                <a:solidFill>
                  <a:srgbClr val="1E293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ko" sz="1100" b="1">
                  <a:solidFill>
                    <a:srgbClr val="64748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자율적 시간 관리</a:t>
              </a:r>
              <a:endParaRPr sz="1100" b="1">
                <a:solidFill>
                  <a:srgbClr val="64748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-298450" algn="l" rtl="0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Nanum Gothic"/>
                <a:buChar char="●"/>
              </a:pPr>
              <a:r>
                <a:rPr lang="ko" sz="1100" b="1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특정 시간대 강제 '코어타임' 운영 폐지</a:t>
              </a:r>
              <a:endParaRPr sz="1100" b="1">
                <a:solidFill>
                  <a:srgbClr val="334155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-298450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Nanum Gothic"/>
                <a:buChar char="●"/>
              </a:pPr>
              <a:r>
                <a:rPr lang="ko" sz="1100" b="1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관습적 회의 제거로 개인별 업무 몰입도 향상</a:t>
              </a:r>
              <a:endParaRPr sz="1100" b="1">
                <a:solidFill>
                  <a:srgbClr val="334155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-298450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Nanum Gothic"/>
                <a:buChar char="●"/>
              </a:pPr>
              <a:r>
                <a:rPr lang="ko" sz="1100" b="1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코드 구현 시간 최대 확보</a:t>
              </a:r>
              <a:endParaRPr sz="1100" b="1">
                <a:solidFill>
                  <a:srgbClr val="334155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368" name="Google Shape;368;p34"/>
          <p:cNvGrpSpPr/>
          <p:nvPr/>
        </p:nvGrpSpPr>
        <p:grpSpPr>
          <a:xfrm>
            <a:off x="3238500" y="1047750"/>
            <a:ext cx="2667000" cy="3619500"/>
            <a:chOff x="3238500" y="1047750"/>
            <a:chExt cx="2667000" cy="3619500"/>
          </a:xfrm>
        </p:grpSpPr>
        <p:sp>
          <p:nvSpPr>
            <p:cNvPr id="369" name="Google Shape;369;p34"/>
            <p:cNvSpPr/>
            <p:nvPr/>
          </p:nvSpPr>
          <p:spPr>
            <a:xfrm>
              <a:off x="3238500" y="1047750"/>
              <a:ext cx="2667000" cy="3619500"/>
            </a:xfrm>
            <a:prstGeom prst="roundRect">
              <a:avLst>
                <a:gd name="adj" fmla="val 428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370" name="Google Shape;370;p34"/>
            <p:cNvSpPr txBox="1"/>
            <p:nvPr/>
          </p:nvSpPr>
          <p:spPr>
            <a:xfrm>
              <a:off x="3238500" y="1047750"/>
              <a:ext cx="2667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8600" tIns="228600" rIns="228600" bIns="2286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3200" b="1">
                  <a:solidFill>
                    <a:srgbClr val="10B98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bolt</a:t>
              </a:r>
              <a:endParaRPr sz="3200" b="1">
                <a:solidFill>
                  <a:srgbClr val="10B98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ko" sz="1600" b="1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On-Demand 회의</a:t>
              </a:r>
              <a:endParaRPr sz="1600" b="1">
                <a:solidFill>
                  <a:srgbClr val="1E293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ko" sz="1100" b="1">
                  <a:solidFill>
                    <a:srgbClr val="64748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즉석 협업</a:t>
              </a:r>
              <a:endParaRPr sz="1100" b="1">
                <a:solidFill>
                  <a:srgbClr val="64748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-298450" algn="l" rtl="0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Nanum Gothic"/>
                <a:buChar char="●"/>
              </a:pPr>
              <a:r>
                <a:rPr lang="ko" sz="1100" b="1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필요 시 즉시 호출하는 짧고 밀도 있는 회의</a:t>
              </a:r>
              <a:endParaRPr sz="1100" b="1">
                <a:solidFill>
                  <a:srgbClr val="334155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-298450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Nanum Gothic"/>
                <a:buChar char="●"/>
              </a:pPr>
              <a:r>
                <a:rPr lang="ko" sz="1100" b="1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형식에 얽매이지 않는 유연한 소통 구조</a:t>
              </a:r>
              <a:endParaRPr sz="1100" b="1">
                <a:solidFill>
                  <a:srgbClr val="334155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457200" lvl="0" indent="-298450" algn="l" rtl="0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Nanum Gothic"/>
                <a:buChar char="●"/>
              </a:pPr>
              <a:r>
                <a:rPr lang="ko" sz="1100" b="1">
                  <a:solidFill>
                    <a:srgbClr val="334155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실시간 의사결정 체계 구축</a:t>
              </a:r>
              <a:endParaRPr sz="1100" b="1">
                <a:solidFill>
                  <a:srgbClr val="334155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371" name="Google Shape;371;p34"/>
          <p:cNvGrpSpPr/>
          <p:nvPr/>
        </p:nvGrpSpPr>
        <p:grpSpPr>
          <a:xfrm>
            <a:off x="6096000" y="1047750"/>
            <a:ext cx="2667000" cy="3619500"/>
            <a:chOff x="6096000" y="1047750"/>
            <a:chExt cx="2667000" cy="3619500"/>
          </a:xfrm>
        </p:grpSpPr>
        <p:sp>
          <p:nvSpPr>
            <p:cNvPr id="372" name="Google Shape;372;p34"/>
            <p:cNvSpPr/>
            <p:nvPr/>
          </p:nvSpPr>
          <p:spPr>
            <a:xfrm>
              <a:off x="6096000" y="1047750"/>
              <a:ext cx="2667000" cy="3619500"/>
            </a:xfrm>
            <a:prstGeom prst="roundRect">
              <a:avLst>
                <a:gd name="adj" fmla="val 428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373" name="Google Shape;373;p34"/>
            <p:cNvSpPr txBox="1"/>
            <p:nvPr/>
          </p:nvSpPr>
          <p:spPr>
            <a:xfrm>
              <a:off x="6096000" y="1047750"/>
              <a:ext cx="2667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8600" tIns="228600" rIns="228600" bIns="2286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3200" b="1">
                  <a:solidFill>
                    <a:srgbClr val="F59E0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share</a:t>
              </a:r>
              <a:endParaRPr sz="3200" b="1">
                <a:solidFill>
                  <a:srgbClr val="F59E0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ko" sz="1600" b="1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Knowledge Sharing</a:t>
              </a:r>
              <a:endParaRPr sz="1600" b="1">
                <a:solidFill>
                  <a:srgbClr val="1E293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ko" sz="1100" b="1">
                  <a:solidFill>
                    <a:srgbClr val="64748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지식 공유 루틴</a:t>
              </a:r>
              <a:endParaRPr sz="1100" b="1">
                <a:solidFill>
                  <a:srgbClr val="64748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ko" sz="10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공유 시점: 코드 완료/학습 직후</a:t>
              </a:r>
              <a:endParaRPr sz="10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000" b="1">
                  <a:solidFill>
                    <a:srgbClr val="F59E0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1. 호출:</a:t>
              </a:r>
              <a:r>
                <a:rPr lang="ko" sz="1000" b="1">
                  <a:latin typeface="Nanum Gothic"/>
                  <a:ea typeface="Nanum Gothic"/>
                  <a:cs typeface="Nanum Gothic"/>
                  <a:sym typeface="Nanum Gothic"/>
                </a:rPr>
                <a:t> 성취 팀원이 공유 제안</a:t>
              </a:r>
              <a:endParaRPr sz="1000" b="1"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 b="1">
                  <a:solidFill>
                    <a:srgbClr val="F59E0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2. 설명:</a:t>
              </a:r>
              <a:r>
                <a:rPr lang="ko" sz="1000" b="1">
                  <a:latin typeface="Nanum Gothic"/>
                  <a:ea typeface="Nanum Gothic"/>
                  <a:cs typeface="Nanum Gothic"/>
                  <a:sym typeface="Nanum Gothic"/>
                </a:rPr>
                <a:t> 구현 및 학습 내용 브리핑</a:t>
              </a:r>
              <a:endParaRPr sz="1000" b="1"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000" b="1">
                  <a:solidFill>
                    <a:srgbClr val="F59E0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3. 검증:</a:t>
              </a:r>
              <a:r>
                <a:rPr lang="ko" sz="1000" b="1">
                  <a:latin typeface="Nanum Gothic"/>
                  <a:ea typeface="Nanum Gothic"/>
                  <a:cs typeface="Nanum Gothic"/>
                  <a:sym typeface="Nanum Gothic"/>
                </a:rPr>
                <a:t> 질의응답을 통한 보완</a:t>
              </a:r>
              <a:endParaRPr sz="1000"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5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>
                <a:solidFill>
                  <a:srgbClr val="FFFFFF"/>
                </a:solidFill>
                <a:latin typeface="Nanum Gothic"/>
                <a:ea typeface="Nanum Gothic"/>
                <a:cs typeface="Nanum Gothic"/>
                <a:sym typeface="Nanum Gothic"/>
              </a:rPr>
              <a:t>공부 내용</a:t>
            </a:r>
            <a:endParaRPr sz="2400" b="1">
              <a:solidFill>
                <a:srgbClr val="FFFFFF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i="1">
                <a:solidFill>
                  <a:srgbClr val="94A3B8"/>
                </a:solidFill>
                <a:latin typeface="Nanum Gothic"/>
                <a:ea typeface="Nanum Gothic"/>
                <a:cs typeface="Nanum Gothic"/>
                <a:sym typeface="Nanum Gothic"/>
              </a:rPr>
              <a:t>"</a:t>
            </a:r>
            <a:r>
              <a:rPr lang="ko" b="1" i="1">
                <a:solidFill>
                  <a:srgbClr val="94A3B8"/>
                </a:solidFill>
                <a:latin typeface="Nanum Gothic"/>
                <a:ea typeface="Nanum Gothic"/>
                <a:cs typeface="Nanum Gothic"/>
                <a:sym typeface="Nanum Gothic"/>
              </a:rPr>
              <a:t>쓰레드 생명주기 </a:t>
            </a:r>
            <a:r>
              <a:rPr lang="ko" sz="1400" b="1" i="1">
                <a:solidFill>
                  <a:srgbClr val="94A3B8"/>
                </a:solidFill>
                <a:latin typeface="Nanum Gothic"/>
                <a:ea typeface="Nanum Gothic"/>
                <a:cs typeface="Nanum Gothic"/>
                <a:sym typeface="Nanum Gothic"/>
              </a:rPr>
              <a:t>"</a:t>
            </a:r>
            <a:endParaRPr sz="1400" b="1" i="1">
              <a:solidFill>
                <a:srgbClr val="94A3B8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380" name="Google Shape;38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4725" y="1404674"/>
            <a:ext cx="6641423" cy="304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6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>
                <a:solidFill>
                  <a:srgbClr val="FFFFFF"/>
                </a:solidFill>
                <a:latin typeface="Nanum Gothic"/>
                <a:ea typeface="Nanum Gothic"/>
                <a:cs typeface="Nanum Gothic"/>
                <a:sym typeface="Nanum Gothic"/>
              </a:rPr>
              <a:t>공부 내용</a:t>
            </a:r>
            <a:endParaRPr sz="2400" b="1">
              <a:solidFill>
                <a:srgbClr val="FFFFFF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i="1">
                <a:solidFill>
                  <a:srgbClr val="94A3B8"/>
                </a:solidFill>
                <a:latin typeface="Nanum Gothic"/>
                <a:ea typeface="Nanum Gothic"/>
                <a:cs typeface="Nanum Gothic"/>
                <a:sym typeface="Nanum Gothic"/>
              </a:rPr>
              <a:t>"C언어의 특성을 활용한 효율적인 구조체 역산 설계"</a:t>
            </a:r>
            <a:endParaRPr sz="1400" b="1" i="1">
              <a:solidFill>
                <a:srgbClr val="94A3B8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387" name="Google Shape;387;p36"/>
          <p:cNvGrpSpPr/>
          <p:nvPr/>
        </p:nvGrpSpPr>
        <p:grpSpPr>
          <a:xfrm>
            <a:off x="381000" y="1047750"/>
            <a:ext cx="4191000" cy="1714500"/>
            <a:chOff x="381000" y="1047750"/>
            <a:chExt cx="4191000" cy="1714500"/>
          </a:xfrm>
        </p:grpSpPr>
        <p:sp>
          <p:nvSpPr>
            <p:cNvPr id="388" name="Google Shape;388;p36"/>
            <p:cNvSpPr/>
            <p:nvPr/>
          </p:nvSpPr>
          <p:spPr>
            <a:xfrm>
              <a:off x="381000" y="1047750"/>
              <a:ext cx="41910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389" name="Google Shape;389;p36"/>
            <p:cNvSpPr txBox="1"/>
            <p:nvPr/>
          </p:nvSpPr>
          <p:spPr>
            <a:xfrm>
              <a:off x="609600" y="1190625"/>
              <a:ext cx="3733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500" b="1">
                  <a:solidFill>
                    <a:srgbClr val="3B82F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settings_backup_restore</a:t>
              </a:r>
              <a:endParaRPr sz="2500" b="1">
                <a:solidFill>
                  <a:srgbClr val="3B82F6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600" b="1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역산(Reverse Mapping)의 원리</a:t>
              </a:r>
              <a:endParaRPr sz="1600" b="1">
                <a:solidFill>
                  <a:srgbClr val="1E293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ko" sz="11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멤버의 주소에서 해당 멤버가 구조체 내부에 위치한 거리를 빼서 부모 구조체의 시작 주소를 얻는 방식입니다.</a:t>
              </a:r>
              <a:endParaRPr sz="11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390" name="Google Shape;390;p36"/>
          <p:cNvGrpSpPr/>
          <p:nvPr/>
        </p:nvGrpSpPr>
        <p:grpSpPr>
          <a:xfrm>
            <a:off x="381000" y="2952750"/>
            <a:ext cx="4191000" cy="1714500"/>
            <a:chOff x="381000" y="2952750"/>
            <a:chExt cx="4191000" cy="1714500"/>
          </a:xfrm>
        </p:grpSpPr>
        <p:sp>
          <p:nvSpPr>
            <p:cNvPr id="391" name="Google Shape;391;p36"/>
            <p:cNvSpPr/>
            <p:nvPr/>
          </p:nvSpPr>
          <p:spPr>
            <a:xfrm>
              <a:off x="381000" y="2952750"/>
              <a:ext cx="41910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392" name="Google Shape;392;p36"/>
            <p:cNvSpPr txBox="1"/>
            <p:nvPr/>
          </p:nvSpPr>
          <p:spPr>
            <a:xfrm>
              <a:off x="609600" y="3095625"/>
              <a:ext cx="3733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500" b="1">
                  <a:solidFill>
                    <a:srgbClr val="10B981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code</a:t>
              </a:r>
              <a:endParaRPr sz="2500" b="1">
                <a:solidFill>
                  <a:srgbClr val="10B981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600" b="1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C언어이기에 가능한 기법</a:t>
              </a:r>
              <a:endParaRPr sz="1600" b="1">
                <a:solidFill>
                  <a:srgbClr val="1E293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ko" sz="11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포인터 산술 연산을 허용하는 C언어의 특성을 극한으로 활용한 설계입니다.</a:t>
              </a:r>
              <a:endParaRPr sz="11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393" name="Google Shape;393;p36"/>
          <p:cNvGrpSpPr/>
          <p:nvPr/>
        </p:nvGrpSpPr>
        <p:grpSpPr>
          <a:xfrm>
            <a:off x="4762500" y="3429000"/>
            <a:ext cx="4000500" cy="1238400"/>
            <a:chOff x="4762500" y="3429000"/>
            <a:chExt cx="4000500" cy="1238400"/>
          </a:xfrm>
        </p:grpSpPr>
        <p:sp>
          <p:nvSpPr>
            <p:cNvPr id="394" name="Google Shape;394;p36"/>
            <p:cNvSpPr/>
            <p:nvPr/>
          </p:nvSpPr>
          <p:spPr>
            <a:xfrm>
              <a:off x="4762500" y="3429000"/>
              <a:ext cx="4000500" cy="1238400"/>
            </a:xfrm>
            <a:prstGeom prst="roundRect">
              <a:avLst>
                <a:gd name="adj" fmla="val 9230"/>
              </a:avLst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395" name="Google Shape;395;p36"/>
            <p:cNvSpPr txBox="1"/>
            <p:nvPr/>
          </p:nvSpPr>
          <p:spPr>
            <a:xfrm>
              <a:off x="4953000" y="3571875"/>
              <a:ext cx="3619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400" b="1">
                  <a:solidFill>
                    <a:srgbClr val="2563E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강력한 장점</a:t>
              </a:r>
              <a:endParaRPr sz="1400" b="1">
                <a:solidFill>
                  <a:srgbClr val="2563E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100" b="1">
                  <a:solidFill>
                    <a:srgbClr val="1E40AF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구조체 내부에 하나의 list pointer로, 서로 다른 멤버에 대한 리스트(priority, wake_up_time)를 구현할 수 있습니다.</a:t>
              </a:r>
              <a:endParaRPr sz="1100" b="1">
                <a:solidFill>
                  <a:srgbClr val="1E40AF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pic>
        <p:nvPicPr>
          <p:cNvPr id="396" name="Google Shape;396;p36" title="Gemini_Generated_Image_sjz2f6sjz2f6sjz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2500" y="1014930"/>
            <a:ext cx="4000502" cy="218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7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>
                <a:solidFill>
                  <a:srgbClr val="FFFFFF"/>
                </a:solidFill>
                <a:latin typeface="Nanum Gothic"/>
                <a:ea typeface="Nanum Gothic"/>
                <a:cs typeface="Nanum Gothic"/>
                <a:sym typeface="Nanum Gothic"/>
              </a:rPr>
              <a:t>트러블 슈팅</a:t>
            </a:r>
            <a:endParaRPr sz="2400" b="1">
              <a:solidFill>
                <a:srgbClr val="FFFFFF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i="1">
                <a:solidFill>
                  <a:srgbClr val="94A3B8"/>
                </a:solidFill>
                <a:latin typeface="Nanum Gothic"/>
                <a:ea typeface="Nanum Gothic"/>
                <a:cs typeface="Nanum Gothic"/>
                <a:sym typeface="Nanum Gothic"/>
              </a:rPr>
              <a:t>"코드 동기화의 중요성: 4시간의 디버깅이 남긴 교훈"</a:t>
            </a:r>
            <a:endParaRPr sz="1400" b="1" i="1">
              <a:solidFill>
                <a:srgbClr val="94A3B8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403" name="Google Shape;403;p37"/>
          <p:cNvGrpSpPr/>
          <p:nvPr/>
        </p:nvGrpSpPr>
        <p:grpSpPr>
          <a:xfrm>
            <a:off x="381000" y="1047750"/>
            <a:ext cx="4191000" cy="1714500"/>
            <a:chOff x="381000" y="1047750"/>
            <a:chExt cx="4191000" cy="1714500"/>
          </a:xfrm>
        </p:grpSpPr>
        <p:sp>
          <p:nvSpPr>
            <p:cNvPr id="404" name="Google Shape;404;p37"/>
            <p:cNvSpPr/>
            <p:nvPr/>
          </p:nvSpPr>
          <p:spPr>
            <a:xfrm>
              <a:off x="381000" y="1047750"/>
              <a:ext cx="41910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405" name="Google Shape;405;p37"/>
            <p:cNvSpPr txBox="1"/>
            <p:nvPr/>
          </p:nvSpPr>
          <p:spPr>
            <a:xfrm>
              <a:off x="609600" y="1190625"/>
              <a:ext cx="3733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800" b="1">
                  <a:solidFill>
                    <a:srgbClr val="EF4444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error_outline</a:t>
              </a:r>
              <a:endParaRPr sz="2800" b="1">
                <a:solidFill>
                  <a:srgbClr val="EF4444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600" b="1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문제 상황</a:t>
              </a:r>
              <a:endParaRPr sz="1600" b="1">
                <a:solidFill>
                  <a:srgbClr val="1E293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ko" sz="11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priority-change 구현 중 원인 모를 에러 발생</a:t>
              </a:r>
              <a:endParaRPr sz="11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1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로직 문제인 줄 알고 4시간 동안 디버깅했으나 해결 못 함</a:t>
              </a:r>
              <a:endParaRPr sz="11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406" name="Google Shape;406;p37"/>
          <p:cNvGrpSpPr/>
          <p:nvPr/>
        </p:nvGrpSpPr>
        <p:grpSpPr>
          <a:xfrm>
            <a:off x="381000" y="2952750"/>
            <a:ext cx="4191000" cy="1714500"/>
            <a:chOff x="381000" y="2952750"/>
            <a:chExt cx="4191000" cy="1714500"/>
          </a:xfrm>
        </p:grpSpPr>
        <p:sp>
          <p:nvSpPr>
            <p:cNvPr id="407" name="Google Shape;407;p37"/>
            <p:cNvSpPr/>
            <p:nvPr/>
          </p:nvSpPr>
          <p:spPr>
            <a:xfrm>
              <a:off x="381000" y="2952750"/>
              <a:ext cx="41910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408" name="Google Shape;408;p37"/>
            <p:cNvSpPr txBox="1"/>
            <p:nvPr/>
          </p:nvSpPr>
          <p:spPr>
            <a:xfrm>
              <a:off x="609600" y="3095625"/>
              <a:ext cx="3733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800" b="1">
                  <a:solidFill>
                    <a:srgbClr val="F59E0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search</a:t>
              </a:r>
              <a:endParaRPr sz="2800" b="1">
                <a:solidFill>
                  <a:srgbClr val="F59E0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600" b="1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실제 원인: "팀원 코드가 없었다"</a:t>
              </a:r>
              <a:endParaRPr sz="1600" b="1">
                <a:solidFill>
                  <a:srgbClr val="1E293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lang="ko" sz="11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팀원이 업데이트한 최신 코드를 받지 않은 상태에서 내 코드만 수정</a:t>
              </a:r>
              <a:endParaRPr sz="11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ko" sz="11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결국 완성된 코드가 서로 맞지 않아 작동하지 않았던 것</a:t>
              </a:r>
              <a:endParaRPr sz="11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409" name="Google Shape;409;p37"/>
          <p:cNvGrpSpPr/>
          <p:nvPr/>
        </p:nvGrpSpPr>
        <p:grpSpPr>
          <a:xfrm>
            <a:off x="4762500" y="1047750"/>
            <a:ext cx="4000500" cy="3619500"/>
            <a:chOff x="4762500" y="1047750"/>
            <a:chExt cx="4000500" cy="3619500"/>
          </a:xfrm>
        </p:grpSpPr>
        <p:sp>
          <p:nvSpPr>
            <p:cNvPr id="410" name="Google Shape;410;p37"/>
            <p:cNvSpPr/>
            <p:nvPr/>
          </p:nvSpPr>
          <p:spPr>
            <a:xfrm>
              <a:off x="4762500" y="1047750"/>
              <a:ext cx="4000500" cy="3619500"/>
            </a:xfrm>
            <a:prstGeom prst="roundRect">
              <a:avLst>
                <a:gd name="adj" fmla="val 3157"/>
              </a:avLst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411" name="Google Shape;411;p37"/>
            <p:cNvSpPr txBox="1"/>
            <p:nvPr/>
          </p:nvSpPr>
          <p:spPr>
            <a:xfrm>
              <a:off x="4991100" y="1276350"/>
              <a:ext cx="3543300" cy="316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b="1">
                <a:solidFill>
                  <a:srgbClr val="3B82F6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ko" sz="2000" b="1">
                  <a:solidFill>
                    <a:srgbClr val="1E40AF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배운 점 (Lesson Learned)</a:t>
              </a:r>
              <a:endParaRPr sz="2000" b="1">
                <a:solidFill>
                  <a:srgbClr val="1E40AF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lang="ko" sz="1400" b="1">
                  <a:solidFill>
                    <a:srgbClr val="1E3A8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1. 무조건 git pull부터</a:t>
              </a:r>
              <a:endParaRPr sz="1400" b="1">
                <a:solidFill>
                  <a:srgbClr val="1E3A8A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ko" sz="1100" b="1">
                  <a:solidFill>
                    <a:srgbClr val="3B82F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개발 시작 전에는 반드시 팀원 코드와 합치기</a:t>
              </a:r>
              <a:endParaRPr sz="1100" b="1">
                <a:solidFill>
                  <a:srgbClr val="3B82F6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ko" sz="1400" b="1">
                  <a:solidFill>
                    <a:srgbClr val="1E3A8A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2. 환경부터 확인</a:t>
              </a:r>
              <a:endParaRPr sz="1400" b="1">
                <a:solidFill>
                  <a:srgbClr val="1E3A8A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ko" sz="1100" b="1">
                  <a:solidFill>
                    <a:srgbClr val="3B82F6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코드가 안 돌면 내 실력을 의심하기 전에 환경부터 체크하기</a:t>
              </a:r>
              <a:endParaRPr sz="1100" b="1">
                <a:solidFill>
                  <a:srgbClr val="3B82F6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8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38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b="1">
                <a:solidFill>
                  <a:srgbClr val="FFFFFF"/>
                </a:solidFill>
                <a:latin typeface="Nanum Gothic"/>
                <a:ea typeface="Nanum Gothic"/>
                <a:cs typeface="Nanum Gothic"/>
                <a:sym typeface="Nanum Gothic"/>
              </a:rPr>
              <a:t>트러블 슈팅</a:t>
            </a:r>
            <a:endParaRPr sz="2400" b="1">
              <a:solidFill>
                <a:srgbClr val="FFFFFF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i="1">
                <a:solidFill>
                  <a:srgbClr val="94A3B8"/>
                </a:solidFill>
                <a:latin typeface="Nanum Gothic"/>
                <a:ea typeface="Nanum Gothic"/>
                <a:cs typeface="Nanum Gothic"/>
                <a:sym typeface="Nanum Gothic"/>
              </a:rPr>
              <a:t>"연결 리스트 연산 순서 및 캡슐화로 인한 실수 방지"</a:t>
            </a:r>
            <a:endParaRPr sz="1400" b="1" i="1">
              <a:solidFill>
                <a:srgbClr val="94A3B8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grpSp>
        <p:nvGrpSpPr>
          <p:cNvPr id="418" name="Google Shape;418;p38"/>
          <p:cNvGrpSpPr/>
          <p:nvPr/>
        </p:nvGrpSpPr>
        <p:grpSpPr>
          <a:xfrm>
            <a:off x="381000" y="1047750"/>
            <a:ext cx="4191000" cy="1714500"/>
            <a:chOff x="381000" y="1047750"/>
            <a:chExt cx="4191000" cy="1714500"/>
          </a:xfrm>
        </p:grpSpPr>
        <p:sp>
          <p:nvSpPr>
            <p:cNvPr id="419" name="Google Shape;419;p38"/>
            <p:cNvSpPr/>
            <p:nvPr/>
          </p:nvSpPr>
          <p:spPr>
            <a:xfrm>
              <a:off x="381000" y="1047750"/>
              <a:ext cx="41910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420" name="Google Shape;420;p38"/>
            <p:cNvSpPr txBox="1"/>
            <p:nvPr/>
          </p:nvSpPr>
          <p:spPr>
            <a:xfrm>
              <a:off x="609600" y="1190625"/>
              <a:ext cx="3733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800" b="1">
                  <a:solidFill>
                    <a:srgbClr val="EF4444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warning</a:t>
              </a:r>
              <a:endParaRPr sz="2800" b="1">
                <a:solidFill>
                  <a:srgbClr val="EF4444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ko" sz="1600" b="1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주요 이슈: 연산 순서 주의</a:t>
              </a:r>
              <a:endParaRPr sz="1600" b="1">
                <a:solidFill>
                  <a:srgbClr val="1E293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1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리스트에서 요소를 꺼내고 다른 리스트에 삽입하는 과정에서 잘못된 연산 순서 설정으로 인한 오류 발생 가능성</a:t>
              </a:r>
              <a:endParaRPr sz="11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421" name="Google Shape;421;p38"/>
          <p:cNvGrpSpPr/>
          <p:nvPr/>
        </p:nvGrpSpPr>
        <p:grpSpPr>
          <a:xfrm>
            <a:off x="381000" y="2952750"/>
            <a:ext cx="4191000" cy="1714500"/>
            <a:chOff x="381000" y="2952750"/>
            <a:chExt cx="4191000" cy="1714500"/>
          </a:xfrm>
        </p:grpSpPr>
        <p:sp>
          <p:nvSpPr>
            <p:cNvPr id="422" name="Google Shape;422;p38"/>
            <p:cNvSpPr/>
            <p:nvPr/>
          </p:nvSpPr>
          <p:spPr>
            <a:xfrm>
              <a:off x="381000" y="2952750"/>
              <a:ext cx="41910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423" name="Google Shape;423;p38"/>
            <p:cNvSpPr txBox="1"/>
            <p:nvPr/>
          </p:nvSpPr>
          <p:spPr>
            <a:xfrm>
              <a:off x="609600" y="3095625"/>
              <a:ext cx="3733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2800" b="1">
                  <a:solidFill>
                    <a:srgbClr val="F59E0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visibility_off</a:t>
              </a:r>
              <a:endParaRPr sz="2800" b="1">
                <a:solidFill>
                  <a:srgbClr val="F59E0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ko" sz="1600" b="1">
                  <a:solidFill>
                    <a:srgbClr val="1E293B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발생 원인: 로직의 캡슐화</a:t>
              </a:r>
              <a:endParaRPr sz="1600" b="1">
                <a:solidFill>
                  <a:srgbClr val="1E293B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100" b="1">
                  <a:solidFill>
                    <a:srgbClr val="475569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삽입/삭제 과정이 다른 함수에 포함되어 감춰져 있기 때문에, 내부 동작을 간과하여 실수가 빈번하게 발생함</a:t>
              </a:r>
              <a:endParaRPr sz="1100" b="1">
                <a:solidFill>
                  <a:srgbClr val="475569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grpSp>
        <p:nvGrpSpPr>
          <p:cNvPr id="424" name="Google Shape;424;p38"/>
          <p:cNvGrpSpPr/>
          <p:nvPr/>
        </p:nvGrpSpPr>
        <p:grpSpPr>
          <a:xfrm>
            <a:off x="4762500" y="1047750"/>
            <a:ext cx="4000500" cy="3619500"/>
            <a:chOff x="4762500" y="1047750"/>
            <a:chExt cx="4000500" cy="3619500"/>
          </a:xfrm>
        </p:grpSpPr>
        <p:sp>
          <p:nvSpPr>
            <p:cNvPr id="425" name="Google Shape;425;p38"/>
            <p:cNvSpPr/>
            <p:nvPr/>
          </p:nvSpPr>
          <p:spPr>
            <a:xfrm>
              <a:off x="4762500" y="1047750"/>
              <a:ext cx="4000500" cy="3619500"/>
            </a:xfrm>
            <a:prstGeom prst="roundRect">
              <a:avLst>
                <a:gd name="adj" fmla="val 3157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  <p:sp>
          <p:nvSpPr>
            <p:cNvPr id="426" name="Google Shape;426;p38"/>
            <p:cNvSpPr txBox="1"/>
            <p:nvPr/>
          </p:nvSpPr>
          <p:spPr>
            <a:xfrm>
              <a:off x="4991100" y="1276350"/>
              <a:ext cx="3543300" cy="316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600" b="1">
                  <a:solidFill>
                    <a:srgbClr val="F8FAFC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예시</a:t>
              </a:r>
              <a:endParaRPr sz="1600" b="1">
                <a:solidFill>
                  <a:srgbClr val="F8FAFC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endParaRPr sz="1200" b="1">
                <a:solidFill>
                  <a:srgbClr val="94A3B8"/>
                </a:solidFill>
                <a:highlight>
                  <a:srgbClr val="0F172A"/>
                </a:highlight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endParaRPr sz="1200" b="1">
                <a:solidFill>
                  <a:srgbClr val="94A3B8"/>
                </a:solidFill>
                <a:highlight>
                  <a:srgbClr val="0F172A"/>
                </a:highlight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endParaRPr sz="1100" b="1" i="1">
                <a:solidFill>
                  <a:srgbClr val="94A3B8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endParaRPr sz="1100" b="1" i="1">
                <a:solidFill>
                  <a:srgbClr val="94A3B8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ko" sz="1100" b="1" i="1">
                  <a:solidFill>
                    <a:srgbClr val="94A3B8"/>
                  </a:solidFill>
                  <a:latin typeface="Nanum Gothic"/>
                  <a:ea typeface="Nanum Gothic"/>
                  <a:cs typeface="Nanum Gothic"/>
                  <a:sym typeface="Nanum Gothic"/>
                </a:rPr>
                <a:t>특정 함수들은 내부적으로 리스트 상태를 변경하므로, 호출 순서가 쓰레드 상태 일관성에 결정적인 영향을 미칩니다.</a:t>
              </a:r>
              <a:endParaRPr sz="1100" b="1" i="1">
                <a:solidFill>
                  <a:srgbClr val="94A3B8"/>
                </a:solidFill>
                <a:latin typeface="Nanum Gothic"/>
                <a:ea typeface="Nanum Gothic"/>
                <a:cs typeface="Nanum Gothic"/>
                <a:sym typeface="Nanum Gothic"/>
              </a:endParaRPr>
            </a:p>
          </p:txBody>
        </p:sp>
      </p:grpSp>
      <p:pic>
        <p:nvPicPr>
          <p:cNvPr id="427" name="Google Shape;427;p38" title="Screenshot 2026-04-30 at 2.44.1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6450" y="2083250"/>
            <a:ext cx="3532600" cy="67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1281</Words>
  <Application>Microsoft Office PowerPoint</Application>
  <PresentationFormat>화면 슬라이드 쇼(16:9)</PresentationFormat>
  <Paragraphs>240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Courier New</vt:lpstr>
      <vt:lpstr>NanumGothicExtraBold</vt:lpstr>
      <vt:lpstr>Nanum Gothic</vt:lpstr>
      <vt:lpstr>Arial</vt:lpstr>
      <vt:lpstr>Simple Light</vt:lpstr>
      <vt:lpstr>WEEK 9 TEAM 03</vt:lpstr>
      <vt:lpstr>KDA - 김다애</vt:lpstr>
      <vt:lpstr>진행률 리포트</vt:lpstr>
      <vt:lpstr>9주차 협업 방식</vt:lpstr>
      <vt:lpstr>브랜치 전략</vt:lpstr>
      <vt:lpstr>트러블 슈팅: 깃허브 브랜치 네이밍</vt:lpstr>
      <vt:lpstr>트러블 슈팅: 깃허브 브랜치 네이밍</vt:lpstr>
      <vt:lpstr>judy - 주호석</vt:lpstr>
      <vt:lpstr>PowerPoint 프레젠테이션</vt:lpstr>
      <vt:lpstr>PowerPoint 프레젠테이션</vt:lpstr>
      <vt:lpstr>PowerPoint 프레젠테이션</vt:lpstr>
      <vt:lpstr>깃허브 전략 실패 분석</vt:lpstr>
      <vt:lpstr>깃허브 전략 실패 분석</vt:lpstr>
      <vt:lpstr>PowerPoint 프레젠테이션</vt:lpstr>
      <vt:lpstr>PowerPoint 프레젠테이션</vt:lpstr>
      <vt:lpstr>NICK-조범상</vt:lpstr>
      <vt:lpstr>나의 진행률</vt:lpstr>
      <vt:lpstr>초기 협업 문제</vt:lpstr>
      <vt:lpstr>중기 협업의 문제</vt:lpstr>
      <vt:lpstr>PowerPoint 프레젠테이션</vt:lpstr>
      <vt:lpstr>SONNY-정범진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Runner</dc:creator>
  <cp:lastModifiedBy>김다애</cp:lastModifiedBy>
  <cp:revision>6</cp:revision>
  <dcterms:modified xsi:type="dcterms:W3CDTF">2026-05-12T05:05:07Z</dcterms:modified>
</cp:coreProperties>
</file>