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24384000" cy="13716000"/>
  <p:notesSz cx="6858000" cy="9144000"/>
  <p:embeddedFontLst>
    <p:embeddedFont>
      <p:font typeface="Gmarket Sans Bold"/>
      <p:bold r:id="rId30"/>
    </p:embeddedFont>
    <p:embeddedFont>
      <p:font typeface="Gmarket Sans Medium"/>
      <p:regular r:id="rId31"/>
    </p:embeddedFont>
    <p:embeddedFont>
      <p:font typeface="Pretendard Bold"/>
      <p:bold r:id="rId32"/>
    </p:embeddedFont>
    <p:embeddedFont>
      <p:font typeface="Pretendard Black"/>
      <p:bold r:id="rId33"/>
    </p:embeddedFont>
    <p:embeddedFont>
      <p:font typeface="Pretendard Regular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1.fntdata" Type="http://schemas.openxmlformats.org/officeDocument/2006/relationships/font"/><Relationship Id="rId31" Target="fonts/font2.fntdata" Type="http://schemas.openxmlformats.org/officeDocument/2006/relationships/font"/><Relationship Id="rId32" Target="fonts/font3.fntdata" Type="http://schemas.openxmlformats.org/officeDocument/2006/relationships/font"/><Relationship Id="rId33" Target="fonts/font4.fntdata" Type="http://schemas.openxmlformats.org/officeDocument/2006/relationships/font"/><Relationship Id="rId34" Target="fonts/font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576800" y="11734800"/>
            <a:ext cx="8420100" cy="876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1752600"/>
            <a:ext cx="24384000" cy="11963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302000" y="-4927600"/>
            <a:ext cx="15671800" cy="13855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50900" y="7493000"/>
            <a:ext cx="13106400" cy="1930400"/>
          </a:xfrm>
          <a:prstGeom prst="rect">
            <a:avLst/>
          </a:prstGeom>
        </p:spPr>
        <p:txBody>
          <a:bodyPr anchor="ctr" rtlCol="false" lIns="0" tIns="92188" rIns="0" bIns="92188"/>
          <a:lstStyle/>
          <a:p>
            <a:pPr algn="l" lvl="0">
              <a:lnSpc>
                <a:spcPct val="99600"/>
              </a:lnSpc>
            </a:pPr>
            <a:r>
              <a:rPr lang="en-US" sz="10888" b="false" i="false" u="none" strike="noStrike">
                <a:solidFill>
                  <a:srgbClr val="FFFFFF">
                    <a:alpha val="90196"/>
                  </a:srgbClr>
                </a:solidFill>
                <a:latin typeface="Gmarket Sans Medium"/>
                <a:ea typeface="Gmarket Sans Medium"/>
                <a:cs typeface="Gmarket Sans Medium"/>
              </a:rPr>
              <a:t>PintOS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0900" y="11709400"/>
            <a:ext cx="233172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4433" b="false" i="false" u="none" strike="noStrike" spc="200">
                <a:solidFill>
                  <a:srgbClr val="FFFFFF"/>
                </a:solidFill>
                <a:latin typeface="Gmarket Sans Medium"/>
                <a:ea typeface="Gmarket Sans Medium"/>
                <a:cs typeface="Gmarket Sans Medium"/>
              </a:rPr>
              <a:t>Krafton Jungle Soft AI Team 303-2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900" y="9118600"/>
            <a:ext cx="17843500" cy="2616200"/>
          </a:xfrm>
          <a:prstGeom prst="rect">
            <a:avLst/>
          </a:prstGeom>
        </p:spPr>
        <p:txBody>
          <a:bodyPr anchor="ctr" rtlCol="false" lIns="0" tIns="141129" rIns="0" bIns="141129"/>
          <a:lstStyle/>
          <a:p>
            <a:pPr algn="l" lvl="0">
              <a:lnSpc>
                <a:spcPct val="99600"/>
              </a:lnSpc>
            </a:pPr>
            <a:r>
              <a:rPr lang="en-US" sz="14691" b="false" i="false" u="none" strike="noStrike">
                <a:solidFill>
                  <a:srgbClr val="FFFFFF">
                    <a:alpha val="90196"/>
                  </a:srgbClr>
                </a:solidFill>
                <a:latin typeface="Gmarket Sans Bold"/>
                <a:ea typeface="Gmarket Sans Bold"/>
                <a:cs typeface="Gmarket Sans Bold"/>
              </a:rPr>
              <a:t>Thread Project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56000"/>
          </a:blip>
          <a:stretch>
            <a:fillRect/>
          </a:stretch>
        </p:blipFill>
        <p:spPr>
          <a:xfrm rot="0">
            <a:off x="6451600" y="8369300"/>
            <a:ext cx="26416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9500" y="647700"/>
            <a:ext cx="26797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409" b="false" i="false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목차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3000" y="3149600"/>
            <a:ext cx="20205700" cy="946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AutoNum type="arabicPeriod" startAt="1"/>
            </a:pPr>
            <a:r>
              <a:rPr lang="en-US" sz="8864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협업방식</a:t>
            </a:r>
          </a:p>
          <a:p>
            <a:pPr algn="l" lvl="1" marL="342900" indent="-342900">
              <a:lnSpc>
                <a:spcPct val="116199"/>
              </a:lnSpc>
              <a:buAutoNum type="arabicPeriod" startAt="1"/>
            </a:pPr>
            <a:r>
              <a:rPr lang="en-US" sz="8864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진행률</a:t>
            </a:r>
          </a:p>
          <a:p>
            <a:pPr algn="l" lvl="1" marL="342900" indent="-342900">
              <a:lnSpc>
                <a:spcPct val="116199"/>
              </a:lnSpc>
              <a:buAutoNum type="arabicPeriod" startAt="1"/>
            </a:pPr>
            <a:r>
              <a:rPr lang="en-US" sz="8864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Alarm clock</a:t>
            </a:r>
          </a:p>
          <a:p>
            <a:pPr algn="l" lvl="1" marL="342900" indent="-342900">
              <a:lnSpc>
                <a:spcPct val="116199"/>
              </a:lnSpc>
              <a:buAutoNum type="arabicPeriod" startAt="1"/>
            </a:pPr>
            <a:r>
              <a:rPr lang="en-US" sz="8864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Priority Schedule</a:t>
            </a:r>
          </a:p>
          <a:p>
            <a:pPr algn="l" lvl="1" marL="342900" indent="-342900">
              <a:lnSpc>
                <a:spcPct val="116199"/>
              </a:lnSpc>
              <a:buAutoNum type="arabicPeriod" startAt="1"/>
            </a:pPr>
            <a:r>
              <a:rPr lang="en-US" sz="8864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Semaphore, Condition Variable</a:t>
            </a:r>
          </a:p>
          <a:p>
            <a:pPr algn="l" lvl="1" marL="342900" indent="-342900">
              <a:lnSpc>
                <a:spcPct val="116199"/>
              </a:lnSpc>
              <a:buAutoNum type="arabicPeriod" startAt="1"/>
            </a:pPr>
            <a:r>
              <a:rPr lang="en-US" sz="8864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회고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55800" y="1041400"/>
            <a:ext cx="62992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409" b="false" i="false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1. 협업방식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54200" y="3429000"/>
            <a:ext cx="21844000" cy="377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AutoNum type="arabicPeriod" startAt="1"/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pintos 개념 동료학습을 통해 효율 극대화</a:t>
            </a:r>
          </a:p>
          <a:p>
            <a:pPr algn="l" lvl="1" marL="342900" indent="-342900">
              <a:lnSpc>
                <a:spcPct val="116199"/>
              </a:lnSpc>
              <a:buAutoNum type="arabicPeriod" startAt="1"/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학습시간 정하고, 작업내용 공유 및 모르는 부분 정리</a:t>
            </a:r>
          </a:p>
          <a:p>
            <a:pPr algn="l" lvl="1" marL="342900" indent="-342900">
              <a:lnSpc>
                <a:spcPct val="116199"/>
              </a:lnSpc>
              <a:buAutoNum type="arabicPeriod" startAt="1"/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동료들간 코드 리뷰를 통해 오류 사항 해결 및 이해도 향상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052300" y="6515100"/>
            <a:ext cx="2667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988800" y="6273800"/>
            <a:ext cx="4064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41200" y="6426200"/>
            <a:ext cx="4064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10200" y="965200"/>
            <a:ext cx="14084300" cy="937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857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5857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핵심 성과 지표</a:t>
            </a:r>
          </a:p>
          <a:p>
            <a:pPr algn="ctr" lvl="0">
              <a:lnSpc>
                <a:spcPct val="116199"/>
              </a:lnSpc>
            </a:pPr>
            <a:r>
              <a:rPr lang="en-US" sz="5857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5857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Threads Total 11 / 27 (41%)</a:t>
            </a:r>
          </a:p>
          <a:p>
            <a:pPr algn="ctr" lvl="0">
              <a:lnSpc>
                <a:spcPct val="116199"/>
              </a:lnSpc>
            </a:pPr>
            <a:r>
              <a:rPr lang="en-US" sz="5857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5857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Alarm Clock 6 / 6 (100%)</a:t>
            </a:r>
          </a:p>
          <a:p>
            <a:pPr algn="ctr" lvl="0">
              <a:lnSpc>
                <a:spcPct val="116199"/>
              </a:lnSpc>
            </a:pPr>
            <a:r>
              <a:rPr lang="en-US" sz="5857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5857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Priority Scheduling 5 / 12 (42%)</a:t>
            </a:r>
          </a:p>
          <a:p>
            <a:pPr algn="ctr" lvl="0">
              <a:lnSpc>
                <a:spcPct val="116199"/>
              </a:lnSpc>
            </a:pPr>
            <a:r>
              <a:rPr lang="en-US" sz="5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9800" y="660400"/>
            <a:ext cx="53340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409" b="false" i="false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2. 진행률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0" y="5930900"/>
            <a:ext cx="83185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409" b="false" i="false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Alarm Clock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800" y="863600"/>
            <a:ext cx="76581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Alarm Clock 이란?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988800" y="6273800"/>
            <a:ext cx="4064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41200" y="6426200"/>
            <a:ext cx="4064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93600" y="6578600"/>
            <a:ext cx="4064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46000" y="6731000"/>
            <a:ext cx="4064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12800" y="3086100"/>
            <a:ext cx="10807700" cy="8458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800" y="863600"/>
            <a:ext cx="133477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기존 구현의 문제점 : Busy-Waiting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865100" y="3962400"/>
            <a:ext cx="8496300" cy="6769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98700" y="3594100"/>
            <a:ext cx="7759700" cy="4648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98700" y="8648700"/>
            <a:ext cx="8483600" cy="349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800" y="863600"/>
            <a:ext cx="75438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Sleep &amp; Wake-up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41400" y="5664200"/>
            <a:ext cx="5486400" cy="3136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800" y="863600"/>
            <a:ext cx="51435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핵심코드 구현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2844800"/>
            <a:ext cx="12217400" cy="8915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800" y="863600"/>
            <a:ext cx="75438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Sleep &amp; Wake-up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64000" y="5384800"/>
            <a:ext cx="15100300" cy="189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06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priority우선순위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00500" y="4064000"/>
            <a:ext cx="15100300" cy="189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06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priority우선순위 란?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7429500"/>
            <a:ext cx="22339300" cy="2400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674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우선순위(priority)는 ready 상태의 스레드들 사이에서 CPU를 </a:t>
            </a:r>
          </a:p>
          <a:p>
            <a:pPr algn="ctr" lvl="0">
              <a:lnSpc>
                <a:spcPct val="116199"/>
              </a:lnSpc>
            </a:pPr>
            <a:r>
              <a:rPr lang="en-US" sz="674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누구에게 먼저 할당할지를 판단하는 기준입니다.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2900" y="901700"/>
            <a:ext cx="7899400" cy="116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59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1. thread_unblock()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558800" y="2082800"/>
            <a:ext cx="139827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14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block 상태였던 thread를 ready 상태로 되돌림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63600" y="3594100"/>
            <a:ext cx="14998700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00" y="990600"/>
            <a:ext cx="7213600" cy="116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59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2. thread_yield()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2641600"/>
            <a:ext cx="16891000" cy="9817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100" y="1422400"/>
            <a:ext cx="9436100" cy="116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59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3. thread_set_priority()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03300" y="3035300"/>
            <a:ext cx="11671300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100" y="863600"/>
            <a:ext cx="4445000" cy="116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59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트러블 슈팅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65200" y="7594600"/>
            <a:ext cx="10756900" cy="530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9296400"/>
            <a:ext cx="9753600" cy="3594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693400" y="9817100"/>
            <a:ext cx="1460500" cy="256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966700" y="8966200"/>
            <a:ext cx="11417300" cy="393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2900" y="5930900"/>
            <a:ext cx="113157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409" b="false" i="false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세마포어 &amp; 조건 변수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44500" y="3581400"/>
            <a:ext cx="13055600" cy="2273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81000" y="7835900"/>
            <a:ext cx="13830300" cy="3568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-25400" y="-25400"/>
            <a:ext cx="30734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세마포어 개념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81200" y="3810000"/>
            <a:ext cx="9956800" cy="822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세마포어는 원자적으로 조작되는 두 연산자와 함께 사용되는 음이 아닌 정수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“Down” 또는 “P”: 값이 양수가 될 때까지 기다린 다음 값을 감소, sema_down으로 구현
- “Up” 또는 “V”: 값을 증가시킵니다. 대기 중인 스레드가 있다면 그중 하나를 실행 시킴, sema_up으로 구현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pintos는 싱글 스레드로 구현되어 있어 초기값이 1로 되어 있어 MUTEX 처럼 구현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0500" y="190500"/>
            <a:ext cx="54483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condition variable 개념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55600" y="6985000"/>
            <a:ext cx="99695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92100" y="9080500"/>
            <a:ext cx="12941300" cy="2451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1181100"/>
            <a:ext cx="11684000" cy="2146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1000" y="3517900"/>
            <a:ext cx="12839700" cy="31115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4681200" y="3810000"/>
            <a:ext cx="9956800" cy="523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조건 변수는 모니터 안의 코드가 어떤 조건이 참이 될 때까지 기다리는데, cond_wait로 구현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만약 참이라면 대기자를 깨우는데, 하나는 signal, 모두 깨우려면 broadcase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각각 cond_signal, cond_boradcast로 구현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2131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0800" y="101600"/>
            <a:ext cx="12788900" cy="13474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87400" y="8572500"/>
            <a:ext cx="3505200" cy="1473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0" y="11112500"/>
            <a:ext cx="139827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2131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25400"/>
            <a:ext cx="14605000" cy="13665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2131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" y="203200"/>
            <a:ext cx="18910300" cy="13258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2131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114300"/>
            <a:ext cx="14401800" cy="1315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57300" y="9664700"/>
            <a:ext cx="3860800" cy="152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953500" y="12014200"/>
            <a:ext cx="15265400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55800" y="1041400"/>
            <a:ext cx="42418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409" b="false" i="false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6. 회고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54200" y="3429000"/>
            <a:ext cx="21844000" cy="5029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AutoNum type="arabicPeriod" startAt="1"/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학습속도를 올려 project2 에는 달성률 상승</a:t>
            </a:r>
          </a:p>
          <a:p>
            <a:pPr algn="l" lvl="1" marL="342900" indent="-342900">
              <a:lnSpc>
                <a:spcPct val="116199"/>
              </a:lnSpc>
              <a:buAutoNum type="arabicPeriod" startAt="1"/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C언어 컨벤션을 적용해서 가독성 및 유지보수성 향상 </a:t>
            </a:r>
          </a:p>
          <a:p>
            <a:pPr algn="l" lvl="1" marL="342900" indent="-342900">
              <a:lnSpc>
                <a:spcPct val="116199"/>
              </a:lnSpc>
              <a:buAutoNum type="arabicPeriod" startAt="1"/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다음주에는 여러 사람들의 코드를 merge하여 깃 활용 협업 진행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