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x="24384000" cy="13716000"/>
  <p:notesSz cx="6858000" cy="9144000"/>
  <p:embeddedFontLst>
    <p:embeddedFont>
      <p:font typeface="Montserrat Regular"/>
      <p:regular r:id="rId33"/>
    </p:embeddedFont>
    <p:embeddedFont>
      <p:font typeface="Montserrat Bold"/>
      <p:bold r:id="rId34"/>
    </p:embeddedFont>
    <p:embeddedFont>
      <p:font typeface="Pretendard Black"/>
      <p:bold r:id="rId35"/>
    </p:embeddedFont>
    <p:embeddedFont>
      <p:font typeface="Pretendard Medium"/>
      <p:bold r:id="rId36"/>
    </p:embeddedFont>
    <p:embeddedFont>
      <p:font typeface="Pretendard Bold"/>
      <p:bold r:id="rId37"/>
    </p:embeddedFont>
    <p:embeddedFont>
      <p:font typeface="Pretendard Light"/>
      <p:regular r:id="rId38"/>
    </p:embeddedFont>
    <p:embeddedFont>
      <p:font typeface="Pretendard SemiBold"/>
      <p:bold r:id="rId39"/>
    </p:embeddedFont>
    <p:embeddedFont>
      <p:font typeface="Pretendard Regular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fonts/font1.fntdata" Type="http://schemas.openxmlformats.org/officeDocument/2006/relationships/font"/><Relationship Id="rId34" Target="fonts/font2.fntdata" Type="http://schemas.openxmlformats.org/officeDocument/2006/relationships/font"/><Relationship Id="rId35" Target="fonts/font3.fntdata" Type="http://schemas.openxmlformats.org/officeDocument/2006/relationships/font"/><Relationship Id="rId36" Target="fonts/font4.fntdata" Type="http://schemas.openxmlformats.org/officeDocument/2006/relationships/font"/><Relationship Id="rId37" Target="fonts/font5.fntdata" Type="http://schemas.openxmlformats.org/officeDocument/2006/relationships/font"/><Relationship Id="rId38" Target="fonts/font6.fntdata" Type="http://schemas.openxmlformats.org/officeDocument/2006/relationships/font"/><Relationship Id="rId39" Target="fonts/font7.fntdata" Type="http://schemas.openxmlformats.org/officeDocument/2006/relationships/font"/><Relationship Id="rId4" Target="theme/theme1.xml" Type="http://schemas.openxmlformats.org/officeDocument/2006/relationships/theme"/><Relationship Id="rId40" Target="fonts/font8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1.png" Type="http://schemas.openxmlformats.org/officeDocument/2006/relationships/image"/><Relationship Id="rId4" Target="../media/image3.png" Type="http://schemas.openxmlformats.org/officeDocument/2006/relationships/image"/><Relationship Id="rId5" Target="../media/image22.pn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4.png" Type="http://schemas.openxmlformats.org/officeDocument/2006/relationships/image"/><Relationship Id="rId4" Target="../media/image3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3.pn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34.pn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3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49.png" Type="http://schemas.openxmlformats.org/officeDocument/2006/relationships/image"/><Relationship Id="rId4" Target="../media/image3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12" Target="../media/image60.png" Type="http://schemas.openxmlformats.org/officeDocument/2006/relationships/image"/><Relationship Id="rId2" Target="../media/image53.png" Type="http://schemas.openxmlformats.org/officeDocument/2006/relationships/image"/><Relationship Id="rId3" Target="../media/image54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3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3.png" Type="http://schemas.openxmlformats.org/officeDocument/2006/relationships/image"/><Relationship Id="rId6" Target="../media/image62.png" Type="http://schemas.openxmlformats.org/officeDocument/2006/relationships/image"/><Relationship Id="rId7" Target="../media/image63.png" Type="http://schemas.openxmlformats.org/officeDocument/2006/relationships/image"/><Relationship Id="rId8" Target="../media/image6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5.png" Type="http://schemas.openxmlformats.org/officeDocument/2006/relationships/image"/><Relationship Id="rId3" Target="../media/image66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67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68.png" Type="http://schemas.openxmlformats.org/officeDocument/2006/relationships/image"/><Relationship Id="rId4" Target="../media/image3.png" Type="http://schemas.openxmlformats.org/officeDocument/2006/relationships/image"/><Relationship Id="rId5" Target="../media/image69.pn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3.png" Type="http://schemas.openxmlformats.org/officeDocument/2006/relationships/image"/><Relationship Id="rId5" Target="../media/image72.png" Type="http://schemas.openxmlformats.org/officeDocument/2006/relationships/image"/><Relationship Id="rId6" Target="../media/image73.png" Type="http://schemas.openxmlformats.org/officeDocument/2006/relationships/image"/><Relationship Id="rId7" Target="../media/image7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Relationship Id="rId3" Target="../media/image28.png" Type="http://schemas.openxmlformats.org/officeDocument/2006/relationships/image"/><Relationship Id="rId4" Target="../media/image3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png" Type="http://schemas.openxmlformats.org/officeDocument/2006/relationships/image"/><Relationship Id="rId3" Target="../media/image28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0401300" y="4127500"/>
            <a:ext cx="12484100" cy="4013200"/>
          </a:xfrm>
          <a:prstGeom prst="rect">
            <a:avLst/>
          </a:prstGeom>
        </p:spPr>
        <p:txBody>
          <a:bodyPr anchor="ctr" rtlCol="false" lIns="0" tIns="334856" rIns="0" bIns="334856"/>
          <a:lstStyle/>
          <a:p>
            <a:pPr algn="l" lvl="0">
              <a:lnSpc>
                <a:spcPct val="83000"/>
              </a:lnSpc>
            </a:pPr>
            <a:r>
              <a:rPr lang="en-US" sz="13183" b="false" i="false" u="none" strike="noStrike" spc="-600">
                <a:solidFill>
                  <a:srgbClr val="161616"/>
                </a:solidFill>
                <a:latin typeface="Montserrat Regular"/>
                <a:ea typeface="Montserrat Regular"/>
                <a:cs typeface="Montserrat Regular"/>
              </a:rPr>
              <a:t>Pintos project.3</a:t>
            </a:r>
          </a:p>
          <a:p>
            <a:pPr algn="l" lvl="0">
              <a:lnSpc>
                <a:spcPct val="83000"/>
              </a:lnSpc>
            </a:pPr>
            <a:r>
              <a:rPr lang="en-US" sz="13183" b="false" i="false" u="none" strike="noStrike" spc="-600">
                <a:solidFill>
                  <a:srgbClr val="04CC81"/>
                </a:solidFill>
                <a:latin typeface="Pretendard Black"/>
                <a:ea typeface="Pretendard Black"/>
                <a:cs typeface="Pretendard Black"/>
              </a:rPr>
              <a:t>Virtual Memory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68000" y="8178800"/>
            <a:ext cx="9271000" cy="1473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3999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303호 2팀</a:t>
            </a:r>
          </a:p>
          <a:p>
            <a:pPr algn="l" lvl="0">
              <a:lnSpc>
                <a:spcPct val="124499"/>
              </a:lnSpc>
            </a:pPr>
            <a:r>
              <a:rPr lang="en-US" sz="3999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이민정    전우현    정찬빈    최영빈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2200" y="469900"/>
            <a:ext cx="2870200" cy="330200"/>
          </a:xfrm>
          <a:prstGeom prst="rect">
            <a:avLst/>
          </a:prstGeom>
        </p:spPr>
        <p:txBody>
          <a:bodyPr anchor="ctr" rtlCol="false" lIns="0" tIns="35559" rIns="0" bIns="35559"/>
          <a:lstStyle/>
          <a:p>
            <a:pPr algn="l" lvl="0">
              <a:lnSpc>
                <a:spcPct val="91299"/>
              </a:lnSpc>
            </a:pPr>
            <a:r>
              <a:rPr lang="en-US" sz="1866" b="false" i="false" u="none" strike="noStrike" spc="100" cap="all">
                <a:solidFill>
                  <a:srgbClr val="161616"/>
                </a:solidFill>
                <a:latin typeface="Montserrat Bold"/>
                <a:ea typeface="Montserrat Bold"/>
                <a:cs typeface="Montserrat Bold"/>
              </a:rPr>
              <a:t>WEEK11-12 TEAM02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76500" y="3962400"/>
            <a:ext cx="6134100" cy="5854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4495800" y="3822700"/>
            <a:ext cx="2197100" cy="2197100"/>
          </a:xfrm>
          <a:prstGeom prst="rect">
            <a:avLst/>
          </a:prstGeom>
          <a:effectLst>
            <a:outerShdw dir="2700000" dist="303345" blurRad="175266">
              <a:srgbClr val="04CC81">
                <a:alpha val="12000"/>
              </a:srgbClr>
            </a:outerShdw>
          </a:effectLst>
        </p:spPr>
      </p:pic>
      <p:sp>
        <p:nvSpPr>
          <p:cNvPr name="TextBox 3" id="3"/>
          <p:cNvSpPr txBox="true"/>
          <p:nvPr/>
        </p:nvSpPr>
        <p:spPr>
          <a:xfrm rot="0">
            <a:off x="3962400" y="6184900"/>
            <a:ext cx="3467100" cy="1790700"/>
          </a:xfrm>
          <a:prstGeom prst="rect">
            <a:avLst/>
          </a:prstGeom>
        </p:spPr>
        <p:txBody>
          <a:bodyPr anchor="ctr" rtlCol="false" lIns="0" tIns="256646" rIns="0" bIns="256646"/>
          <a:lstStyle/>
          <a:p>
            <a:pPr algn="ctr" lvl="0">
              <a:lnSpc>
                <a:spcPct val="83000"/>
              </a:lnSpc>
            </a:pPr>
            <a:r>
              <a:rPr lang="en-US" sz="10104" b="false" i="false" u="none" strike="noStrike" spc="-4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목차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385800" y="50800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sp>
        <p:nvSpPr>
          <p:cNvPr name="TextBox 7" id="7"/>
          <p:cNvSpPr txBox="true"/>
          <p:nvPr/>
        </p:nvSpPr>
        <p:spPr>
          <a:xfrm rot="0">
            <a:off x="13309600" y="54102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04CC81"/>
                </a:solidFill>
                <a:latin typeface="Montserrat Regular"/>
                <a:ea typeface="Montserrat Regular"/>
                <a:cs typeface="Montserrat Regular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973300" y="5105400"/>
            <a:ext cx="89916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spt copy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024100" y="5905500"/>
            <a:ext cx="5537200" cy="381000"/>
          </a:xfrm>
          <a:prstGeom prst="rect">
            <a:avLst/>
          </a:prstGeom>
        </p:spPr>
        <p:txBody>
          <a:bodyPr anchor="ctr" rtlCol="false" lIns="0" tIns="29807" rIns="0" bIns="29807"/>
          <a:lstStyle/>
          <a:p>
            <a:pPr algn="l" lvl="0">
              <a:lnSpc>
                <a:spcPct val="97940"/>
              </a:lnSpc>
            </a:pPr>
            <a:r>
              <a:rPr lang="en-US" sz="2133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이민정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85800" y="73152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sp>
        <p:nvSpPr>
          <p:cNvPr name="TextBox 11" id="11"/>
          <p:cNvSpPr txBox="true"/>
          <p:nvPr/>
        </p:nvSpPr>
        <p:spPr>
          <a:xfrm rot="0">
            <a:off x="13309600" y="76454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EAEAEA"/>
                </a:solidFill>
                <a:latin typeface="Montserrat Regular"/>
                <a:ea typeface="Montserrat Regular"/>
                <a:cs typeface="Montserrat Regular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73300" y="7353300"/>
            <a:ext cx="59055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자원 해제 중복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024100" y="8140700"/>
            <a:ext cx="5537200" cy="381000"/>
          </a:xfrm>
          <a:prstGeom prst="rect">
            <a:avLst/>
          </a:prstGeom>
        </p:spPr>
        <p:txBody>
          <a:bodyPr anchor="ctr" rtlCol="false" lIns="0" tIns="29807" rIns="0" bIns="29807"/>
          <a:lstStyle/>
          <a:p>
            <a:pPr algn="l" lvl="0">
              <a:lnSpc>
                <a:spcPct val="97940"/>
              </a:lnSpc>
            </a:pPr>
            <a:r>
              <a:rPr lang="en-US" sz="2133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85800" y="95504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sp>
        <p:nvSpPr>
          <p:cNvPr name="TextBox 15" id="15"/>
          <p:cNvSpPr txBox="true"/>
          <p:nvPr/>
        </p:nvSpPr>
        <p:spPr>
          <a:xfrm rot="0">
            <a:off x="13335000" y="99060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04CC81"/>
                </a:solidFill>
                <a:latin typeface="Montserrat Regular"/>
                <a:ea typeface="Montserrat Regular"/>
                <a:cs typeface="Montserrat Regular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973300" y="9398000"/>
            <a:ext cx="5918200" cy="14986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Plm4
accessed / dirty bit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73300" y="10744200"/>
            <a:ext cx="5537200" cy="381000"/>
          </a:xfrm>
          <a:prstGeom prst="rect">
            <a:avLst/>
          </a:prstGeom>
        </p:spPr>
        <p:txBody>
          <a:bodyPr anchor="ctr" rtlCol="false" lIns="0" tIns="29807" rIns="0" bIns="29807"/>
          <a:lstStyle/>
          <a:p>
            <a:pPr algn="l" lvl="0">
              <a:lnSpc>
                <a:spcPct val="97940"/>
              </a:lnSpc>
            </a:pPr>
            <a:r>
              <a:rPr lang="en-US" sz="2133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전우현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385800" y="2844800"/>
            <a:ext cx="1193800" cy="1193800"/>
          </a:xfrm>
          <a:prstGeom prst="rect">
            <a:avLst/>
          </a:prstGeom>
          <a:effectLst>
            <a:outerShdw dir="2700000" dist="183662" blurRad="131318">
              <a:srgbClr val="3B4C82">
                <a:alpha val="23000"/>
              </a:srgbClr>
            </a:outerShdw>
          </a:effectLst>
        </p:spPr>
      </p:pic>
      <p:sp>
        <p:nvSpPr>
          <p:cNvPr name="TextBox 19" id="19"/>
          <p:cNvSpPr txBox="true"/>
          <p:nvPr/>
        </p:nvSpPr>
        <p:spPr>
          <a:xfrm rot="0">
            <a:off x="13309600" y="3175000"/>
            <a:ext cx="1346200" cy="495300"/>
          </a:xfrm>
          <a:prstGeom prst="rect">
            <a:avLst/>
          </a:prstGeom>
        </p:spPr>
        <p:txBody>
          <a:bodyPr anchor="ctr" rtlCol="false" lIns="0" tIns="53731" rIns="0" bIns="53731"/>
          <a:lstStyle/>
          <a:p>
            <a:pPr algn="ctr" lvl="0">
              <a:lnSpc>
                <a:spcPct val="91299"/>
              </a:lnSpc>
            </a:pPr>
            <a:r>
              <a:rPr lang="en-US" sz="2820" b="false" i="false" u="none" strike="noStrike" spc="-100" cap="all">
                <a:solidFill>
                  <a:srgbClr val="EAEAEA"/>
                </a:solidFill>
                <a:latin typeface="Montserrat Regular"/>
                <a:ea typeface="Montserrat Regular"/>
                <a:cs typeface="Montserrat Regular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024100" y="3670300"/>
            <a:ext cx="5537200" cy="381000"/>
          </a:xfrm>
          <a:prstGeom prst="rect">
            <a:avLst/>
          </a:prstGeom>
        </p:spPr>
        <p:txBody>
          <a:bodyPr anchor="ctr" rtlCol="false" lIns="0" tIns="29807" rIns="0" bIns="29807"/>
          <a:lstStyle/>
          <a:p>
            <a:pPr algn="l" lvl="0">
              <a:lnSpc>
                <a:spcPct val="97940"/>
              </a:lnSpc>
            </a:pPr>
            <a:r>
              <a:rPr lang="en-US" sz="2133" b="false" i="false" u="none" strike="noStrike" spc="-1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973300" y="2882900"/>
            <a:ext cx="8293100" cy="876300"/>
          </a:xfrm>
          <a:prstGeom prst="rect">
            <a:avLst/>
          </a:prstGeom>
        </p:spPr>
        <p:txBody>
          <a:bodyPr anchor="ctr" rtlCol="false" lIns="0" tIns="125303" rIns="0" bIns="125303"/>
          <a:lstStyle/>
          <a:p>
            <a:pPr algn="l" lvl="0">
              <a:lnSpc>
                <a:spcPct val="83000"/>
              </a:lnSpc>
            </a:pPr>
            <a:r>
              <a:rPr lang="en-US" sz="4933" b="false" i="false" u="none" strike="noStrike" spc="-2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lazy loading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72300" y="1485900"/>
            <a:ext cx="104648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 cap="all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진행 상황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890500" y="3556000"/>
            <a:ext cx="6172200" cy="4368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346700" y="3556000"/>
            <a:ext cx="6172200" cy="871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35700" y="5880100"/>
            <a:ext cx="1155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lazy loading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3800" y="7708900"/>
            <a:ext cx="11480800" cy="825500"/>
          </a:xfrm>
          <a:prstGeom prst="rect">
            <a:avLst/>
          </a:prstGeom>
        </p:spPr>
        <p:txBody>
          <a:bodyPr anchor="ctr" rtlCol="false" lIns="0" tIns="118533" rIns="0" bIns="118533"/>
          <a:lstStyle/>
          <a:p>
            <a:pPr algn="ctr" lvl="0">
              <a:lnSpc>
                <a:spcPct val="83000"/>
              </a:lnSpc>
            </a:pPr>
            <a:r>
              <a:rPr lang="en-US" sz="4666" b="false" i="false" u="none" strike="noStrike" spc="-200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686300" y="1092200"/>
            <a:ext cx="15011400" cy="2209800"/>
          </a:xfrm>
          <a:prstGeom prst="rect">
            <a:avLst/>
          </a:prstGeom>
        </p:spPr>
        <p:txBody>
          <a:bodyPr anchor="ctr" rtlCol="false" lIns="0" tIns="142240" rIns="0" bIns="226166"/>
          <a:lstStyle/>
          <a:p>
            <a:pPr algn="ctr" lvl="0">
              <a:lnSpc>
                <a:spcPct val="83000"/>
              </a:lnSpc>
            </a:pPr>
            <a:r>
              <a:rPr lang="en-US" sz="5600" b="false" i="false" u="none" strike="noStrike" spc="-200" cap="all">
                <a:solidFill>
                  <a:srgbClr val="161616"/>
                </a:solidFill>
                <a:latin typeface="Pretendard SemiBold"/>
                <a:ea typeface="Pretendard SemiBold"/>
                <a:cs typeface="Pretendard SemiBold"/>
              </a:rPr>
              <a:t>필요한 페이지만 로드하는 방식,</a:t>
            </a:r>
          </a:p>
          <a:p>
            <a:pPr algn="ctr" lvl="0">
              <a:lnSpc>
                <a:spcPct val="83000"/>
              </a:lnSpc>
            </a:pPr>
            <a:r>
              <a:rPr lang="en-US" sz="8904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lazy loading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124700" y="4292600"/>
            <a:ext cx="12395200" cy="68199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3A4CA8"/>
                </a:solidFill>
                <a:latin typeface="Pretendard Medium"/>
                <a:ea typeface="Pretendard Medium"/>
                <a:cs typeface="Pretendard Medium"/>
              </a:rPr>
              <a:t>기존 방식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: </a:t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 load_segment()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에서 모든 페이지를 즉시 로드</a:t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 실제로 사용하지 않는 페이지까지 메모리 차지</a:t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 초기 로딩 비용 증가</a:t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lazy loading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:</a:t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 SPT에 로딩 정보만 저장해둠</a:t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 해당 주소 접근으로 page fault가 발생하면, </a:t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   SPT를 확인한 뒤 필요한 페이지를 로드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4699000" y="63500"/>
            <a:ext cx="149860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lazy loading 구현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59600" y="1765300"/>
            <a:ext cx="10109200" cy="11099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686300" y="1409700"/>
            <a:ext cx="15011400" cy="1587500"/>
          </a:xfrm>
          <a:prstGeom prst="rect">
            <a:avLst/>
          </a:prstGeom>
        </p:spPr>
        <p:txBody>
          <a:bodyPr anchor="ctr" rtlCol="false" lIns="0" tIns="226166" rIns="0" bIns="226166"/>
          <a:lstStyle/>
          <a:p>
            <a:pPr algn="ctr" lvl="0">
              <a:lnSpc>
                <a:spcPct val="83000"/>
              </a:lnSpc>
            </a:pPr>
            <a:r>
              <a:rPr lang="en-US" sz="8904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Trouble Shooting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19500" y="3873500"/>
            <a:ext cx="123825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* load_segment() 함수의 ofs += page_read_bytes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정찬빈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619500" y="6388100"/>
            <a:ext cx="6553200" cy="18669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338300" y="6388100"/>
            <a:ext cx="6057900" cy="18669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784600" y="8940800"/>
            <a:ext cx="6502400" cy="1981200"/>
          </a:xfrm>
          <a:prstGeom prst="rect">
            <a:avLst/>
          </a:prstGeom>
        </p:spPr>
        <p:txBody>
          <a:bodyPr anchor="ctr" rtlCol="false" lIns="0" tIns="48767" rIns="0" bIns="48767"/>
          <a:lstStyle/>
          <a:p>
            <a:pPr algn="l" lvl="0">
              <a:lnSpc>
                <a:spcPct val="96279"/>
              </a:lnSpc>
            </a:pPr>
            <a:r>
              <a:rPr lang="en-US" sz="31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모든 페이지가 같은 file offset 바라보게 됨</a:t>
            </a:r>
          </a:p>
          <a:p>
            <a:pPr algn="l" lvl="0">
              <a:lnSpc>
                <a:spcPct val="96279"/>
              </a:lnSpc>
            </a:pPr>
            <a:r>
              <a:rPr lang="en-US" sz="31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96279"/>
              </a:lnSpc>
            </a:pPr>
            <a:r>
              <a:rPr lang="en-US" sz="31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첫번째 페이지뿐만 아니라 두번째, 세번째 페이지도 실행 파일의 같은 위치를 읽는다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338300" y="9182100"/>
            <a:ext cx="7124700" cy="1511300"/>
          </a:xfrm>
          <a:prstGeom prst="rect">
            <a:avLst/>
          </a:prstGeom>
        </p:spPr>
        <p:txBody>
          <a:bodyPr anchor="ctr" rtlCol="false" lIns="0" tIns="48767" rIns="0" bIns="48767"/>
          <a:lstStyle/>
          <a:p>
            <a:pPr algn="l" lvl="0">
              <a:lnSpc>
                <a:spcPct val="96279"/>
              </a:lnSpc>
            </a:pPr>
            <a:r>
              <a:rPr lang="en-US" sz="31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페이지마다 읽어야 할 파일 위치가 다르기 때문에, 한 페이지를 등록할 때마다 실제로 파일에서 읽을 byte 수만큼 offset을 증가시키게  변경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3800" y="7708900"/>
            <a:ext cx="11480800" cy="825500"/>
          </a:xfrm>
          <a:prstGeom prst="rect">
            <a:avLst/>
          </a:prstGeom>
        </p:spPr>
        <p:txBody>
          <a:bodyPr anchor="ctr" rtlCol="false" lIns="0" tIns="118533" rIns="0" bIns="118533"/>
          <a:lstStyle/>
          <a:p>
            <a:pPr algn="ctr" lvl="0">
              <a:lnSpc>
                <a:spcPct val="83000"/>
              </a:lnSpc>
            </a:pPr>
            <a:r>
              <a:rPr lang="en-US" sz="4666" b="false" i="false" u="none" strike="noStrike" spc="-200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이민정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95800" y="5880100"/>
            <a:ext cx="153797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supplemental_page_table_copy()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02000" y="1485900"/>
            <a:ext cx="173482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supplemental_page_table_copy()</a:t>
            </a: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란?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이민정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33700" y="5435600"/>
            <a:ext cx="12357100" cy="6489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1. </a:t>
            </a: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프로세스 격리(Process Isolation) 및 독립적 자원 관리</a:t>
            </a:r>
            <a:b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</a:br>
          </a:p>
          <a:p>
            <a:pPr algn="l" lvl="1" marL="34290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 독립적 주소 공간(Address Space) 확보</a:t>
            </a:r>
          </a:p>
          <a:p>
            <a:pPr algn="l" lvl="1" marL="34290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 컨텍스트(Context) 분리</a:t>
            </a:r>
          </a:p>
          <a:p>
            <a:pPr algn="l" lvl="0">
              <a:lnSpc>
                <a:spcPct val="132800"/>
              </a:lnSpc>
            </a:pP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2. 가상 메모리 예외 처리(Page Fault Handling)의 독립성</a:t>
            </a:r>
          </a:p>
          <a:p>
            <a:pPr algn="l" lvl="1" marL="34290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 하드웨어 테이블(Page Table/PML4)의 한계</a:t>
            </a:r>
          </a:p>
          <a:p>
            <a:pPr algn="l" lvl="1" marL="34290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 예외 처리 경로(Fault Path)의 유일성</a:t>
            </a:r>
          </a:p>
          <a:p>
            <a:pPr algn="l" lvl="0">
              <a:lnSpc>
                <a:spcPct val="132800"/>
              </a:lnSpc>
            </a:pPr>
            <a:r>
              <a:rPr lang="en-US" sz="3599" b="tru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3. 지연 초기화(Lazy Initialization) 매커니즘의 독립적 수행</a:t>
            </a:r>
          </a:p>
          <a:p>
            <a:pPr algn="l" lvl="1" marL="34290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 미초기화 상태(VM_UNINIT)의 전사(Copy)</a:t>
            </a:r>
          </a:p>
          <a:p>
            <a:pPr algn="l" lvl="1" marL="342900">
              <a:lnSpc>
                <a:spcPct val="132800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 제어권 분리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36800" y="3886200"/>
            <a:ext cx="19888200" cy="736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ctr" lvl="0">
              <a:lnSpc>
                <a:spcPct val="96279"/>
              </a:lnSpc>
            </a:pP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fork 시 부모 프로세스의 </a:t>
            </a:r>
            <a:r>
              <a:rPr lang="en-US" sz="4133" b="true" i="false" u="none" strike="noStrike" spc="-300" cap="all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가상 메모리 상태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를 자식 프로세스에게 </a:t>
            </a:r>
            <a:r>
              <a:rPr lang="en-US" sz="4133" b="true" i="false" u="none" strike="noStrike" spc="-300" cap="all">
                <a:solidFill>
                  <a:srgbClr val="04CC81"/>
                </a:solidFill>
                <a:latin typeface="Pretendard Medium"/>
                <a:ea typeface="Pretendard Medium"/>
                <a:cs typeface="Pretendard Medium"/>
              </a:rPr>
              <a:t>독립적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으로 복제하는 함수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516100" y="6057900"/>
            <a:ext cx="5486400" cy="5486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8389600" y="7937500"/>
            <a:ext cx="3175000" cy="317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51100" y="1485900"/>
            <a:ext cx="195072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supplemental_page_table_copy</a:t>
            </a: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의 역할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이민정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11400" y="3886200"/>
            <a:ext cx="13512800" cy="19558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1" marL="342900" indent="-342900">
              <a:lnSpc>
                <a:spcPct val="96279"/>
              </a:lnSpc>
              <a:buAutoNum type="arabicPeriod" startAt="1"/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해시 테이블(Hash Table) 기반 SPT 순회</a:t>
            </a:r>
          </a:p>
          <a:p>
            <a:pPr algn="l" lvl="1" marL="342900" indent="-342900">
              <a:lnSpc>
                <a:spcPct val="96279"/>
              </a:lnSpc>
              <a:buAutoNum type="arabicPeriod" startAt="1"/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페이지 상태(Type) 식별 및 안전성 검증</a:t>
            </a:r>
          </a:p>
          <a:p>
            <a:pPr algn="l" lvl="1" marL="342900" indent="-342900">
              <a:lnSpc>
                <a:spcPct val="96279"/>
              </a:lnSpc>
              <a:buAutoNum type="arabicPeriod" startAt="1"/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상태별 독립 복제(Deep Copy) 수행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495800" y="6324600"/>
            <a:ext cx="15659100" cy="6286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90400" y="8382000"/>
            <a:ext cx="8674100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이민정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73200" y="3886200"/>
            <a:ext cx="13423900" cy="37846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익명 페이지(VM_ANON)</a:t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 Resident 상태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1" marL="34290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(또는 메모리가 부족할 경우 Swapped-out 상태)</a:t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 디스크에 매핑된 구체적인 파일이 없음</a:t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- 프로세스의 실행 문맥을 위해서만 존재하는 순수 메모리 데이터 영역</a:t>
            </a:r>
          </a:p>
          <a:p>
            <a:pPr algn="l" lvl="1" marL="34290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(예: 유저 스택, 힙, 데이터 영역 등)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795500" y="292100"/>
            <a:ext cx="8089900" cy="127254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419100" y="1485900"/>
            <a:ext cx="145034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page_type -</a:t>
            </a: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VM_ANON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9354800" y="9271000"/>
            <a:ext cx="3746500" cy="2933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66700" y="8039100"/>
            <a:ext cx="14643100" cy="38354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ctr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"부모의 데이터가 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RAM / 디스크 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중 어디에 존재하는가?"</a:t>
            </a:r>
          </a:p>
          <a:p>
            <a:pPr algn="ctr" lvl="0">
              <a:lnSpc>
                <a:spcPct val="96279"/>
              </a:lnSpc>
            </a:pPr>
            <a:br>
              <a:rPr/>
            </a:br>
            <a:r>
              <a:rPr lang="en-US" sz="4133" b="true" i="false" u="none" strike="noStrike" spc="-300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"</a:t>
            </a:r>
            <a:r>
              <a:rPr lang="en-US" sz="4133" b="true" i="false" u="none" strike="noStrike" spc="-300" cap="all">
                <a:solidFill>
                  <a:srgbClr val="12C660"/>
                </a:solidFill>
                <a:latin typeface="Pretendard Medium"/>
                <a:ea typeface="Pretendard Medium"/>
                <a:cs typeface="Pretendard Medium"/>
              </a:rPr>
              <a:t>부모의 데이터는 디스크</a:t>
            </a:r>
            <a:r>
              <a:rPr lang="en-US" sz="4133" b="true" i="false" u="none" strike="noStrike" spc="-300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에 있는데,</a:t>
            </a:r>
            <a:r>
              <a:rPr lang="en-US" sz="4133" b="true" i="false" u="none" strike="noStrike" spc="-300" cap="all">
                <a:solidFill>
                  <a:srgbClr val="12C660"/>
                </a:solidFill>
                <a:latin typeface="Pretendard Medium"/>
                <a:ea typeface="Pretendard Medium"/>
                <a:cs typeface="Pretendard Medium"/>
              </a:rPr>
              <a:t> 
자식은 해당 데이터를 디스크로 스왑하지 않는다?!!</a:t>
            </a:r>
            <a:r>
              <a:rPr lang="en-US" sz="4133" b="true" i="false" u="none" strike="noStrike" spc="-300" cap="all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"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이민정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476500" y="7048500"/>
            <a:ext cx="18897600" cy="5334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2082800" y="3619500"/>
            <a:ext cx="20523200" cy="3175000"/>
          </a:xfrm>
          <a:prstGeom prst="rect">
            <a:avLst/>
          </a:prstGeom>
        </p:spPr>
        <p:txBody>
          <a:bodyPr anchor="ctr" rtlCol="false" lIns="0" tIns="62991" rIns="0" bIns="62991"/>
          <a:lstStyle/>
          <a:p>
            <a:pPr algn="l" lvl="0">
              <a:lnSpc>
                <a:spcPct val="96279"/>
              </a:lnSpc>
            </a:pP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Fork의 본질
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부모와 자식이 같은 매모리 내용으로 시작</a:t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부모가 자식이 특정 주소를 읽었을 때 동일한 바이트 </a:t>
            </a:r>
            <a:r>
              <a:rPr lang="en-US" sz="4133" b="tru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   != 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   부모와 자식이 같은 swap_slot을 공유</a:t>
            </a:r>
          </a:p>
          <a:p>
            <a:pPr algn="l" lvl="2" marL="867791">
              <a:lnSpc>
                <a:spcPct val="96279"/>
              </a:lnSpc>
            </a:pP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자식은 부모와 </a:t>
            </a:r>
            <a:r>
              <a:rPr lang="en-US" sz="4133" b="true" i="false" u="none" strike="noStrike" spc="-300" cap="all">
                <a:solidFill>
                  <a:srgbClr val="12C660"/>
                </a:solidFill>
                <a:latin typeface="Pretendard Medium"/>
                <a:ea typeface="Pretendard Medium"/>
                <a:cs typeface="Pretendard Medium"/>
              </a:rPr>
              <a:t>같은 내용</a:t>
            </a:r>
            <a:r>
              <a:rPr lang="en-US" sz="4133" b="false" i="false" u="none" strike="noStrike" spc="-3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을 가지지만, 부모와 같은 </a:t>
            </a:r>
            <a:r>
              <a:rPr lang="en-US" sz="4133" b="true" i="false" u="none" strike="noStrike" spc="-300" cap="all">
                <a:solidFill>
                  <a:srgbClr val="12C660"/>
                </a:solidFill>
                <a:latin typeface="Pretendard Medium"/>
                <a:ea typeface="Pretendard Medium"/>
                <a:cs typeface="Pretendard Medium"/>
              </a:rPr>
              <a:t>저장 위치 상태를 복제 X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02000" y="1485900"/>
            <a:ext cx="173482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page_type - 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VM_ANON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108200" y="6146800"/>
            <a:ext cx="8382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이민정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485900" y="3302000"/>
            <a:ext cx="16357600" cy="94869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38300" y="9550400"/>
            <a:ext cx="11772900" cy="30226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0769600" y="8699500"/>
            <a:ext cx="6756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24499"/>
              </a:lnSpc>
            </a:pPr>
            <a:r>
              <a:rPr lang="en-US" sz="4000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disk_read(메모리 복사)만 수행!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84400" y="5638800"/>
            <a:ext cx="9550400" cy="1054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7912100" y="4851400"/>
            <a:ext cx="6756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24499"/>
              </a:lnSpc>
            </a:pPr>
            <a:r>
              <a:rPr lang="en-US" sz="4000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바로 메모리 복사!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3540000">
            <a:off x="1612900" y="4711700"/>
            <a:ext cx="1765300" cy="190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60000">
            <a:off x="-825500" y="6680200"/>
            <a:ext cx="5575300" cy="1905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8148300" y="9385300"/>
            <a:ext cx="5981700" cy="3365500"/>
          </a:xfrm>
          <a:prstGeom prst="rect">
            <a:avLst/>
          </a:prstGeom>
        </p:spPr>
        <p:txBody>
          <a:bodyPr anchor="ctr" rtlCol="false" lIns="0" tIns="56102" rIns="0" bIns="56102"/>
          <a:lstStyle/>
          <a:p>
            <a:pPr algn="l" lvl="0">
              <a:lnSpc>
                <a:spcPct val="96279"/>
              </a:lnSpc>
            </a:pPr>
            <a:r>
              <a:rPr lang="en-US" sz="3681" b="true" i="false" u="none" strike="noStrike" spc="-200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만약 복사 중 메모리가 다 차면?</a:t>
            </a:r>
          </a:p>
          <a:p>
            <a:pPr algn="l" lvl="0">
              <a:lnSpc>
                <a:spcPct val="96279"/>
              </a:lnSpc>
            </a:pPr>
            <a:r>
              <a:rPr lang="en-US" sz="3681" b="false" i="false" u="none" strike="noStrike" spc="-200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96279"/>
              </a:lnSpc>
            </a:pPr>
            <a:r>
              <a:rPr lang="en-US" sz="3681" b="false" i="false" u="none" strike="noStrike" spc="-200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vm_do_claim_page() 안에서 </a:t>
            </a:r>
          </a:p>
          <a:p>
            <a:pPr algn="l" lvl="0">
              <a:lnSpc>
                <a:spcPct val="96279"/>
              </a:lnSpc>
            </a:pPr>
            <a:r>
              <a:rPr lang="en-US" sz="3681" b="false" i="false" u="none" strike="noStrike" spc="-200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새 frame을 받으려다가 </a:t>
            </a:r>
          </a:p>
          <a:p>
            <a:pPr algn="l" lvl="0">
              <a:lnSpc>
                <a:spcPct val="96279"/>
              </a:lnSpc>
            </a:pPr>
            <a:r>
              <a:rPr lang="en-US" sz="3681" b="false" i="false" u="none" strike="noStrike" spc="-200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기존 다른 frame을 </a:t>
            </a:r>
          </a:p>
          <a:p>
            <a:pPr algn="l" lvl="0">
              <a:lnSpc>
                <a:spcPct val="96279"/>
              </a:lnSpc>
            </a:pPr>
            <a:r>
              <a:rPr lang="en-US" sz="3681" b="false" i="false" u="none" strike="noStrike" spc="-200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eviction해서 swap out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302000" y="1485900"/>
            <a:ext cx="173482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page_type - 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VM_ANON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85900" y="3213100"/>
            <a:ext cx="56388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35700" y="5880100"/>
            <a:ext cx="1155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자원 해제 중복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73800" y="7708900"/>
            <a:ext cx="11480800" cy="825500"/>
          </a:xfrm>
          <a:prstGeom prst="rect">
            <a:avLst/>
          </a:prstGeom>
        </p:spPr>
        <p:txBody>
          <a:bodyPr anchor="ctr" rtlCol="false" lIns="0" tIns="118533" rIns="0" bIns="118533"/>
          <a:lstStyle/>
          <a:p>
            <a:pPr algn="ctr" lvl="0">
              <a:lnSpc>
                <a:spcPct val="83000"/>
              </a:lnSpc>
            </a:pPr>
            <a:r>
              <a:rPr lang="en-US" sz="4666" b="false" i="false" u="none" strike="noStrike" spc="-200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37700" y="17691100"/>
            <a:ext cx="1155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자원 해제 중복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238500" y="1612900"/>
            <a:ext cx="1790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supplemental_page_table_kill()</a:t>
            </a:r>
            <a:r>
              <a:rPr lang="en-US" sz="6666" b="fals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구현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3200" y="3898900"/>
            <a:ext cx="13703300" cy="7366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627100" y="5181600"/>
            <a:ext cx="10579100" cy="2540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67500" y="8280400"/>
            <a:ext cx="3238500" cy="584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1585448">
            <a:off x="9664700" y="7277100"/>
            <a:ext cx="4178300" cy="1905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6146800" y="6997700"/>
            <a:ext cx="4470400" cy="7112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r" lvl="0">
              <a:lnSpc>
                <a:spcPct val="124499"/>
              </a:lnSpc>
            </a:pPr>
            <a:r>
              <a:rPr lang="en-US" sz="4000" b="false" i="false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hash_action_func()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211300" y="6604000"/>
            <a:ext cx="4178300" cy="4064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589000" y="8763000"/>
            <a:ext cx="7734300" cy="3695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3601700" y="8572500"/>
            <a:ext cx="33909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3238500" y="1612900"/>
            <a:ext cx="1790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supplemental_page_table_kill()</a:t>
            </a:r>
            <a:r>
              <a:rPr lang="en-US" sz="6666" b="fals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구현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03200" y="3898900"/>
            <a:ext cx="14071600" cy="17526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3200" y="5791200"/>
            <a:ext cx="14071600" cy="6959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39900" y="8610600"/>
            <a:ext cx="1663700" cy="1308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16268700" y="7391400"/>
            <a:ext cx="7937500" cy="35560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000" b="false" i="false" u="none" strike="noStrike">
                <a:solidFill>
                  <a:srgbClr val="9E9E9E"/>
                </a:solidFill>
                <a:latin typeface="Pretendard Medium"/>
                <a:ea typeface="Pretendard Medium"/>
                <a:cs typeface="Pretendard Medium"/>
              </a:rPr>
              <a:t>PANIC at ../../threads/palloc.c:321 in palloc_free_multiple(): assertion `bitmap_all (pool-&gt;used_map, page_idx, page_cnt)' failed.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 rot="0">
            <a:off x="9423400" y="7467600"/>
            <a:ext cx="13614400" cy="3860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6200000">
            <a:off x="3365500" y="5270500"/>
            <a:ext cx="3860800" cy="8267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238500" y="1612900"/>
            <a:ext cx="1790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문제 원인 -</a:t>
            </a:r>
            <a:r>
              <a:rPr lang="en-US" sz="6666" b="false" i="false" u="none" strike="noStrike" spc="-2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 자원 중복 해제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77900" y="2997200"/>
            <a:ext cx="8229600" cy="9893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804400" y="8013700"/>
            <a:ext cx="596900" cy="596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0007600" y="8077200"/>
            <a:ext cx="2794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55300" y="80010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현재 스레드 SPT의 자원 해제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804400" y="8864600"/>
            <a:ext cx="596900" cy="5969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10007600" y="8915400"/>
            <a:ext cx="3175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55300" y="8813800"/>
            <a:ext cx="12357100" cy="11684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현재 스레드 pml4 NULL로 만든 후, 
CPU의 페이지 디렉터리 베이스 레지스터도 NULL로 만듦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804400" y="10172700"/>
            <a:ext cx="596900" cy="596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007600" y="10223500"/>
            <a:ext cx="330200" cy="495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785" b="true" i="false" u="none" strike="noStrike">
                <a:solidFill>
                  <a:srgbClr val="FCFCFC"/>
                </a:solidFill>
                <a:latin typeface="Pretendard Bold"/>
                <a:ea typeface="Pretendard Bold"/>
                <a:cs typeface="Pretendard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55300" y="10172700"/>
            <a:ext cx="12357100" cy="635000"/>
          </a:xfrm>
          <a:prstGeom prst="rect">
            <a:avLst/>
          </a:prstGeom>
        </p:spPr>
        <p:txBody>
          <a:bodyPr anchor="ctr" rtlCol="false" lIns="0" tIns="54863" rIns="0" bIns="54863"/>
          <a:lstStyle/>
          <a:p>
            <a:pPr algn="l" lvl="0">
              <a:lnSpc>
                <a:spcPct val="96279"/>
              </a:lnSpc>
            </a:pPr>
            <a:r>
              <a:rPr lang="en-US" sz="3599" b="false" i="false" u="none" strike="noStrike" spc="-2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현재 스레드 pml4의 자원 해제</a:t>
            </a:r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55700" y="8572500"/>
            <a:ext cx="3352800" cy="167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912600" y="2857500"/>
            <a:ext cx="11125200" cy="4483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3911600" y="11938000"/>
            <a:ext cx="16548100" cy="1778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3238500" y="1612900"/>
            <a:ext cx="17907000" cy="11811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문제 해결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최영빈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864100" y="3873500"/>
            <a:ext cx="14655800" cy="7035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968500" y="11315700"/>
            <a:ext cx="3911600" cy="1435100"/>
          </a:xfrm>
          <a:prstGeom prst="rect">
            <a:avLst/>
          </a:prstGeom>
          <a:effectLst>
            <a:outerShdw dir="2700000" dist="220331" blurRad="157537">
              <a:srgbClr val="3B4C82">
                <a:alpha val="23000"/>
              </a:srgbClr>
            </a:outerShdw>
          </a:effectLst>
        </p:spPr>
      </p:pic>
      <p:sp>
        <p:nvSpPr>
          <p:cNvPr name="TextBox 10" id="10"/>
          <p:cNvSpPr txBox="true"/>
          <p:nvPr/>
        </p:nvSpPr>
        <p:spPr>
          <a:xfrm rot="0">
            <a:off x="2489200" y="11671300"/>
            <a:ext cx="2882900" cy="711200"/>
          </a:xfrm>
          <a:prstGeom prst="rect">
            <a:avLst/>
          </a:prstGeom>
        </p:spPr>
        <p:txBody>
          <a:bodyPr anchor="ctr" rtlCol="false" lIns="0" tIns="60960" rIns="0" bIns="60960"/>
          <a:lstStyle/>
          <a:p>
            <a:pPr algn="ctr" lvl="0">
              <a:lnSpc>
                <a:spcPct val="96279"/>
              </a:lnSpc>
            </a:pPr>
            <a:r>
              <a:rPr lang="en-US" sz="4000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함수 호출 흐름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480300" y="11315700"/>
            <a:ext cx="3911600" cy="1435100"/>
          </a:xfrm>
          <a:prstGeom prst="rect">
            <a:avLst/>
          </a:prstGeom>
          <a:effectLst>
            <a:outerShdw dir="2700000" dist="220331" blurRad="157537">
              <a:srgbClr val="3B4C82">
                <a:alpha val="23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7696200" y="11671300"/>
            <a:ext cx="3479800" cy="711200"/>
          </a:xfrm>
          <a:prstGeom prst="rect">
            <a:avLst/>
          </a:prstGeom>
        </p:spPr>
        <p:txBody>
          <a:bodyPr anchor="ctr" rtlCol="false" lIns="0" tIns="60960" rIns="0" bIns="60960"/>
          <a:lstStyle/>
          <a:p>
            <a:pPr algn="ctr" lvl="0">
              <a:lnSpc>
                <a:spcPct val="96279"/>
              </a:lnSpc>
            </a:pPr>
            <a:r>
              <a:rPr lang="en-US" sz="4000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자료구조의 역할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992100" y="11315700"/>
            <a:ext cx="3911600" cy="1435100"/>
          </a:xfrm>
          <a:prstGeom prst="rect">
            <a:avLst/>
          </a:prstGeom>
          <a:effectLst>
            <a:outerShdw dir="2700000" dist="220331" blurRad="157537">
              <a:srgbClr val="3B4C82">
                <a:alpha val="23000"/>
              </a:srgbClr>
            </a:outerShdw>
          </a:effectLst>
        </p:spPr>
      </p:pic>
      <p:sp>
        <p:nvSpPr>
          <p:cNvPr name="TextBox 14" id="14"/>
          <p:cNvSpPr txBox="true"/>
          <p:nvPr/>
        </p:nvSpPr>
        <p:spPr>
          <a:xfrm rot="0">
            <a:off x="13208000" y="11379200"/>
            <a:ext cx="3479800" cy="1295400"/>
          </a:xfrm>
          <a:prstGeom prst="rect">
            <a:avLst/>
          </a:prstGeom>
        </p:spPr>
        <p:txBody>
          <a:bodyPr anchor="ctr" rtlCol="false" lIns="0" tIns="60960" rIns="0" bIns="60960"/>
          <a:lstStyle/>
          <a:p>
            <a:pPr algn="ctr" lvl="0">
              <a:lnSpc>
                <a:spcPct val="96279"/>
              </a:lnSpc>
            </a:pPr>
            <a:r>
              <a:rPr lang="en-US" sz="4000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포인터가
가리키는 대상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8503900" y="11315700"/>
            <a:ext cx="3911600" cy="1435100"/>
          </a:xfrm>
          <a:prstGeom prst="rect">
            <a:avLst/>
          </a:prstGeom>
          <a:effectLst>
            <a:outerShdw dir="2700000" dist="220331" blurRad="157537">
              <a:srgbClr val="3B4C82">
                <a:alpha val="23000"/>
              </a:srgbClr>
            </a:outerShdw>
          </a:effectLst>
        </p:spPr>
      </p:pic>
      <p:sp>
        <p:nvSpPr>
          <p:cNvPr name="TextBox 16" id="16"/>
          <p:cNvSpPr txBox="true"/>
          <p:nvPr/>
        </p:nvSpPr>
        <p:spPr>
          <a:xfrm rot="0">
            <a:off x="18719800" y="11671300"/>
            <a:ext cx="3479800" cy="711200"/>
          </a:xfrm>
          <a:prstGeom prst="rect">
            <a:avLst/>
          </a:prstGeom>
        </p:spPr>
        <p:txBody>
          <a:bodyPr anchor="ctr" rtlCol="false" lIns="0" tIns="60960" rIns="0" bIns="60960"/>
          <a:lstStyle/>
          <a:p>
            <a:pPr algn="ctr" lvl="0">
              <a:lnSpc>
                <a:spcPct val="96279"/>
              </a:lnSpc>
            </a:pPr>
            <a:r>
              <a:rPr lang="en-US" sz="4000" b="false" i="false" u="none" strike="noStrike" spc="-200" cap="all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자원 해제 책임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273800" y="7708900"/>
            <a:ext cx="11480800" cy="825500"/>
          </a:xfrm>
          <a:prstGeom prst="rect">
            <a:avLst/>
          </a:prstGeom>
        </p:spPr>
        <p:txBody>
          <a:bodyPr anchor="ctr" rtlCol="false" lIns="0" tIns="118533" rIns="0" bIns="118533"/>
          <a:lstStyle/>
          <a:p>
            <a:pPr algn="ctr" lvl="0">
              <a:lnSpc>
                <a:spcPct val="83000"/>
              </a:lnSpc>
            </a:pPr>
            <a:r>
              <a:rPr lang="en-US" sz="4666" b="false" i="false" u="none" strike="noStrike" spc="-200" cap="all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전우현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35700" y="5448300"/>
            <a:ext cx="11557000" cy="2032000"/>
          </a:xfrm>
          <a:prstGeom prst="rect">
            <a:avLst/>
          </a:prstGeom>
        </p:spPr>
        <p:txBody>
          <a:bodyPr anchor="ctr" rtlCol="false" lIns="0" tIns="169333" rIns="0" bIns="169333"/>
          <a:lstStyle/>
          <a:p>
            <a:pPr algn="ctr" lvl="0">
              <a:lnSpc>
                <a:spcPct val="83000"/>
              </a:lnSpc>
            </a:pPr>
            <a:r>
              <a:rPr lang="en-US" sz="6666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Plm4
accessed / dirty bit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1000" y="1752600"/>
            <a:ext cx="10096500" cy="24257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l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PML4
</a:t>
            </a:r>
            <a:r>
              <a:rPr lang="en-US" sz="7970" b="false" i="false" u="none" strike="noStrike" spc="-300">
                <a:solidFill>
                  <a:srgbClr val="12C660"/>
                </a:solidFill>
                <a:latin typeface="Pretendard Bold"/>
                <a:ea typeface="Pretendard Bold"/>
                <a:cs typeface="Pretendard Bold"/>
              </a:rPr>
              <a:t>Accessed / Dirty bit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전우현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423900" y="10934700"/>
            <a:ext cx="10553700" cy="1384300"/>
          </a:xfrm>
          <a:prstGeom prst="rect">
            <a:avLst/>
          </a:prstGeom>
        </p:spPr>
        <p:txBody>
          <a:bodyPr anchor="ctr" rtlCol="false" lIns="0" tIns="65024" rIns="0" bIns="65024"/>
          <a:lstStyle/>
          <a:p>
            <a:pPr algn="l" lvl="0">
              <a:lnSpc>
                <a:spcPct val="96279"/>
              </a:lnSpc>
            </a:pPr>
            <a:r>
              <a:rPr lang="en-US" sz="4266" b="true" i="false" u="none" strike="noStrike" spc="-300">
                <a:solidFill>
                  <a:srgbClr val="161616"/>
                </a:solidFill>
                <a:latin typeface="Pretendard Medium"/>
                <a:ea typeface="Pretendard Medium"/>
                <a:cs typeface="Pretendard Medium"/>
              </a:rPr>
              <a:t>CPU가 남긴 page 접근 기록을
eviction과 mmap write-back 기준으로 활용하기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0200" y="1485900"/>
            <a:ext cx="186436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CPU가 남기는 </a:t>
            </a:r>
            <a:r>
              <a:rPr lang="en-US" sz="7970" b="false" i="false" u="none" strike="noStrike" spc="-300">
                <a:solidFill>
                  <a:srgbClr val="12C660"/>
                </a:solidFill>
                <a:latin typeface="Pretendard Bold"/>
                <a:ea typeface="Pretendard Bold"/>
                <a:cs typeface="Pretendard Bold"/>
              </a:rPr>
              <a:t>접근 기록</a:t>
            </a:r>
            <a:br>
              <a:rPr lang="en-US" sz="7970" b="false" i="false" u="none" strike="noStrike" spc="-300">
                <a:solidFill>
                  <a:srgbClr val="12C660"/>
                </a:solidFill>
                <a:latin typeface="Pretendard Bold"/>
                <a:ea typeface="Pretendard Bold"/>
                <a:cs typeface="Pretendard Bold"/>
              </a:rPr>
            </a:b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전우현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302000" y="9791700"/>
            <a:ext cx="18110200" cy="812800"/>
          </a:xfrm>
          <a:prstGeom prst="rect">
            <a:avLst/>
          </a:prstGeom>
        </p:spPr>
        <p:txBody>
          <a:bodyPr anchor="ctr" rtlCol="false" lIns="0" tIns="69088" rIns="0" bIns="69088"/>
          <a:lstStyle/>
          <a:p>
            <a:pPr algn="ctr" lvl="0">
              <a:lnSpc>
                <a:spcPct val="96279"/>
              </a:lnSpc>
            </a:pPr>
            <a:r>
              <a:rPr lang="en-US" sz="4533" b="tru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  <a:t>PintOS가 매 접근마다 켜는 값이 아니라,</a:t>
            </a:r>
            <a:br>
              <a:rPr lang="en-US" sz="4533" b="true" i="false" u="none" strike="noStrike" spc="-300">
                <a:solidFill>
                  <a:srgbClr val="161616"/>
                </a:solidFill>
                <a:latin typeface="Pretendard Regular"/>
                <a:ea typeface="Pretendard Regular"/>
                <a:cs typeface="Pretendard Regular"/>
              </a:rPr>
            </a:br>
          </a:p>
        </p:txBody>
      </p:sp>
      <p:sp>
        <p:nvSpPr>
          <p:cNvPr name="TextBox 8" id="8"/>
          <p:cNvSpPr txBox="true"/>
          <p:nvPr/>
        </p:nvSpPr>
        <p:spPr>
          <a:xfrm rot="0">
            <a:off x="1422400" y="11023600"/>
            <a:ext cx="21856700" cy="800100"/>
          </a:xfrm>
          <a:prstGeom prst="rect">
            <a:avLst/>
          </a:prstGeom>
        </p:spPr>
        <p:txBody>
          <a:bodyPr anchor="ctr" rtlCol="false" lIns="0" tIns="69088" rIns="0" bIns="69088"/>
          <a:lstStyle/>
          <a:p>
            <a:pPr algn="ctr" lvl="0">
              <a:lnSpc>
                <a:spcPct val="96279"/>
              </a:lnSpc>
            </a:pPr>
            <a:r>
              <a:rPr lang="en-US" sz="4533" b="true" i="false" u="none" strike="noStrike" spc="-300">
                <a:solidFill>
                  <a:srgbClr val="12C660"/>
                </a:solidFill>
                <a:latin typeface="Pretendard Medium"/>
                <a:ea typeface="Pretendard Medium"/>
                <a:cs typeface="Pretendard Medium"/>
              </a:rPr>
              <a:t>mapping 이후 실제 메모리 접근이 성공할 때 CPU/MMU가 갱신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3060700" y="4495800"/>
            <a:ext cx="18249900" cy="3721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0200" y="1485900"/>
            <a:ext cx="186436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Lazy page에서 </a:t>
            </a:r>
            <a:r>
              <a:rPr lang="en-US" sz="7970" b="false" i="false" u="none" strike="noStrike" spc="-300">
                <a:solidFill>
                  <a:srgbClr val="12C660"/>
                </a:solidFill>
                <a:latin typeface="Pretendard Bold"/>
                <a:ea typeface="Pretendard Bold"/>
                <a:cs typeface="Pretendard Bold"/>
              </a:rPr>
              <a:t>bit</a:t>
            </a: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가 생기는 시점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전우현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2600" y="10807700"/>
            <a:ext cx="19913600" cy="850900"/>
          </a:xfrm>
          <a:prstGeom prst="rect">
            <a:avLst/>
          </a:prstGeom>
        </p:spPr>
        <p:txBody>
          <a:bodyPr anchor="ctr" rtlCol="false" lIns="0" tIns="73152" rIns="0" bIns="73152"/>
          <a:lstStyle/>
          <a:p>
            <a:pPr algn="l" lvl="0">
              <a:lnSpc>
                <a:spcPct val="96279"/>
              </a:lnSpc>
            </a:pPr>
            <a:r>
              <a:rPr lang="en-US" sz="4800" b="true" i="false" u="none" strike="noStrike" spc="-300">
                <a:solidFill>
                  <a:srgbClr val="12C660"/>
                </a:solidFill>
                <a:latin typeface="Pretendard Medium"/>
                <a:ea typeface="Pretendard Medium"/>
                <a:cs typeface="Pretendard Medium"/>
              </a:rPr>
              <a:t>핵심: lazy page는 첫 접근 때 mapping되고, 그 이후 accessed/dirty bit가 기록된다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32200" y="3924300"/>
            <a:ext cx="26162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14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처음 접근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286500" y="4089400"/>
            <a:ext cx="82423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PML4 mapping 없음 → page fault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841500" y="3695700"/>
            <a:ext cx="1435100" cy="63373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467100" y="5511800"/>
            <a:ext cx="31115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14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fault 처리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51600" y="5702300"/>
            <a:ext cx="7302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SPT에서 page 찾고 frame 할당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467100" y="7188200"/>
            <a:ext cx="32131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14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mapping 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53200" y="7353300"/>
            <a:ext cx="69977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pml4_set_page()로 PTE 생성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467100" y="8775700"/>
            <a:ext cx="4076700" cy="91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5140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명령어 재실행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16800" y="8864600"/>
            <a:ext cx="8445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실제 read/write 성공 → A/D bit 갱신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744700" y="4102100"/>
            <a:ext cx="8369300" cy="19812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744700" y="6337300"/>
            <a:ext cx="8369300" cy="21463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0200" y="1485900"/>
            <a:ext cx="186436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Eviction: </a:t>
            </a:r>
            <a:r>
              <a:rPr lang="en-US" sz="7970" b="false" i="false" u="none" strike="noStrike" spc="-300">
                <a:solidFill>
                  <a:srgbClr val="04CC81"/>
                </a:solidFill>
                <a:latin typeface="Pretendard Bold"/>
                <a:ea typeface="Pretendard Bold"/>
                <a:cs typeface="Pretendard Bold"/>
              </a:rPr>
              <a:t>accessed</a:t>
            </a: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 bit로 second chance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58800" y="131572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전우현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51000" y="5130800"/>
            <a:ext cx="11531600" cy="4978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4528800" y="8229600"/>
            <a:ext cx="8534400" cy="1866900"/>
          </a:xfrm>
          <a:prstGeom prst="rect">
            <a:avLst/>
          </a:prstGeom>
          <a:effectLst>
            <a:outerShdw dir="5400000" dist="71873" blurRad="74748">
              <a:srgbClr val="000000">
                <a:alpha val="50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15316200" y="8763000"/>
            <a:ext cx="35941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0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accessed =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494500" y="8788400"/>
            <a:ext cx="29845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clear 후 보류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528800" y="5130800"/>
            <a:ext cx="8534400" cy="1866900"/>
          </a:xfrm>
          <a:prstGeom prst="rect">
            <a:avLst/>
          </a:prstGeom>
          <a:effectLst>
            <a:outerShdw dir="5400000" dist="71873" blurRad="74748">
              <a:srgbClr val="000000">
                <a:alpha val="50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15316200" y="5651500"/>
            <a:ext cx="38862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07" b="true" i="false" u="none" strike="noStrike">
                <a:solidFill>
                  <a:srgbClr val="12C660"/>
                </a:solidFill>
                <a:latin typeface="Pretendard Regular"/>
                <a:ea typeface="Pretendard Regular"/>
                <a:cs typeface="Pretendard Regular"/>
              </a:rPr>
              <a:t>accessed = 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799300" y="5689600"/>
            <a:ext cx="26416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7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victim 선택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0200" y="1485900"/>
            <a:ext cx="18643600" cy="14224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ctr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mmap: </a:t>
            </a:r>
            <a:r>
              <a:rPr lang="en-US" sz="7970" b="false" i="false" u="none" strike="noStrike" spc="-300">
                <a:solidFill>
                  <a:srgbClr val="12C660"/>
                </a:solidFill>
                <a:latin typeface="Pretendard Bold"/>
                <a:ea typeface="Pretendard Bold"/>
                <a:cs typeface="Pretendard Bold"/>
              </a:rPr>
              <a:t>dirty</a:t>
            </a: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 bit로 write-back 판단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131445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전우현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51000" y="5156200"/>
            <a:ext cx="12750800" cy="549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836900" y="5156200"/>
            <a:ext cx="6692900" cy="2755900"/>
          </a:xfrm>
          <a:prstGeom prst="rect">
            <a:avLst/>
          </a:prstGeom>
          <a:effectLst>
            <a:outerShdw dir="5400000" dist="105846" blurRad="110079">
              <a:srgbClr val="000000">
                <a:alpha val="50000"/>
              </a:srgbClr>
            </a:outerShdw>
          </a:effectLst>
        </p:spPr>
      </p:pic>
      <p:sp>
        <p:nvSpPr>
          <p:cNvPr name="TextBox 9" id="9"/>
          <p:cNvSpPr txBox="true"/>
          <p:nvPr/>
        </p:nvSpPr>
        <p:spPr>
          <a:xfrm rot="0">
            <a:off x="16446500" y="5346700"/>
            <a:ext cx="35687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0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clean page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46500" y="6261100"/>
            <a:ext cx="64262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0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PTE_D = 0
파일에 다시 쓰지 않음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836900" y="8089900"/>
            <a:ext cx="6908800" cy="2565400"/>
          </a:xfrm>
          <a:prstGeom prst="rect">
            <a:avLst/>
          </a:prstGeom>
          <a:effectLst>
            <a:outerShdw dir="5400000" dist="98612" blurRad="102557">
              <a:srgbClr val="000000">
                <a:alpha val="50000"/>
              </a:srgbClr>
            </a:outerShdw>
          </a:effectLst>
        </p:spPr>
      </p:pic>
      <p:sp>
        <p:nvSpPr>
          <p:cNvPr name="TextBox 12" id="12"/>
          <p:cNvSpPr txBox="true"/>
          <p:nvPr/>
        </p:nvSpPr>
        <p:spPr>
          <a:xfrm rot="0">
            <a:off x="16294100" y="8331200"/>
            <a:ext cx="3111500" cy="825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607" b="true" i="false" u="none" strike="noStrike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dirty page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32200" y="9156700"/>
            <a:ext cx="5600700" cy="1257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3540" b="false" i="false" u="none" strike="noStrike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PTE_D = 1
수정된 내용만 file_write_at()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CFCFC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845300" y="9740900"/>
            <a:ext cx="17233900" cy="2425700"/>
          </a:xfrm>
          <a:prstGeom prst="rect">
            <a:avLst/>
          </a:prstGeom>
        </p:spPr>
        <p:txBody>
          <a:bodyPr anchor="ctr" rtlCol="false" lIns="0" tIns="202460" rIns="0" bIns="202460"/>
          <a:lstStyle/>
          <a:p>
            <a:pPr algn="l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61616"/>
                </a:solidFill>
                <a:latin typeface="Pretendard Bold"/>
                <a:ea typeface="Pretendard Bold"/>
                <a:cs typeface="Pretendard Bold"/>
              </a:rPr>
              <a:t>Page table은 주소 변환표이면서, </a:t>
            </a:r>
          </a:p>
          <a:p>
            <a:pPr algn="l" lvl="0">
              <a:lnSpc>
                <a:spcPct val="83000"/>
              </a:lnSpc>
            </a:pPr>
            <a:r>
              <a:rPr lang="en-US" sz="7970" b="false" i="false" u="none" strike="noStrike" spc="-300">
                <a:solidFill>
                  <a:srgbClr val="12C660"/>
                </a:solidFill>
                <a:latin typeface="Pretendard Bold"/>
                <a:ea typeface="Pretendard Bold"/>
                <a:cs typeface="Pretendard Bold"/>
              </a:rPr>
              <a:t>VM 정책 판단을 위한 접근 기록이기도 하다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11200" y="495300"/>
            <a:ext cx="279400" cy="279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08000" y="495300"/>
            <a:ext cx="2794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08000" y="13144500"/>
            <a:ext cx="23266400" cy="25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23063200" y="266700"/>
            <a:ext cx="5549900" cy="444500"/>
          </a:xfrm>
          <a:prstGeom prst="rect">
            <a:avLst/>
          </a:prstGeom>
        </p:spPr>
        <p:txBody>
          <a:bodyPr anchor="ctr" rtlCol="false" lIns="0" tIns="35395" rIns="0" bIns="35395"/>
          <a:lstStyle/>
          <a:p>
            <a:pPr algn="l" lvl="0">
              <a:lnSpc>
                <a:spcPct val="97940"/>
              </a:lnSpc>
            </a:pPr>
            <a:r>
              <a:rPr lang="en-US" sz="2533" b="false" i="false" u="none" strike="noStrike" spc="-200" cap="all">
                <a:solidFill>
                  <a:srgbClr val="161616">
                    <a:alpha val="41176"/>
                  </a:srgbClr>
                </a:solidFill>
                <a:latin typeface="Pretendard Light"/>
                <a:ea typeface="Pretendard Light"/>
                <a:cs typeface="Pretendard Light"/>
              </a:rPr>
              <a:t>전우현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07400" y="6311900"/>
            <a:ext cx="7569200" cy="1079500"/>
          </a:xfrm>
          <a:prstGeom prst="rect">
            <a:avLst/>
          </a:prstGeom>
        </p:spPr>
        <p:txBody>
          <a:bodyPr anchor="ctr" rtlCol="false" lIns="0" tIns="155047" rIns="0" bIns="155047"/>
          <a:lstStyle/>
          <a:p>
            <a:pPr algn="ctr" lvl="0">
              <a:lnSpc>
                <a:spcPct val="83000"/>
              </a:lnSpc>
            </a:pPr>
            <a:r>
              <a:rPr lang="en-US" sz="6104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감사합니다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04C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407400" y="6311900"/>
            <a:ext cx="7569200" cy="1079500"/>
          </a:xfrm>
          <a:prstGeom prst="rect">
            <a:avLst/>
          </a:prstGeom>
        </p:spPr>
        <p:txBody>
          <a:bodyPr anchor="ctr" rtlCol="false" lIns="0" tIns="155047" rIns="0" bIns="155047"/>
          <a:lstStyle/>
          <a:p>
            <a:pPr algn="ctr" lvl="0">
              <a:lnSpc>
                <a:spcPct val="83000"/>
              </a:lnSpc>
            </a:pPr>
            <a:r>
              <a:rPr lang="en-US" sz="6104" b="false" i="false" u="none" strike="noStrike" spc="-200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